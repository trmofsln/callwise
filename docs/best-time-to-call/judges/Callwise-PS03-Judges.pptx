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3ad116-201f-c9a5-4711-ce9aea04251e}">
          <p14:sldIdLst>
            <p14:sldId id="256"/>
          </p14:sldIdLst>
        </p14:section>
        <p14:section name="Problem and product" id="{e6044370-8bb6-85b7-3ef8-b84dd7b9fea2}">
          <p14:sldIdLst>
            <p14:sldId id="257"/>
            <p14:sldId id="258"/>
          </p14:sldIdLst>
        </p14:section>
        <p14:section name="How it works" id="{d59bd079-4e97-e330-167b-c4a3ecf7403b}">
          <p14:sldIdLst>
            <p14:sldId id="259"/>
            <p14:sldId id="260"/>
            <p14:sldId id="261"/>
          </p14:sldIdLst>
        </p14:section>
        <p14:section name="Data and models" id="{43d6318f-b2e6-68fd-7e87-2e374884fea2}">
          <p14:sldIdLst>
            <p14:sldId id="262"/>
            <p14:sldId id="263"/>
            <p14:sldId id="264"/>
            <p14:sldId id="265"/>
            <p14:sldId id="266"/>
          </p14:sldIdLst>
        </p14:section>
        <p14:section name="AI layer" id="{d81b8b6d-316b-9b8b-8175-6e50cbfc4409}">
          <p14:sldIdLst>
            <p14:sldId id="267"/>
          </p14:sldIdLst>
        </p14:section>
        <p14:section name="Impact and next steps" id="{64786fc0-edce-7510-818c-6de16bc30be4}">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calls (%)</c:v>
                </c:pt>
              </c:strCache>
            </c:strRef>
          </c:tx>
          <c:spPr>
            <a:solidFill>
              <a:srgbClr val="9AA8A6"/>
            </a:solidFill>
            <a:effectLst/>
          </c:spPr>
          <c:invertIfNegative val="0"/>
          <c:dLbls>
            <c:numFmt formatCode="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cat>
            <c:multiLvlStrRef>
              <c:f>Sheet1!$A$2:$A$8</c:f>
              <c:multiLvlStrCache>
                <c:ptCount val="7"/>
                <c:lvl>
                  <c:pt idx="0">
                    <c:v>NSD C2C</c:v>
                  </c:pt>
                  <c:pt idx="1">
                    <c:v>NSD Normal</c:v>
                  </c:pt>
                  <c:pt idx="2">
                    <c:v>CSD Normal</c:v>
                  </c:pt>
                  <c:pt idx="3">
                    <c:v>CSDMERP</c:v>
                  </c:pt>
                  <c:pt idx="4">
                    <c:v>DSR</c:v>
                  </c:pt>
                  <c:pt idx="5">
                    <c:v>MERP</c:v>
                  </c:pt>
                  <c:pt idx="6">
                    <c:v>Other</c:v>
                  </c:pt>
                </c:lvl>
              </c:multiLvlStrCache>
            </c:multiLvlStrRef>
          </c:cat>
          <c:val>
            <c:numRef>
              <c:f>Sheet1!$B$2:$B$8</c:f>
              <c:numCache>
                <c:formatCode>General</c:formatCode>
                <c:ptCount val="7"/>
                <c:pt idx="0">
                  <c:v>35.8</c:v>
                </c:pt>
                <c:pt idx="1">
                  <c:v>34.1</c:v>
                </c:pt>
                <c:pt idx="2">
                  <c:v>10.5</c:v>
                </c:pt>
                <c:pt idx="3">
                  <c:v>8</c:v>
                </c:pt>
                <c:pt idx="4">
                  <c:v>4.3</c:v>
                </c:pt>
                <c:pt idx="5">
                  <c:v>0.5</c:v>
                </c:pt>
                <c:pt idx="6">
                  <c:v>6.8</c:v>
                </c:pt>
              </c:numCache>
            </c:numRef>
          </c:val>
        </c:ser>
        <c:ser>
          <c:idx val="1"/>
          <c:order val="1"/>
          <c:tx>
            <c:strRef>
              <c:f>Sheet1!$C$1</c:f>
              <c:strCache>
                <c:ptCount val="1"/>
                <c:pt idx="0">
                  <c:v>Share of meetings (%)</c:v>
                </c:pt>
              </c:strCache>
            </c:strRef>
          </c:tx>
          <c:spPr>
            <a:solidFill>
              <a:srgbClr val="0B8A76"/>
            </a:solidFill>
            <a:effectLst/>
          </c:spPr>
          <c:invertIfNegative val="0"/>
          <c:dLbls>
            <c:numFmt formatCode="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cat>
            <c:multiLvlStrRef>
              <c:f>Sheet1!$A$2:$A$8</c:f>
              <c:multiLvlStrCache>
                <c:ptCount val="7"/>
                <c:lvl>
                  <c:pt idx="0">
                    <c:v>NSD C2C</c:v>
                  </c:pt>
                  <c:pt idx="1">
                    <c:v>NSD Normal</c:v>
                  </c:pt>
                  <c:pt idx="2">
                    <c:v>CSD Normal</c:v>
                  </c:pt>
                  <c:pt idx="3">
                    <c:v>CSDMERP</c:v>
                  </c:pt>
                  <c:pt idx="4">
                    <c:v>DSR</c:v>
                  </c:pt>
                  <c:pt idx="5">
                    <c:v>MERP</c:v>
                  </c:pt>
                  <c:pt idx="6">
                    <c:v>Other</c:v>
                  </c:pt>
                </c:lvl>
              </c:multiLvlStrCache>
            </c:multiLvlStrRef>
          </c:cat>
          <c:val>
            <c:numRef>
              <c:f>Sheet1!$C$2:$C$8</c:f>
              <c:numCache>
                <c:formatCode>General</c:formatCode>
                <c:ptCount val="7"/>
                <c:pt idx="0">
                  <c:v>0</c:v>
                </c:pt>
                <c:pt idx="1">
                  <c:v>0.07</c:v>
                </c:pt>
                <c:pt idx="2">
                  <c:v>3.7</c:v>
                </c:pt>
                <c:pt idx="3">
                  <c:v>92.2</c:v>
                </c:pt>
                <c:pt idx="4">
                  <c:v>0.6</c:v>
                </c:pt>
                <c:pt idx="5">
                  <c:v>3.2</c:v>
                </c:pt>
                <c:pt idx="6">
                  <c:v>0.3</c:v>
                </c:pt>
              </c:numCache>
            </c:numRef>
          </c:val>
        </c:ser>
        <c:dLbls>
          <c:numFmt formatCode="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D5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8B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D5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01F"/>
                </a:solidFill>
                <a:latin typeface="+mn-lt"/>
              </a:defRPr>
            </a:pPr>
            <a:r>
              <a:rPr sz="1300" b="0" i="0" u="none" strike="noStrike">
                <a:solidFill>
                  <a:srgbClr val="10201F"/>
                </a:solidFill>
                <a:latin typeface="+mn-lt"/>
              </a:rPr>
              <a:t>All calls · base rate 0.50% · 269,060 calls</a:t>
            </a:r>
          </a:p>
        </c:rich>
      </c:tx>
      <c:layout/>
      <c:overlay val="0"/>
    </c:title>
    <c:autoTitleDeleted val="0"/>
    <c:plotArea>
      <c:layout/>
      <c:barChart>
        <c:barDir val="bar"/>
        <c:grouping val="clustered"/>
        <c:varyColors val="0"/>
        <c:ser>
          <c:idx val="0"/>
          <c:order val="0"/>
          <c:tx>
            <c:strRef>
              <c:f>Sheet1!$B$1</c:f>
              <c:strCache>
                <c:ptCount val="1"/>
                <c:pt idx="0">
                  <c:v>AP</c:v>
                </c:pt>
              </c:strCache>
            </c:strRef>
          </c:tx>
          <c:spPr>
            <a:solidFill>
              <a:srgbClr val="9AA8A6"/>
            </a:solidFill>
            <a:effectLst/>
          </c:spPr>
          <c:invertIfNegative val="0"/>
          <c:dLbls>
            <c:numFmt formatCode="0.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dPt>
            <c:idx val="0"/>
            <c:invertIfNegative val="0"/>
            <c:bubble3D val="0"/>
            <c:spPr>
              <a:solidFill>
                <a:srgbClr val="9AA8A6"/>
              </a:solidFill>
              <a:effectLst/>
            </c:spPr>
          </c:dPt>
          <c:dPt>
            <c:idx val="1"/>
            <c:invertIfNegative val="0"/>
            <c:bubble3D val="0"/>
            <c:spPr>
              <a:solidFill>
                <a:srgbClr val="0B8A76"/>
              </a:solidFill>
              <a:effectLst/>
            </c:spPr>
          </c:dPt>
          <c:dPt>
            <c:idx val="2"/>
            <c:invertIfNegative val="0"/>
            <c:bubble3D val="0"/>
            <c:spPr>
              <a:solidFill>
                <a:srgbClr val="9AA8A6"/>
              </a:solidFill>
              <a:effectLst/>
            </c:spPr>
          </c:dPt>
          <c:dPt>
            <c:idx val="3"/>
            <c:invertIfNegative val="0"/>
            <c:bubble3D val="0"/>
            <c:spPr>
              <a:solidFill>
                <a:srgbClr val="9AA8A6"/>
              </a:solidFill>
              <a:effectLst/>
            </c:spPr>
          </c:dPt>
          <c:dPt>
            <c:idx val="4"/>
            <c:invertIfNegative val="0"/>
            <c:bubble3D val="0"/>
            <c:spPr>
              <a:solidFill>
                <a:srgbClr val="9AA8A6"/>
              </a:solidFill>
              <a:effectLst/>
            </c:spPr>
          </c:dPt>
          <c:dPt>
            <c:idx val="5"/>
            <c:invertIfNegative val="0"/>
            <c:bubble3D val="0"/>
            <c:spPr>
              <a:solidFill>
                <a:srgbClr val="2A78D6"/>
              </a:solidFill>
              <a:effectLst/>
            </c:spPr>
          </c:dPt>
          <c:cat>
            <c:multiLvlStrRef>
              <c:f>Sheet1!$A$2:$A$7</c:f>
              <c:multiLvlStrCache>
                <c:ptCount val="6"/>
                <c:lvl>
                  <c:pt idx="0">
                    <c:v>Previous model (v3)</c:v>
                  </c:pt>
                  <c:pt idx="1">
                    <c:v>Hour/day retrained (v4, live)</c:v>
                  </c:pt>
                  <c:pt idx="2">
                    <c:v>Clock-only LightGBM</c:v>
                  </c:pt>
                  <c:pt idx="3">
                    <c:v>+ seller history</c:v>
                  </c:pt>
                  <c:pt idx="4">
                    <c:v>+ channel</c:v>
                  </c:pt>
                  <c:pt idx="5">
                    <c:v>All features (LightGBM)</c:v>
                  </c:pt>
                </c:lvl>
              </c:multiLvlStrCache>
            </c:multiLvlStrRef>
          </c:cat>
          <c:val>
            <c:numRef>
              <c:f>Sheet1!$B$2:$B$7</c:f>
              <c:numCache>
                <c:formatCode>General</c:formatCode>
                <c:ptCount val="6"/>
                <c:pt idx="0">
                  <c:v>0.008</c:v>
                </c:pt>
                <c:pt idx="1">
                  <c:v>0.0085</c:v>
                </c:pt>
                <c:pt idx="2">
                  <c:v>0.0085</c:v>
                </c:pt>
                <c:pt idx="3">
                  <c:v>0.0516</c:v>
                </c:pt>
                <c:pt idx="4">
                  <c:v>0.068</c:v>
                </c:pt>
                <c:pt idx="5">
                  <c:v>0.0932</c:v>
                </c:pt>
              </c:numCache>
            </c:numRef>
          </c:val>
        </c:ser>
        <c:dLbls>
          <c:numFmt formatCode="0.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D5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8B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01F"/>
                </a:solidFill>
                <a:latin typeface="+mn-lt"/>
              </a:defRPr>
            </a:pPr>
            <a:r>
              <a:rPr sz="1300" b="0" i="0" u="none" strike="noStrike">
                <a:solidFill>
                  <a:srgbClr val="10201F"/>
                </a:solidFill>
                <a:latin typeface="+mn-lt"/>
              </a:rPr>
              <a:t>Booking channel · base rate 5.57% · 22,708 calls</a:t>
            </a:r>
          </a:p>
        </c:rich>
      </c:tx>
      <c:layout/>
      <c:overlay val="0"/>
    </c:title>
    <c:autoTitleDeleted val="0"/>
    <c:plotArea>
      <c:layout/>
      <c:barChart>
        <c:barDir val="bar"/>
        <c:grouping val="clustered"/>
        <c:varyColors val="0"/>
        <c:ser>
          <c:idx val="0"/>
          <c:order val="0"/>
          <c:tx>
            <c:strRef>
              <c:f>Sheet1!$B$1</c:f>
              <c:strCache>
                <c:ptCount val="1"/>
                <c:pt idx="0">
                  <c:v>AP</c:v>
                </c:pt>
              </c:strCache>
            </c:strRef>
          </c:tx>
          <c:spPr>
            <a:solidFill>
              <a:srgbClr val="9AA8A6"/>
            </a:solidFill>
            <a:effectLst/>
          </c:spPr>
          <c:invertIfNegative val="0"/>
          <c:dLbls>
            <c:numFmt formatCode="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dPt>
            <c:idx val="0"/>
            <c:invertIfNegative val="0"/>
            <c:bubble3D val="0"/>
            <c:spPr>
              <a:solidFill>
                <a:srgbClr val="9AA8A6"/>
              </a:solidFill>
              <a:effectLst/>
            </c:spPr>
          </c:dPt>
          <c:dPt>
            <c:idx val="1"/>
            <c:invertIfNegative val="0"/>
            <c:bubble3D val="0"/>
            <c:spPr>
              <a:solidFill>
                <a:srgbClr val="9AA8A6"/>
              </a:solidFill>
              <a:effectLst/>
            </c:spPr>
          </c:dPt>
          <c:dPt>
            <c:idx val="2"/>
            <c:invertIfNegative val="0"/>
            <c:bubble3D val="0"/>
            <c:spPr>
              <a:solidFill>
                <a:srgbClr val="9AA8A6"/>
              </a:solidFill>
              <a:effectLst/>
            </c:spPr>
          </c:dPt>
          <c:dPt>
            <c:idx val="3"/>
            <c:invertIfNegative val="0"/>
            <c:bubble3D val="0"/>
            <c:spPr>
              <a:solidFill>
                <a:srgbClr val="9AA8A6"/>
              </a:solidFill>
              <a:effectLst/>
            </c:spPr>
          </c:dPt>
          <c:dPt>
            <c:idx val="4"/>
            <c:invertIfNegative val="0"/>
            <c:bubble3D val="0"/>
            <c:spPr>
              <a:solidFill>
                <a:srgbClr val="9AA8A6"/>
              </a:solidFill>
              <a:effectLst/>
            </c:spPr>
          </c:dPt>
          <c:dPt>
            <c:idx val="5"/>
            <c:invertIfNegative val="0"/>
            <c:bubble3D val="0"/>
            <c:spPr>
              <a:solidFill>
                <a:srgbClr val="2A78D6"/>
              </a:solidFill>
              <a:effectLst/>
            </c:spPr>
          </c:dPt>
          <c:cat>
            <c:multiLvlStrRef>
              <c:f>Sheet1!$A$2:$A$7</c:f>
              <c:multiLvlStrCache>
                <c:ptCount val="6"/>
                <c:lvl>
                  <c:pt idx="0">
                    <c:v>Previous model (v3)</c:v>
                  </c:pt>
                  <c:pt idx="1">
                    <c:v>Hour/day retrained</c:v>
                  </c:pt>
                  <c:pt idx="2">
                    <c:v>Clock-only LightGBM</c:v>
                  </c:pt>
                  <c:pt idx="3">
                    <c:v>Answer-history heuristic</c:v>
                  </c:pt>
                  <c:pt idx="4">
                    <c:v>+ seller history</c:v>
                  </c:pt>
                  <c:pt idx="5">
                    <c:v>Two-stage answer × convert</c:v>
                  </c:pt>
                </c:lvl>
              </c:multiLvlStrCache>
            </c:multiLvlStrRef>
          </c:cat>
          <c:val>
            <c:numRef>
              <c:f>Sheet1!$B$2:$B$7</c:f>
              <c:numCache>
                <c:formatCode>General</c:formatCode>
                <c:ptCount val="6"/>
                <c:pt idx="0">
                  <c:v>0.0641</c:v>
                </c:pt>
                <c:pt idx="1">
                  <c:v>0.0605</c:v>
                </c:pt>
                <c:pt idx="2">
                  <c:v>0.0618</c:v>
                </c:pt>
                <c:pt idx="3">
                  <c:v>0.0684</c:v>
                </c:pt>
                <c:pt idx="4">
                  <c:v>0.0904</c:v>
                </c:pt>
                <c:pt idx="5">
                  <c:v>0.0923</c:v>
                </c:pt>
              </c:numCache>
            </c:numRef>
          </c:val>
        </c:ser>
        <c:dLbls>
          <c:numFmt formatCode="0.0%"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D5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8B8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01F"/>
                </a:solidFill>
                <a:latin typeface="+mn-lt"/>
              </a:defRPr>
            </a:pPr>
            <a:r>
              <a:rPr sz="1300" b="0" i="0" u="none" strike="noStrike">
                <a:solidFill>
                  <a:srgbClr val="10201F"/>
                </a:solidFill>
                <a:latin typeface="+mn-lt"/>
              </a:rPr>
              <a:t>Meeting rate per call (%)</a:t>
            </a:r>
          </a:p>
        </c:rich>
      </c:tx>
      <c:layout/>
      <c:overlay val="0"/>
    </c:title>
    <c:autoTitleDeleted val="0"/>
    <c:plotArea>
      <c:layout/>
      <c:barChart>
        <c:barDir val="col"/>
        <c:grouping val="clustered"/>
        <c:varyColors val="0"/>
        <c:ser>
          <c:idx val="0"/>
          <c:order val="0"/>
          <c:tx>
            <c:strRef>
              <c:f>Sheet1!$B$1</c:f>
              <c:strCache>
                <c:ptCount val="1"/>
                <c:pt idx="0">
                  <c:v>Inside top 4 hours</c:v>
                </c:pt>
              </c:strCache>
            </c:strRef>
          </c:tx>
          <c:spPr>
            <a:solidFill>
              <a:srgbClr val="0B8A76"/>
            </a:solidFill>
            <a:effectLst/>
          </c:spPr>
          <c:invertIfNegative val="0"/>
          <c:dLbls>
            <c:numFmt formatCode="0.0&quot;%&quot;"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cat>
            <c:multiLvlStrRef>
              <c:f>Sheet1!$A$2:$A$4</c:f>
              <c:multiLvlStrCache>
                <c:ptCount val="3"/>
                <c:lvl>
                  <c:pt idx="0">
                    <c:v>Previous model (v3)</c:v>
                  </c:pt>
                  <c:pt idx="1">
                    <c:v>Hour/day retrained</c:v>
                  </c:pt>
                  <c:pt idx="2">
                    <c:v>Two-stage (selected)</c:v>
                  </c:pt>
                </c:lvl>
              </c:multiLvlStrCache>
            </c:multiLvlStrRef>
          </c:cat>
          <c:val>
            <c:numRef>
              <c:f>Sheet1!$B$2:$B$4</c:f>
              <c:numCache>
                <c:formatCode>General</c:formatCode>
                <c:ptCount val="3"/>
                <c:pt idx="0">
                  <c:v>6.22</c:v>
                </c:pt>
                <c:pt idx="1">
                  <c:v>6.3</c:v>
                </c:pt>
                <c:pt idx="2">
                  <c:v>6.48</c:v>
                </c:pt>
              </c:numCache>
            </c:numRef>
          </c:val>
        </c:ser>
        <c:ser>
          <c:idx val="1"/>
          <c:order val="1"/>
          <c:tx>
            <c:strRef>
              <c:f>Sheet1!$C$1</c:f>
              <c:strCache>
                <c:ptCount val="1"/>
                <c:pt idx="0">
                  <c:v>Other hours</c:v>
                </c:pt>
              </c:strCache>
            </c:strRef>
          </c:tx>
          <c:spPr>
            <a:solidFill>
              <a:srgbClr val="9AA8A6"/>
            </a:solidFill>
            <a:effectLst/>
          </c:spPr>
          <c:invertIfNegative val="0"/>
          <c:dLbls>
            <c:numFmt formatCode="0.0&quot;%&quot;"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cat>
            <c:multiLvlStrRef>
              <c:f>Sheet1!$A$2:$A$4</c:f>
              <c:multiLvlStrCache>
                <c:ptCount val="3"/>
                <c:lvl>
                  <c:pt idx="0">
                    <c:v>Previous model (v3)</c:v>
                  </c:pt>
                  <c:pt idx="1">
                    <c:v>Hour/day retrained</c:v>
                  </c:pt>
                  <c:pt idx="2">
                    <c:v>Two-stage (selected)</c:v>
                  </c:pt>
                </c:lvl>
              </c:multiLvlStrCache>
            </c:multiLvlStrRef>
          </c:cat>
          <c:val>
            <c:numRef>
              <c:f>Sheet1!$C$2:$C$4</c:f>
              <c:numCache>
                <c:formatCode>General</c:formatCode>
                <c:ptCount val="3"/>
                <c:pt idx="0">
                  <c:v>4.25</c:v>
                </c:pt>
                <c:pt idx="1">
                  <c:v>3.95</c:v>
                </c:pt>
                <c:pt idx="2">
                  <c:v>4.4</c:v>
                </c:pt>
              </c:numCache>
            </c:numRef>
          </c:val>
        </c:ser>
        <c:dLbls>
          <c:numFmt formatCode="0.0&quot;%&quot;" sourceLinked="0"/>
          <c:txPr>
            <a:bodyPr/>
            <a:lstStyle/>
            <a:p>
              <a:pPr>
                <a:defRPr b="0" i="0" strike="noStrike" sz="1100" u="none">
                  <a:solidFill>
                    <a:srgbClr val="10201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D5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B8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D5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user: a sales rep with a list of sellers and a phone. Today they decide when to call by habit. Callwise gives them, for every seller, the best hour, a retry plan, a confidence level and a short reason, all grounded in that seller's real history. We optimise for completed meetings, not pickups, because meetings are where revenue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makes timing a real lever: 324k dials a day means even a small change in conversion is large in absolute meetings. But note how rare the outcome is, about one meeting per 200 calls overall. That rarity shaped every modelling decision we made. And 92% of attributable meetings come from one channel, which turned out to be the most important data discovery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product surface. We designed it so the rep can act in five seconds: the big card is the time, the reason sits next to it, the ranked list gives alternatives, and the retry plan answers the most common follow-up question, what if they don't pick up. Confidence is shown in words, not fake percentages, because the honest uncertainty here is about evidence, not a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does all of this, within a 20-second batch deadline and four parallel workers. The important design choice is the order: rules first, then evidence, then explanation. That ordering is what lets us promise a rep that a recommended window is always callable, and that the explanation always matches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ladder is the core logic. A seller with real meeting history gets ranked on their own data. With only pickups, we rank on pickups, discounting very short calls because a 10-second answer is often a hang-up. With little history, the trained general model ranks hours. Rung 3 is deliberately empty: we will not show a meeting probability until we have verified completed-meeting labels. That restraint is a product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tools hard-code 'retry in 15 minutes'. We simulate instead, so the retry automatically respects every constraint the first call does. The candidate delays are kept as hypotheses: the historical data has no retry-chain identity, so we could not measure which delay is best. That is one of the questions the pilot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constraints shaped the data work. The replica kills any query over 5 seconds, so we split extraction into about 2,300 small index-friendly chunks. And customer data must stay protected, so every identifier is hashed with a local salt inside SQL before it leaves the database. We sampled sellers, not calls, so each sampled seller's full history is available for leakage-free features. Call logs only go back to 11 August, which bounds how much history any feature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live timing model learned from 150,875 calls. Late morning is consistently best; mid-afternoon, especially 15:00, is consistently weak. Yet about 40% of dials happen in the afternoon. That gap between when reps call and when meetings happen is the product opportunity. These are associations in historical data, which is why we pair the model with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consequential finding. Without it we would have reported a tenfold model improvement that is really just the model recognising which team is calling. We caught it on the development data, wrote the change into our pre-registered plan before opening the test, and evaluated timing within the channel where the outcome actually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population rates, the existing hour-day table, a personal-history heuristic, partial pooling, regularised logistic regression, LightGBM, a seller random-intercept model and a two-stage answer times conversion model, all on the same frozen data, tuned only on development data. The pattern is consistent: knowing the seller's recent history predicts conversion well; fancier modelling of the clock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result that most hackathon decks would skip. Call-level precision went up a lot, but when we ask the question that matters for the product, does the model rank a seller's good hours above their bad hours better than before, no candidate wins. So we shipped the simplest model that measurably improved: the retrained hour-day table. The history-aware model is valuable for a different decision: who to call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LLM where it adds value and contained it where it adds risk. It can read the deterministic results through four tools and must return a schema whose key fields are pinned to those results. If it drifts, it gets one repair attempt, then we fall back. This is how we get the trust benefit of a natural-language reason without letting a language model choose when a rep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 would size this for a business owner. In the booking channel alone, about 23,650 calls a day produce about 1,300 attributable meetings. If timing recommendations deliver the 10% relative uplift the pilot is designed to detect, that is roughly 130 extra meetings a day, around 3,400 a month. The observed 1.5× gap between recommended and other hours makes that plausible, but only a randomized pilot can prove it, so that is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The product is live and safe to use today. We were rigorous about what the data does and does not prove, and that rigor tells us exactly what to do next. Two things unlock the remaining value: a confirmed definition of a completed meeting, and permission to run a randomized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31920"/>
            <a:ext cx="1005840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Callwise · PS03 Best Time to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0584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rand icon"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3"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algn="l" indent="0" marL="0">
              <a:buNone/>
            </a:pPr>
            <a:r>
              <a:rPr lang="en-US" sz="4800" b="1" dirty="0">
                <a:solidFill>
                  <a:schemeClr val="bg1"/>
                </a:solidFill>
              </a:rPr>
              <a:t>The right hour to call, and the next step when nobody answers</a:t>
            </a:r>
            <a:endParaRPr lang="en-US" sz="4800" dirty="0"/>
          </a:p>
        </p:txBody>
      </p:sp>
      <p:sp>
        <p:nvSpPr>
          <p:cNvPr id="4" name="Text 0"/>
          <p:cNvSpPr/>
          <p:nvPr>
            <p:ph idx="101" type="body" hasCustomPrompt="1"/>
          </p:nvPr>
        </p:nvSpPr>
        <p:spPr>
          <a:xfrm>
            <a:off x="731520" y="3931920"/>
            <a:ext cx="10058400" cy="1280160"/>
          </a:xfrm>
          <a:prstGeom prst="rect">
            <a:avLst/>
          </a:prstGeom>
          <a:noFill/>
          <a:ln/>
        </p:spPr>
        <p:txBody>
          <a:bodyPr wrap="square" lIns="0" tIns="0" rIns="0" bIns="0" rtlCol="0" anchor="t"/>
          <a:lstStyle/>
          <a:p>
            <a:pPr indent="0" marL="0">
              <a:buNone/>
            </a:pPr>
            <a:r>
              <a:rPr lang="en-US" sz="2000" dirty="0">
                <a:solidFill>
                  <a:schemeClr val="bg2"/>
                </a:solidFill>
              </a:rPr>
              <a:t>Callwise · PS03 Best Time to Call · a calling-plan recommender for IndiaMART sales teams, built on production ERP data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Hundreds of thousands of dials a day, few become meetings</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Measured on IndiaMART's ERP replica (Redash source 13). Meetings are ERP-recorded physical meetings linked to the call.</a:t>
            </a:r>
            <a:endParaRPr lang="en-US" sz="1500" dirty="0"/>
          </a:p>
        </p:txBody>
      </p:sp>
      <p:sp>
        <p:nvSpPr>
          <p:cNvPr id="4" name="Shape 2"/>
          <p:cNvSpPr/>
          <p:nvPr/>
        </p:nvSpPr>
        <p:spPr>
          <a:xfrm>
            <a:off x="548640" y="1874520"/>
            <a:ext cx="2606040" cy="2377440"/>
          </a:xfrm>
          <a:prstGeom prst="roundRect">
            <a:avLst>
              <a:gd name="adj" fmla="val 3077"/>
            </a:avLst>
          </a:prstGeom>
          <a:solidFill>
            <a:srgbClr val="EEF4F2"/>
          </a:solidFill>
          <a:ln/>
        </p:spPr>
      </p:sp>
      <p:sp>
        <p:nvSpPr>
          <p:cNvPr id="5" name="Stat 1"/>
          <p:cNvSpPr txBox="1"/>
          <p:nvPr/>
        </p:nvSpPr>
        <p:spPr>
          <a:xfrm>
            <a:off x="777240" y="2057400"/>
            <a:ext cx="2194560" cy="914400"/>
          </a:xfrm>
          <a:prstGeom prst="rect">
            <a:avLst/>
          </a:prstGeom>
          <a:noFill/>
          <a:ln/>
        </p:spPr>
        <p:txBody>
          <a:bodyPr wrap="square" lIns="0" tIns="0" rIns="0" bIns="0" rtlCol="0" anchor="ctr"/>
          <a:lstStyle/>
          <a:p>
            <a:pPr indent="0" marL="0">
              <a:buNone/>
            </a:pPr>
            <a:r>
              <a:rPr lang="en-US" sz="4400" b="1" dirty="0">
                <a:solidFill>
                  <a:srgbClr val="0B8A76"/>
                </a:solidFill>
                <a:latin typeface="Cambria" pitchFamily="34" charset="0"/>
                <a:ea typeface="Cambria" pitchFamily="34" charset="-122"/>
                <a:cs typeface="Cambria" pitchFamily="34" charset="-120"/>
              </a:rPr>
              <a:t>324k</a:t>
            </a:r>
            <a:endParaRPr lang="en-US" sz="4400" dirty="0"/>
          </a:p>
        </p:txBody>
      </p:sp>
      <p:sp>
        <p:nvSpPr>
          <p:cNvPr id="6" name="Text 4"/>
          <p:cNvSpPr txBox="1"/>
          <p:nvPr/>
        </p:nvSpPr>
        <p:spPr>
          <a:xfrm>
            <a:off x="777240" y="3017520"/>
            <a:ext cx="2194560" cy="109728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eligible outbound click-to-call dials on a typical day (12 Aug 2026), to 218k sellers by 6.4k employees</a:t>
            </a:r>
            <a:endParaRPr lang="en-US" sz="1300" dirty="0"/>
          </a:p>
        </p:txBody>
      </p:sp>
      <p:sp>
        <p:nvSpPr>
          <p:cNvPr id="7" name="Shape 5"/>
          <p:cNvSpPr/>
          <p:nvPr/>
        </p:nvSpPr>
        <p:spPr>
          <a:xfrm>
            <a:off x="3364992" y="1874520"/>
            <a:ext cx="2606040" cy="2377440"/>
          </a:xfrm>
          <a:prstGeom prst="roundRect">
            <a:avLst>
              <a:gd name="adj" fmla="val 3077"/>
            </a:avLst>
          </a:prstGeom>
          <a:solidFill>
            <a:srgbClr val="EEF4F2"/>
          </a:solidFill>
          <a:ln/>
        </p:spPr>
      </p:sp>
      <p:sp>
        <p:nvSpPr>
          <p:cNvPr id="8" name="Stat 2"/>
          <p:cNvSpPr txBox="1"/>
          <p:nvPr/>
        </p:nvSpPr>
        <p:spPr>
          <a:xfrm>
            <a:off x="3593592" y="2057400"/>
            <a:ext cx="2194560" cy="914400"/>
          </a:xfrm>
          <a:prstGeom prst="rect">
            <a:avLst/>
          </a:prstGeom>
          <a:noFill/>
          <a:ln/>
        </p:spPr>
        <p:txBody>
          <a:bodyPr wrap="square" lIns="0" tIns="0" rIns="0" bIns="0" rtlCol="0" anchor="ctr"/>
          <a:lstStyle/>
          <a:p>
            <a:pPr indent="0" marL="0">
              <a:buNone/>
            </a:pPr>
            <a:r>
              <a:rPr lang="en-US" sz="4400" b="1" dirty="0">
                <a:solidFill>
                  <a:srgbClr val="0B8A76"/>
                </a:solidFill>
                <a:latin typeface="Cambria" pitchFamily="34" charset="0"/>
                <a:ea typeface="Cambria" pitchFamily="34" charset="-122"/>
                <a:cs typeface="Cambria" pitchFamily="34" charset="-120"/>
              </a:rPr>
              <a:t>0.50%</a:t>
            </a:r>
            <a:endParaRPr lang="en-US" sz="4400" dirty="0"/>
          </a:p>
        </p:txBody>
      </p:sp>
      <p:sp>
        <p:nvSpPr>
          <p:cNvPr id="9" name="Text 7"/>
          <p:cNvSpPr txBox="1"/>
          <p:nvPr/>
        </p:nvSpPr>
        <p:spPr>
          <a:xfrm>
            <a:off x="3593592" y="3017520"/>
            <a:ext cx="2194560" cy="109728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of calls lead to an attributable physical meeting within 14 days (sealed test of 269,060 calls)</a:t>
            </a:r>
            <a:endParaRPr lang="en-US" sz="1300" dirty="0"/>
          </a:p>
        </p:txBody>
      </p:sp>
      <p:sp>
        <p:nvSpPr>
          <p:cNvPr id="10" name="Shape 8"/>
          <p:cNvSpPr/>
          <p:nvPr/>
        </p:nvSpPr>
        <p:spPr>
          <a:xfrm>
            <a:off x="6181344" y="1874520"/>
            <a:ext cx="2606040" cy="2377440"/>
          </a:xfrm>
          <a:prstGeom prst="roundRect">
            <a:avLst>
              <a:gd name="adj" fmla="val 3077"/>
            </a:avLst>
          </a:prstGeom>
          <a:solidFill>
            <a:srgbClr val="EEF4F2"/>
          </a:solidFill>
          <a:ln/>
        </p:spPr>
      </p:sp>
      <p:sp>
        <p:nvSpPr>
          <p:cNvPr id="11" name="Stat 3"/>
          <p:cNvSpPr txBox="1"/>
          <p:nvPr/>
        </p:nvSpPr>
        <p:spPr>
          <a:xfrm>
            <a:off x="6409944" y="2057400"/>
            <a:ext cx="2194560" cy="914400"/>
          </a:xfrm>
          <a:prstGeom prst="rect">
            <a:avLst/>
          </a:prstGeom>
          <a:noFill/>
          <a:ln/>
        </p:spPr>
        <p:txBody>
          <a:bodyPr wrap="square" lIns="0" tIns="0" rIns="0" bIns="0" rtlCol="0" anchor="ctr"/>
          <a:lstStyle/>
          <a:p>
            <a:pPr indent="0" marL="0">
              <a:buNone/>
            </a:pPr>
            <a:r>
              <a:rPr lang="en-US" sz="4400" b="1" dirty="0">
                <a:solidFill>
                  <a:srgbClr val="0B8A76"/>
                </a:solidFill>
                <a:latin typeface="Cambria" pitchFamily="34" charset="0"/>
                <a:ea typeface="Cambria" pitchFamily="34" charset="-122"/>
                <a:cs typeface="Cambria" pitchFamily="34" charset="-120"/>
              </a:rPr>
              <a:t>~202</a:t>
            </a:r>
            <a:endParaRPr lang="en-US" sz="4400" dirty="0"/>
          </a:p>
        </p:txBody>
      </p:sp>
      <p:sp>
        <p:nvSpPr>
          <p:cNvPr id="12" name="Text 10"/>
          <p:cNvSpPr txBox="1"/>
          <p:nvPr/>
        </p:nvSpPr>
        <p:spPr>
          <a:xfrm>
            <a:off x="6409944" y="3017520"/>
            <a:ext cx="2194560" cy="109728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calls placed for every attributable meeting across all channels; about 18 in the booking channel</a:t>
            </a:r>
            <a:endParaRPr lang="en-US" sz="1300" dirty="0"/>
          </a:p>
        </p:txBody>
      </p:sp>
      <p:sp>
        <p:nvSpPr>
          <p:cNvPr id="13" name="Shape 11"/>
          <p:cNvSpPr/>
          <p:nvPr/>
        </p:nvSpPr>
        <p:spPr>
          <a:xfrm>
            <a:off x="8997696" y="1874520"/>
            <a:ext cx="2606040" cy="2377440"/>
          </a:xfrm>
          <a:prstGeom prst="roundRect">
            <a:avLst>
              <a:gd name="adj" fmla="val 3077"/>
            </a:avLst>
          </a:prstGeom>
          <a:solidFill>
            <a:srgbClr val="EEF4F2"/>
          </a:solidFill>
          <a:ln/>
        </p:spPr>
      </p:sp>
      <p:sp>
        <p:nvSpPr>
          <p:cNvPr id="14" name="Stat 4"/>
          <p:cNvSpPr txBox="1"/>
          <p:nvPr/>
        </p:nvSpPr>
        <p:spPr>
          <a:xfrm>
            <a:off x="9226296" y="2057400"/>
            <a:ext cx="2194560" cy="914400"/>
          </a:xfrm>
          <a:prstGeom prst="rect">
            <a:avLst/>
          </a:prstGeom>
          <a:noFill/>
          <a:ln/>
        </p:spPr>
        <p:txBody>
          <a:bodyPr wrap="square" lIns="0" tIns="0" rIns="0" bIns="0" rtlCol="0" anchor="ctr"/>
          <a:lstStyle/>
          <a:p>
            <a:pPr indent="0" marL="0">
              <a:buNone/>
            </a:pPr>
            <a:r>
              <a:rPr lang="en-US" sz="4400" b="1" dirty="0">
                <a:solidFill>
                  <a:srgbClr val="0B8A76"/>
                </a:solidFill>
                <a:latin typeface="Cambria" pitchFamily="34" charset="0"/>
                <a:ea typeface="Cambria" pitchFamily="34" charset="-122"/>
                <a:cs typeface="Cambria" pitchFamily="34" charset="-120"/>
              </a:rPr>
              <a:t>92%</a:t>
            </a:r>
            <a:endParaRPr lang="en-US" sz="4400" dirty="0"/>
          </a:p>
        </p:txBody>
      </p:sp>
      <p:sp>
        <p:nvSpPr>
          <p:cNvPr id="15" name="Text 13"/>
          <p:cNvSpPr txBox="1"/>
          <p:nvPr/>
        </p:nvSpPr>
        <p:spPr>
          <a:xfrm>
            <a:off x="9226296" y="3017520"/>
            <a:ext cx="2194560" cy="109728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of attributable meetings come from one calling channel (CSDMERP) that makes 8% of calls</a:t>
            </a:r>
            <a:endParaRPr lang="en-US" sz="1300" dirty="0"/>
          </a:p>
        </p:txBody>
      </p:sp>
      <p:sp>
        <p:nvSpPr>
          <p:cNvPr id="16" name="Text 14"/>
          <p:cNvSpPr txBox="1"/>
          <p:nvPr/>
        </p:nvSpPr>
        <p:spPr>
          <a:xfrm>
            <a:off x="548640" y="4572000"/>
            <a:ext cx="548640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What PS03 asks for, per seller</a:t>
            </a:r>
            <a:endParaRPr lang="en-US" sz="1600" dirty="0"/>
          </a:p>
        </p:txBody>
      </p:sp>
      <p:sp>
        <p:nvSpPr>
          <p:cNvPr id="17" name="Shape 15"/>
          <p:cNvSpPr/>
          <p:nvPr/>
        </p:nvSpPr>
        <p:spPr>
          <a:xfrm>
            <a:off x="548640" y="5029200"/>
            <a:ext cx="2103120" cy="960120"/>
          </a:xfrm>
          <a:prstGeom prst="roundRect">
            <a:avLst>
              <a:gd name="adj" fmla="val 7619"/>
            </a:avLst>
          </a:prstGeom>
          <a:solidFill>
            <a:srgbClr val="FFFFFF"/>
          </a:solidFill>
          <a:ln w="12700">
            <a:solidFill>
              <a:srgbClr val="D9E3E0"/>
            </a:solidFill>
            <a:prstDash val="solid"/>
          </a:ln>
        </p:spPr>
      </p:sp>
      <p:sp>
        <p:nvSpPr>
          <p:cNvPr id="18" name="Text 16"/>
          <p:cNvSpPr txBox="1"/>
          <p:nvPr/>
        </p:nvSpPr>
        <p:spPr>
          <a:xfrm>
            <a:off x="685800" y="5074920"/>
            <a:ext cx="1828800" cy="868680"/>
          </a:xfrm>
          <a:prstGeom prst="rect">
            <a:avLst/>
          </a:prstGeom>
          <a:noFill/>
          <a:ln/>
        </p:spPr>
        <p:txBody>
          <a:bodyPr wrap="square" lIns="0" tIns="0" rIns="0" bIns="0" rtlCol="0" anchor="ctr"/>
          <a:lstStyle/>
          <a:p>
            <a:pPr indent="0" marL="0">
              <a:buNone/>
            </a:pPr>
            <a:r>
              <a:rPr lang="en-US" sz="1300" dirty="0">
                <a:solidFill>
                  <a:srgbClr val="10201F"/>
                </a:solidFill>
                <a:latin typeface="Calibri" pitchFamily="34" charset="0"/>
                <a:ea typeface="Calibri" pitchFamily="34" charset="-122"/>
                <a:cs typeface="Calibri" pitchFamily="34" charset="-120"/>
              </a:rPr>
              <a:t>Ranked future call windows</a:t>
            </a:r>
            <a:endParaRPr lang="en-US" sz="1300" dirty="0"/>
          </a:p>
        </p:txBody>
      </p:sp>
      <p:sp>
        <p:nvSpPr>
          <p:cNvPr id="19" name="Shape 17"/>
          <p:cNvSpPr/>
          <p:nvPr/>
        </p:nvSpPr>
        <p:spPr>
          <a:xfrm>
            <a:off x="2798064" y="5029200"/>
            <a:ext cx="2103120" cy="960120"/>
          </a:xfrm>
          <a:prstGeom prst="roundRect">
            <a:avLst>
              <a:gd name="adj" fmla="val 7619"/>
            </a:avLst>
          </a:prstGeom>
          <a:solidFill>
            <a:srgbClr val="FFFFFF"/>
          </a:solidFill>
          <a:ln w="12700">
            <a:solidFill>
              <a:srgbClr val="D9E3E0"/>
            </a:solidFill>
            <a:prstDash val="solid"/>
          </a:ln>
        </p:spPr>
      </p:sp>
      <p:sp>
        <p:nvSpPr>
          <p:cNvPr id="20" name="Text 18"/>
          <p:cNvSpPr txBox="1"/>
          <p:nvPr/>
        </p:nvSpPr>
        <p:spPr>
          <a:xfrm>
            <a:off x="2935224" y="5074920"/>
            <a:ext cx="1828800" cy="868680"/>
          </a:xfrm>
          <a:prstGeom prst="rect">
            <a:avLst/>
          </a:prstGeom>
          <a:noFill/>
          <a:ln/>
        </p:spPr>
        <p:txBody>
          <a:bodyPr wrap="square" lIns="0" tIns="0" rIns="0" bIns="0" rtlCol="0" anchor="ctr"/>
          <a:lstStyle/>
          <a:p>
            <a:pPr indent="0" marL="0">
              <a:buNone/>
            </a:pPr>
            <a:r>
              <a:rPr lang="en-US" sz="1300" dirty="0">
                <a:solidFill>
                  <a:srgbClr val="10201F"/>
                </a:solidFill>
                <a:latin typeface="Calibri" pitchFamily="34" charset="0"/>
                <a:ea typeface="Calibri" pitchFamily="34" charset="-122"/>
                <a:cs typeface="Calibri" pitchFamily="34" charset="-120"/>
              </a:rPr>
              <a:t>Recommended next call time</a:t>
            </a:r>
            <a:endParaRPr lang="en-US" sz="1300" dirty="0"/>
          </a:p>
        </p:txBody>
      </p:sp>
      <p:sp>
        <p:nvSpPr>
          <p:cNvPr id="21" name="Shape 19"/>
          <p:cNvSpPr/>
          <p:nvPr/>
        </p:nvSpPr>
        <p:spPr>
          <a:xfrm>
            <a:off x="5047488" y="5029200"/>
            <a:ext cx="2103120" cy="960120"/>
          </a:xfrm>
          <a:prstGeom prst="roundRect">
            <a:avLst>
              <a:gd name="adj" fmla="val 7619"/>
            </a:avLst>
          </a:prstGeom>
          <a:solidFill>
            <a:srgbClr val="FFFFFF"/>
          </a:solidFill>
          <a:ln w="12700">
            <a:solidFill>
              <a:srgbClr val="D9E3E0"/>
            </a:solidFill>
            <a:prstDash val="solid"/>
          </a:ln>
        </p:spPr>
      </p:sp>
      <p:sp>
        <p:nvSpPr>
          <p:cNvPr id="22" name="Text 20"/>
          <p:cNvSpPr txBox="1"/>
          <p:nvPr/>
        </p:nvSpPr>
        <p:spPr>
          <a:xfrm>
            <a:off x="5184648" y="5074920"/>
            <a:ext cx="1828800" cy="868680"/>
          </a:xfrm>
          <a:prstGeom prst="rect">
            <a:avLst/>
          </a:prstGeom>
          <a:noFill/>
          <a:ln/>
        </p:spPr>
        <p:txBody>
          <a:bodyPr wrap="square" lIns="0" tIns="0" rIns="0" bIns="0" rtlCol="0" anchor="ctr"/>
          <a:lstStyle/>
          <a:p>
            <a:pPr indent="0" marL="0">
              <a:buNone/>
            </a:pPr>
            <a:r>
              <a:rPr lang="en-US" sz="1300" dirty="0">
                <a:solidFill>
                  <a:srgbClr val="10201F"/>
                </a:solidFill>
                <a:latin typeface="Calibri" pitchFamily="34" charset="0"/>
                <a:ea typeface="Calibri" pitchFamily="34" charset="-122"/>
                <a:cs typeface="Calibri" pitchFamily="34" charset="-120"/>
              </a:rPr>
              <a:t>Retry plan after an unanswered attempt</a:t>
            </a:r>
            <a:endParaRPr lang="en-US" sz="1300" dirty="0"/>
          </a:p>
        </p:txBody>
      </p:sp>
      <p:sp>
        <p:nvSpPr>
          <p:cNvPr id="23" name="Shape 21"/>
          <p:cNvSpPr/>
          <p:nvPr/>
        </p:nvSpPr>
        <p:spPr>
          <a:xfrm>
            <a:off x="7296912" y="5029200"/>
            <a:ext cx="2103120" cy="960120"/>
          </a:xfrm>
          <a:prstGeom prst="roundRect">
            <a:avLst>
              <a:gd name="adj" fmla="val 7619"/>
            </a:avLst>
          </a:prstGeom>
          <a:solidFill>
            <a:srgbClr val="FFFFFF"/>
          </a:solidFill>
          <a:ln w="12700">
            <a:solidFill>
              <a:srgbClr val="D9E3E0"/>
            </a:solidFill>
            <a:prstDash val="solid"/>
          </a:ln>
        </p:spPr>
      </p:sp>
      <p:sp>
        <p:nvSpPr>
          <p:cNvPr id="24" name="Text 22"/>
          <p:cNvSpPr txBox="1"/>
          <p:nvPr/>
        </p:nvSpPr>
        <p:spPr>
          <a:xfrm>
            <a:off x="7434072" y="5074920"/>
            <a:ext cx="1828800" cy="868680"/>
          </a:xfrm>
          <a:prstGeom prst="rect">
            <a:avLst/>
          </a:prstGeom>
          <a:noFill/>
          <a:ln/>
        </p:spPr>
        <p:txBody>
          <a:bodyPr wrap="square" lIns="0" tIns="0" rIns="0" bIns="0" rtlCol="0" anchor="ctr"/>
          <a:lstStyle/>
          <a:p>
            <a:pPr indent="0" marL="0">
              <a:buNone/>
            </a:pPr>
            <a:r>
              <a:rPr lang="en-US" sz="1300" dirty="0">
                <a:solidFill>
                  <a:srgbClr val="10201F"/>
                </a:solidFill>
                <a:latin typeface="Calibri" pitchFamily="34" charset="0"/>
                <a:ea typeface="Calibri" pitchFamily="34" charset="-122"/>
                <a:cs typeface="Calibri" pitchFamily="34" charset="-120"/>
              </a:rPr>
              <a:t>Confidence / uncertainty</a:t>
            </a:r>
            <a:endParaRPr lang="en-US" sz="1300" dirty="0"/>
          </a:p>
        </p:txBody>
      </p:sp>
      <p:sp>
        <p:nvSpPr>
          <p:cNvPr id="25" name="Shape 23"/>
          <p:cNvSpPr/>
          <p:nvPr/>
        </p:nvSpPr>
        <p:spPr>
          <a:xfrm>
            <a:off x="9546336" y="5029200"/>
            <a:ext cx="2103120" cy="960120"/>
          </a:xfrm>
          <a:prstGeom prst="roundRect">
            <a:avLst>
              <a:gd name="adj" fmla="val 7619"/>
            </a:avLst>
          </a:prstGeom>
          <a:solidFill>
            <a:srgbClr val="FFFFFF"/>
          </a:solidFill>
          <a:ln w="12700">
            <a:solidFill>
              <a:srgbClr val="D9E3E0"/>
            </a:solidFill>
            <a:prstDash val="solid"/>
          </a:ln>
        </p:spPr>
      </p:sp>
      <p:sp>
        <p:nvSpPr>
          <p:cNvPr id="26" name="Text 24"/>
          <p:cNvSpPr txBox="1"/>
          <p:nvPr/>
        </p:nvSpPr>
        <p:spPr>
          <a:xfrm>
            <a:off x="9683496" y="5074920"/>
            <a:ext cx="1828800" cy="868680"/>
          </a:xfrm>
          <a:prstGeom prst="rect">
            <a:avLst/>
          </a:prstGeom>
          <a:noFill/>
          <a:ln/>
        </p:spPr>
        <p:txBody>
          <a:bodyPr wrap="square" lIns="0" tIns="0" rIns="0" bIns="0" rtlCol="0" anchor="ctr"/>
          <a:lstStyle/>
          <a:p>
            <a:pPr indent="0" marL="0">
              <a:buNone/>
            </a:pPr>
            <a:r>
              <a:rPr lang="en-US" sz="1300" dirty="0">
                <a:solidFill>
                  <a:srgbClr val="10201F"/>
                </a:solidFill>
                <a:latin typeface="Calibri" pitchFamily="34" charset="0"/>
                <a:ea typeface="Calibri" pitchFamily="34" charset="-122"/>
                <a:cs typeface="Calibri" pitchFamily="34" charset="-120"/>
              </a:rPr>
              <a:t>A factual 2–3 sentence explanation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One calling plan per seller, with all five answers</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A rep enters GLIDs. The plan is ordered for a call that happens in the next few minutes. Raw API data stays behind a developer switch.</a:t>
            </a:r>
            <a:endParaRPr lang="en-US" sz="1500" dirty="0"/>
          </a:p>
        </p:txBody>
      </p:sp>
      <p:sp>
        <p:nvSpPr>
          <p:cNvPr id="4" name="Shape 2"/>
          <p:cNvSpPr/>
          <p:nvPr/>
        </p:nvSpPr>
        <p:spPr>
          <a:xfrm>
            <a:off x="548640" y="1828800"/>
            <a:ext cx="566928" cy="566928"/>
          </a:xfrm>
          <a:prstGeom prst="ellipse">
            <a:avLst/>
          </a:prstGeom>
          <a:solidFill>
            <a:srgbClr val="EEF4F2"/>
          </a:solidFill>
          <a:ln/>
        </p:spPr>
      </p:sp>
      <p:pic>
        <p:nvPicPr>
          <p:cNvPr id="5" name="Image 0" descr="preencoded.png">    </p:cNvPr>
          <p:cNvPicPr>
            <a:picLocks noChangeAspect="1"/>
          </p:cNvPicPr>
          <p:nvPr/>
        </p:nvPicPr>
        <p:blipFill>
          <a:blip r:embed="rId1"/>
          <a:stretch>
            <a:fillRect/>
          </a:stretch>
        </p:blipFill>
        <p:spPr>
          <a:xfrm>
            <a:off x="676656" y="1956816"/>
            <a:ext cx="310896" cy="310896"/>
          </a:xfrm>
          <a:prstGeom prst="rect">
            <a:avLst/>
          </a:prstGeom>
        </p:spPr>
      </p:pic>
      <p:sp>
        <p:nvSpPr>
          <p:cNvPr id="6" name="Text 3"/>
          <p:cNvSpPr txBox="1"/>
          <p:nvPr/>
        </p:nvSpPr>
        <p:spPr>
          <a:xfrm>
            <a:off x="1280160" y="1810512"/>
            <a:ext cx="4206240" cy="32004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Best time to call</a:t>
            </a:r>
            <a:endParaRPr lang="en-US" sz="1600" dirty="0"/>
          </a:p>
        </p:txBody>
      </p:sp>
      <p:sp>
        <p:nvSpPr>
          <p:cNvPr id="7" name="Text 4"/>
          <p:cNvSpPr txBox="1"/>
          <p:nvPr/>
        </p:nvSpPr>
        <p:spPr>
          <a:xfrm>
            <a:off x="1280160" y="2130552"/>
            <a:ext cx="4572000" cy="475488"/>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Tue 13 Oct, 11:00–12:00 IST</a:t>
            </a:r>
            <a:endParaRPr lang="en-US" sz="1300" dirty="0"/>
          </a:p>
        </p:txBody>
      </p:sp>
      <p:sp>
        <p:nvSpPr>
          <p:cNvPr id="8" name="Shape 5"/>
          <p:cNvSpPr/>
          <p:nvPr/>
        </p:nvSpPr>
        <p:spPr>
          <a:xfrm>
            <a:off x="548640" y="2697480"/>
            <a:ext cx="566928" cy="566928"/>
          </a:xfrm>
          <a:prstGeom prst="ellipse">
            <a:avLst/>
          </a:prstGeom>
          <a:solidFill>
            <a:srgbClr val="EEF4F2"/>
          </a:solidFill>
          <a:ln/>
        </p:spPr>
      </p:sp>
      <p:pic>
        <p:nvPicPr>
          <p:cNvPr id="9" name="Image 1" descr="preencoded.png">    </p:cNvPr>
          <p:cNvPicPr>
            <a:picLocks noChangeAspect="1"/>
          </p:cNvPicPr>
          <p:nvPr/>
        </p:nvPicPr>
        <p:blipFill>
          <a:blip r:embed="rId2"/>
          <a:stretch>
            <a:fillRect/>
          </a:stretch>
        </p:blipFill>
        <p:spPr>
          <a:xfrm>
            <a:off x="676656" y="2825496"/>
            <a:ext cx="310896" cy="310896"/>
          </a:xfrm>
          <a:prstGeom prst="rect">
            <a:avLst/>
          </a:prstGeom>
        </p:spPr>
      </p:pic>
      <p:sp>
        <p:nvSpPr>
          <p:cNvPr id="10" name="Text 6"/>
          <p:cNvSpPr txBox="1"/>
          <p:nvPr/>
        </p:nvSpPr>
        <p:spPr>
          <a:xfrm>
            <a:off x="1280160" y="2679192"/>
            <a:ext cx="4206240" cy="32004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Ranked windows</a:t>
            </a:r>
            <a:endParaRPr lang="en-US" sz="1600" dirty="0"/>
          </a:p>
        </p:txBody>
      </p:sp>
      <p:sp>
        <p:nvSpPr>
          <p:cNvPr id="11" name="Text 7"/>
          <p:cNvSpPr txBox="1"/>
          <p:nvPr/>
        </p:nvSpPr>
        <p:spPr>
          <a:xfrm>
            <a:off x="1280160" y="2999232"/>
            <a:ext cx="4572000" cy="475488"/>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Up to 4 future one-hour slots, each with its evidence and relative strength</a:t>
            </a:r>
            <a:endParaRPr lang="en-US" sz="1300" dirty="0"/>
          </a:p>
        </p:txBody>
      </p:sp>
      <p:sp>
        <p:nvSpPr>
          <p:cNvPr id="12" name="Shape 8"/>
          <p:cNvSpPr/>
          <p:nvPr/>
        </p:nvSpPr>
        <p:spPr>
          <a:xfrm>
            <a:off x="548640" y="3566160"/>
            <a:ext cx="566928" cy="566928"/>
          </a:xfrm>
          <a:prstGeom prst="ellipse">
            <a:avLst/>
          </a:prstGeom>
          <a:solidFill>
            <a:srgbClr val="EEF4F2"/>
          </a:solidFill>
          <a:ln/>
        </p:spPr>
      </p:sp>
      <p:pic>
        <p:nvPicPr>
          <p:cNvPr id="13" name="Image 2" descr="preencoded.png">    </p:cNvPr>
          <p:cNvPicPr>
            <a:picLocks noChangeAspect="1"/>
          </p:cNvPicPr>
          <p:nvPr/>
        </p:nvPicPr>
        <p:blipFill>
          <a:blip r:embed="rId3"/>
          <a:stretch>
            <a:fillRect/>
          </a:stretch>
        </p:blipFill>
        <p:spPr>
          <a:xfrm>
            <a:off x="676656" y="3694176"/>
            <a:ext cx="310896" cy="310896"/>
          </a:xfrm>
          <a:prstGeom prst="rect">
            <a:avLst/>
          </a:prstGeom>
        </p:spPr>
      </p:pic>
      <p:sp>
        <p:nvSpPr>
          <p:cNvPr id="14" name="Text 9"/>
          <p:cNvSpPr txBox="1"/>
          <p:nvPr/>
        </p:nvSpPr>
        <p:spPr>
          <a:xfrm>
            <a:off x="1280160" y="3547872"/>
            <a:ext cx="4206240" cy="32004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Retry plan</a:t>
            </a:r>
            <a:endParaRPr lang="en-US" sz="1600" dirty="0"/>
          </a:p>
        </p:txBody>
      </p:sp>
      <p:sp>
        <p:nvSpPr>
          <p:cNvPr id="15" name="Text 10"/>
          <p:cNvSpPr txBox="1"/>
          <p:nvPr/>
        </p:nvSpPr>
        <p:spPr>
          <a:xfrm>
            <a:off x="1280160" y="3867912"/>
            <a:ext cx="4572000" cy="475488"/>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No answer? Wait ≥ 60 min, retry Thu 11:00; attempt 2 of up to 10</a:t>
            </a:r>
            <a:endParaRPr lang="en-US" sz="1300" dirty="0"/>
          </a:p>
        </p:txBody>
      </p:sp>
      <p:sp>
        <p:nvSpPr>
          <p:cNvPr id="16" name="Shape 11"/>
          <p:cNvSpPr/>
          <p:nvPr/>
        </p:nvSpPr>
        <p:spPr>
          <a:xfrm>
            <a:off x="548640" y="4434840"/>
            <a:ext cx="566928" cy="566928"/>
          </a:xfrm>
          <a:prstGeom prst="ellipse">
            <a:avLst/>
          </a:prstGeom>
          <a:solidFill>
            <a:srgbClr val="EEF4F2"/>
          </a:solidFill>
          <a:ln/>
        </p:spPr>
      </p:sp>
      <p:pic>
        <p:nvPicPr>
          <p:cNvPr id="17" name="Image 3" descr="preencoded.png">    </p:cNvPr>
          <p:cNvPicPr>
            <a:picLocks noChangeAspect="1"/>
          </p:cNvPicPr>
          <p:nvPr/>
        </p:nvPicPr>
        <p:blipFill>
          <a:blip r:embed="rId4"/>
          <a:stretch>
            <a:fillRect/>
          </a:stretch>
        </p:blipFill>
        <p:spPr>
          <a:xfrm>
            <a:off x="676656" y="4562856"/>
            <a:ext cx="310896" cy="310896"/>
          </a:xfrm>
          <a:prstGeom prst="rect">
            <a:avLst/>
          </a:prstGeom>
        </p:spPr>
      </p:pic>
      <p:sp>
        <p:nvSpPr>
          <p:cNvPr id="18" name="Text 12"/>
          <p:cNvSpPr txBox="1"/>
          <p:nvPr/>
        </p:nvSpPr>
        <p:spPr>
          <a:xfrm>
            <a:off x="1280160" y="4416552"/>
            <a:ext cx="4206240" cy="32004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Confidence</a:t>
            </a:r>
            <a:endParaRPr lang="en-US" sz="1600" dirty="0"/>
          </a:p>
        </p:txBody>
      </p:sp>
      <p:sp>
        <p:nvSpPr>
          <p:cNvPr id="19" name="Text 13"/>
          <p:cNvSpPr txBox="1"/>
          <p:nvPr/>
        </p:nvSpPr>
        <p:spPr>
          <a:xfrm>
            <a:off x="1280160" y="4736592"/>
            <a:ext cx="4572000" cy="475488"/>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Moderate, low or insufficient, tied to the evidence behind the ranking</a:t>
            </a:r>
            <a:endParaRPr lang="en-US" sz="1300" dirty="0"/>
          </a:p>
        </p:txBody>
      </p:sp>
      <p:sp>
        <p:nvSpPr>
          <p:cNvPr id="20" name="Shape 14"/>
          <p:cNvSpPr/>
          <p:nvPr/>
        </p:nvSpPr>
        <p:spPr>
          <a:xfrm>
            <a:off x="548640" y="5303520"/>
            <a:ext cx="566928" cy="566928"/>
          </a:xfrm>
          <a:prstGeom prst="ellipse">
            <a:avLst/>
          </a:prstGeom>
          <a:solidFill>
            <a:srgbClr val="EEF4F2"/>
          </a:solidFill>
          <a:ln/>
        </p:spPr>
      </p:sp>
      <p:pic>
        <p:nvPicPr>
          <p:cNvPr id="21" name="Image 4" descr="preencoded.png">    </p:cNvPr>
          <p:cNvPicPr>
            <a:picLocks noChangeAspect="1"/>
          </p:cNvPicPr>
          <p:nvPr/>
        </p:nvPicPr>
        <p:blipFill>
          <a:blip r:embed="rId5"/>
          <a:stretch>
            <a:fillRect/>
          </a:stretch>
        </p:blipFill>
        <p:spPr>
          <a:xfrm>
            <a:off x="676656" y="5431536"/>
            <a:ext cx="310896" cy="310896"/>
          </a:xfrm>
          <a:prstGeom prst="rect">
            <a:avLst/>
          </a:prstGeom>
        </p:spPr>
      </p:pic>
      <p:sp>
        <p:nvSpPr>
          <p:cNvPr id="22" name="Text 15"/>
          <p:cNvSpPr txBox="1"/>
          <p:nvPr/>
        </p:nvSpPr>
        <p:spPr>
          <a:xfrm>
            <a:off x="1280160" y="5285232"/>
            <a:ext cx="4206240" cy="32004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Why, in 2–3 sentences</a:t>
            </a:r>
            <a:endParaRPr lang="en-US" sz="1600" dirty="0"/>
          </a:p>
        </p:txBody>
      </p:sp>
      <p:sp>
        <p:nvSpPr>
          <p:cNvPr id="23" name="Text 16"/>
          <p:cNvSpPr txBox="1"/>
          <p:nvPr/>
        </p:nvSpPr>
        <p:spPr>
          <a:xfrm>
            <a:off x="1280160" y="5605272"/>
            <a:ext cx="4572000" cy="475488"/>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Written from measured history; checked by the LLM, never invented</a:t>
            </a:r>
            <a:endParaRPr lang="en-US" sz="1300" dirty="0"/>
          </a:p>
        </p:txBody>
      </p:sp>
      <p:sp>
        <p:nvSpPr>
          <p:cNvPr id="24" name="Shape 17"/>
          <p:cNvSpPr/>
          <p:nvPr/>
        </p:nvSpPr>
        <p:spPr>
          <a:xfrm>
            <a:off x="6126480" y="1828800"/>
            <a:ext cx="5486400" cy="4206240"/>
          </a:xfrm>
          <a:prstGeom prst="roundRect">
            <a:avLst>
              <a:gd name="adj" fmla="val 1739"/>
            </a:avLst>
          </a:prstGeom>
          <a:solidFill>
            <a:srgbClr val="FFFFFF"/>
          </a:solidFill>
          <a:ln w="12700">
            <a:solidFill>
              <a:srgbClr val="D9E3E0"/>
            </a:solidFill>
            <a:prstDash val="solid"/>
          </a:ln>
        </p:spPr>
      </p:sp>
      <p:sp>
        <p:nvSpPr>
          <p:cNvPr id="25" name="Shape 18"/>
          <p:cNvSpPr/>
          <p:nvPr/>
        </p:nvSpPr>
        <p:spPr>
          <a:xfrm>
            <a:off x="6355080" y="2057400"/>
            <a:ext cx="2377440" cy="1600200"/>
          </a:xfrm>
          <a:prstGeom prst="roundRect">
            <a:avLst>
              <a:gd name="adj" fmla="val 4571"/>
            </a:avLst>
          </a:prstGeom>
          <a:solidFill>
            <a:srgbClr val="0B4F45"/>
          </a:solidFill>
          <a:ln/>
        </p:spPr>
      </p:sp>
      <p:sp>
        <p:nvSpPr>
          <p:cNvPr id="26" name="Text 19"/>
          <p:cNvSpPr txBox="1"/>
          <p:nvPr/>
        </p:nvSpPr>
        <p:spPr>
          <a:xfrm>
            <a:off x="6537960" y="2194560"/>
            <a:ext cx="2103120" cy="274320"/>
          </a:xfrm>
          <a:prstGeom prst="rect">
            <a:avLst/>
          </a:prstGeom>
          <a:noFill/>
          <a:ln/>
        </p:spPr>
        <p:txBody>
          <a:bodyPr wrap="square" lIns="0" tIns="0" rIns="0" bIns="0" rtlCol="0" anchor="ctr"/>
          <a:lstStyle/>
          <a:p>
            <a:pPr indent="0" marL="0">
              <a:buNone/>
            </a:pPr>
            <a:r>
              <a:rPr lang="en-US" sz="1000" b="1" spc="200" kern="0" dirty="0">
                <a:solidFill>
                  <a:srgbClr val="BFE7DD"/>
                </a:solidFill>
                <a:latin typeface="Calibri" pitchFamily="34" charset="0"/>
                <a:ea typeface="Calibri" pitchFamily="34" charset="-122"/>
                <a:cs typeface="Calibri" pitchFamily="34" charset="-120"/>
              </a:rPr>
              <a:t>BEST TIME TO CALL</a:t>
            </a:r>
            <a:endParaRPr lang="en-US" sz="1000" dirty="0"/>
          </a:p>
        </p:txBody>
      </p:sp>
      <p:sp>
        <p:nvSpPr>
          <p:cNvPr id="27" name="Text 20"/>
          <p:cNvSpPr txBox="1"/>
          <p:nvPr/>
        </p:nvSpPr>
        <p:spPr>
          <a:xfrm>
            <a:off x="6537960" y="2487168"/>
            <a:ext cx="2103120" cy="8229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Tue 13 Oct</a:t>
            </a:r>
            <a:endParaRPr lang="en-US" sz="2200" dirty="0"/>
          </a:p>
          <a:p>
            <a:pPr indent="0" marL="0">
              <a:buNone/>
            </a:pPr>
            <a:r>
              <a:rPr lang="en-US" sz="2200" b="1" dirty="0">
                <a:solidFill>
                  <a:srgbClr val="FFFFFF"/>
                </a:solidFill>
                <a:latin typeface="Cambria" pitchFamily="34" charset="0"/>
                <a:ea typeface="Cambria" pitchFamily="34" charset="-122"/>
                <a:cs typeface="Cambria" pitchFamily="34" charset="-120"/>
              </a:rPr>
              <a:t>11:00 am</a:t>
            </a:r>
            <a:endParaRPr lang="en-US" sz="2200" dirty="0"/>
          </a:p>
        </p:txBody>
      </p:sp>
      <p:sp>
        <p:nvSpPr>
          <p:cNvPr id="28" name="Text 21"/>
          <p:cNvSpPr txBox="1"/>
          <p:nvPr/>
        </p:nvSpPr>
        <p:spPr>
          <a:xfrm>
            <a:off x="6537960" y="3291840"/>
            <a:ext cx="2148840" cy="274320"/>
          </a:xfrm>
          <a:prstGeom prst="rect">
            <a:avLst/>
          </a:prstGeom>
          <a:noFill/>
          <a:ln/>
        </p:spPr>
        <p:txBody>
          <a:bodyPr wrap="square" lIns="0" tIns="0" rIns="0" bIns="0" rtlCol="0" anchor="ctr"/>
          <a:lstStyle/>
          <a:p>
            <a:pPr indent="0" marL="0">
              <a:buNone/>
            </a:pPr>
            <a:r>
              <a:rPr lang="en-US" sz="1000" dirty="0">
                <a:solidFill>
                  <a:srgbClr val="CFE9E2"/>
                </a:solidFill>
                <a:latin typeface="Calibri" pitchFamily="34" charset="0"/>
                <a:ea typeface="Calibri" pitchFamily="34" charset="-122"/>
                <a:cs typeface="Calibri" pitchFamily="34" charset="-120"/>
              </a:rPr>
              <a:t>Answer history · Low confidence</a:t>
            </a:r>
            <a:endParaRPr lang="en-US" sz="1000" dirty="0"/>
          </a:p>
        </p:txBody>
      </p:sp>
      <p:sp>
        <p:nvSpPr>
          <p:cNvPr id="29" name="Text 22"/>
          <p:cNvSpPr txBox="1"/>
          <p:nvPr/>
        </p:nvSpPr>
        <p:spPr>
          <a:xfrm>
            <a:off x="8915400" y="2057400"/>
            <a:ext cx="2514600" cy="1600200"/>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Why this time: meeting evidence is inconclusive, so this seller's most answered slots rank first, with very short calls discounted. 12 observed prior calls; no meeting probability claimed.</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55080" y="3840480"/>
          <a:ext cx="5074920" cy="914400"/>
        </p:xfrm>
        <a:graphic>
          <a:graphicData uri="http://schemas.openxmlformats.org/drawingml/2006/table">
            <a:tbl>
              <a:tblPr/>
              <a:tblGrid>
                <a:gridCol w="640080"/>
                <a:gridCol w="2148840"/>
                <a:gridCol w="2286000"/>
              </a:tblGrid>
              <a:tr h="274320">
                <a:tc>
                  <a:txBody>
                    <a:bodyPr/>
                    <a:lstStyle/>
                    <a:p>
                      <a:pPr indent="0" marL="0">
                        <a:buNone/>
                      </a:pPr>
                      <a:r>
                        <a:rPr lang="en-US" sz="1150" b="1" dirty="0">
                          <a:solidFill>
                            <a:srgbClr val="7A8B89"/>
                          </a:solidFill>
                          <a:latin typeface="Calibri" pitchFamily="34" charset="0"/>
                          <a:ea typeface="Calibri" pitchFamily="34" charset="-122"/>
                          <a:cs typeface="Calibri" pitchFamily="34" charset="-120"/>
                        </a:rPr>
                        <a:t>Rank</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b="1" dirty="0">
                          <a:solidFill>
                            <a:srgbClr val="7A8B89"/>
                          </a:solidFill>
                          <a:latin typeface="Calibri" pitchFamily="34" charset="0"/>
                          <a:ea typeface="Calibri" pitchFamily="34" charset="-122"/>
                          <a:cs typeface="Calibri" pitchFamily="34" charset="-120"/>
                        </a:rPr>
                        <a:t>Window</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b="1" dirty="0">
                          <a:solidFill>
                            <a:srgbClr val="7A8B89"/>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r>
              <a:tr h="274320">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Tue 13 Oct, 11:00</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6 answered calls</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r>
              <a:tr h="274320">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Thu 15 Oct, 11:00</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6 answered calls</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r>
              <a:tr h="274320">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Mon 12 Oct, 11:00</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6 answered calls</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r>
              <a:tr h="274320">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Wed 14 Oct, 11:00</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c>
                  <a:txBody>
                    <a:bodyPr/>
                    <a:lstStyle/>
                    <a:p>
                      <a:pPr indent="0" marL="0">
                        <a:buNone/>
                      </a:pPr>
                      <a:r>
                        <a:rPr lang="en-US" sz="1150" dirty="0">
                          <a:solidFill>
                            <a:srgbClr val="10201F"/>
                          </a:solidFill>
                          <a:latin typeface="Calibri" pitchFamily="34" charset="0"/>
                          <a:ea typeface="Calibri" pitchFamily="34" charset="-122"/>
                          <a:cs typeface="Calibri" pitchFamily="34" charset="-120"/>
                        </a:rPr>
                        <a:t>6 answered calls</a:t>
                      </a:r>
                      <a:endParaRPr lang="en-US" sz="1150" dirty="0">
                        <a:latin typeface="Calibri" charset="0"/>
                        <a:ea typeface="Calibri" charset="0"/>
                        <a:cs typeface="Calibri" charset="0"/>
                      </a:endParaRPr>
                    </a:p>
                  </a:txBody>
                  <a:tcPr marL="91440" marR="91440" marT="45720" marB="45720">
                    <a:lnL w="9525" cap="flat" cmpd="sng" algn="ctr">
                      <a:solidFill>
                        <a:srgbClr val="D9E3E0"/>
                      </a:solidFill>
                      <a:prstDash val="solid"/>
                      <a:round/>
                      <a:headEnd type="none" w="med" len="med"/>
                      <a:tailEnd type="none" w="med" len="med"/>
                    </a:lnL>
                    <a:lnR w="9525" cap="flat" cmpd="sng" algn="ctr">
                      <a:solidFill>
                        <a:srgbClr val="D9E3E0"/>
                      </a:solidFill>
                      <a:prstDash val="solid"/>
                      <a:round/>
                      <a:headEnd type="none" w="med" len="med"/>
                      <a:tailEnd type="none" w="med" len="med"/>
                    </a:lnR>
                    <a:lnT w="9525" cap="flat" cmpd="sng" algn="ctr">
                      <a:solidFill>
                        <a:srgbClr val="D9E3E0"/>
                      </a:solidFill>
                      <a:prstDash val="solid"/>
                      <a:round/>
                      <a:headEnd type="none" w="med" len="med"/>
                      <a:tailEnd type="none" w="med" len="med"/>
                    </a:lnT>
                    <a:lnB w="9525" cap="flat" cmpd="sng" algn="ctr">
                      <a:solidFill>
                        <a:srgbClr val="D9E3E0"/>
                      </a:solidFill>
                      <a:prstDash val="solid"/>
                      <a:round/>
                      <a:headEnd type="none" w="med" len="med"/>
                      <a:tailEnd type="none" w="med" len="med"/>
                    </a:lnB>
                  </a:tcPr>
                </a:tc>
              </a:tr>
            </a:tbl>
          </a:graphicData>
        </a:graphic>
      </p:graphicFrame>
      <p:sp>
        <p:nvSpPr>
          <p:cNvPr id="31" name="Text 23"/>
          <p:cNvSpPr txBox="1"/>
          <p:nvPr/>
        </p:nvSpPr>
        <p:spPr>
          <a:xfrm>
            <a:off x="6355080" y="5669280"/>
            <a:ext cx="5029200" cy="274320"/>
          </a:xfrm>
          <a:prstGeom prst="rect">
            <a:avLst/>
          </a:prstGeom>
          <a:noFill/>
          <a:ln/>
        </p:spPr>
        <p:txBody>
          <a:bodyPr wrap="square" lIns="0" tIns="0" rIns="0" bIns="0" rtlCol="0" anchor="ctr"/>
          <a:lstStyle/>
          <a:p>
            <a:pPr indent="0" marL="0">
              <a:buNone/>
            </a:pPr>
            <a:r>
              <a:rPr lang="en-US" sz="1000" i="1" dirty="0">
                <a:solidFill>
                  <a:srgbClr val="7A8B89"/>
                </a:solidFill>
                <a:latin typeface="Calibri" pitchFamily="34" charset="0"/>
                <a:ea typeface="Calibri" pitchFamily="34" charset="-122"/>
                <a:cs typeface="Calibri" pitchFamily="34" charset="-120"/>
              </a:rPr>
              <a:t>Example from the real engine on a synthetic seller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From GLID to a grounded calling plan in one request</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Next.js app with server-side integrations. Each step is deterministic except the optional LLM review, which cannot change the plan.</a:t>
            </a:r>
            <a:endParaRPr lang="en-US" sz="1500" dirty="0"/>
          </a:p>
        </p:txBody>
      </p:sp>
      <p:sp>
        <p:nvSpPr>
          <p:cNvPr id="4" name="Shape 2"/>
          <p:cNvSpPr/>
          <p:nvPr/>
        </p:nvSpPr>
        <p:spPr>
          <a:xfrm>
            <a:off x="548640" y="2011680"/>
            <a:ext cx="1691640" cy="2103120"/>
          </a:xfrm>
          <a:prstGeom prst="roundRect">
            <a:avLst>
              <a:gd name="adj" fmla="val 4324"/>
            </a:avLst>
          </a:prstGeom>
          <a:solidFill>
            <a:srgbClr val="EEF4F2"/>
          </a:solidFill>
          <a:ln/>
        </p:spPr>
      </p:sp>
      <p:pic>
        <p:nvPicPr>
          <p:cNvPr id="5" name="Image 0" descr="preencoded.png">    </p:cNvPr>
          <p:cNvPicPr>
            <a:picLocks noChangeAspect="1"/>
          </p:cNvPicPr>
          <p:nvPr/>
        </p:nvPicPr>
        <p:blipFill>
          <a:blip r:embed="rId1"/>
          <a:stretch>
            <a:fillRect/>
          </a:stretch>
        </p:blipFill>
        <p:spPr>
          <a:xfrm>
            <a:off x="731520" y="2194560"/>
            <a:ext cx="384048" cy="384048"/>
          </a:xfrm>
          <a:prstGeom prst="rect">
            <a:avLst/>
          </a:prstGeom>
        </p:spPr>
      </p:pic>
      <p:sp>
        <p:nvSpPr>
          <p:cNvPr id="6" name="Text 3"/>
          <p:cNvSpPr txBox="1"/>
          <p:nvPr/>
        </p:nvSpPr>
        <p:spPr>
          <a:xfrm>
            <a:off x="731520" y="2670048"/>
            <a:ext cx="1417320" cy="502920"/>
          </a:xfrm>
          <a:prstGeom prst="rect">
            <a:avLst/>
          </a:prstGeom>
          <a:noFill/>
          <a:ln/>
        </p:spPr>
        <p:txBody>
          <a:bodyPr wrap="square" lIns="0" tIns="0" rIns="0" bIns="0" rtlCol="0" anchor="t"/>
          <a:lstStyle/>
          <a:p>
            <a:pPr indent="0" marL="0">
              <a:buNone/>
            </a:pPr>
            <a:r>
              <a:rPr lang="en-US" sz="1400" b="1" dirty="0">
                <a:solidFill>
                  <a:srgbClr val="10201F"/>
                </a:solidFill>
                <a:latin typeface="Calibri" pitchFamily="34" charset="0"/>
                <a:ea typeface="Calibri" pitchFamily="34" charset="-122"/>
                <a:cs typeface="Calibri" pitchFamily="34" charset="-120"/>
              </a:rPr>
              <a:t>GLID lookup</a:t>
            </a:r>
            <a:endParaRPr lang="en-US" sz="1400" dirty="0"/>
          </a:p>
        </p:txBody>
      </p:sp>
      <p:sp>
        <p:nvSpPr>
          <p:cNvPr id="7" name="Text 4"/>
          <p:cNvSpPr txBox="1"/>
          <p:nvPr/>
        </p:nvSpPr>
        <p:spPr>
          <a:xfrm>
            <a:off x="731520" y="3200400"/>
            <a:ext cx="1417320" cy="8686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Batch of up to 50 sellers</a:t>
            </a:r>
            <a:endParaRPr lang="en-US" sz="1200" dirty="0"/>
          </a:p>
        </p:txBody>
      </p:sp>
      <p:sp>
        <p:nvSpPr>
          <p:cNvPr id="8" name="Shape 5"/>
          <p:cNvSpPr/>
          <p:nvPr/>
        </p:nvSpPr>
        <p:spPr>
          <a:xfrm>
            <a:off x="2258568" y="2926080"/>
            <a:ext cx="164592" cy="274320"/>
          </a:xfrm>
          <a:prstGeom prst="rightArrow">
            <a:avLst/>
          </a:prstGeom>
          <a:solidFill>
            <a:srgbClr val="9AA8A6"/>
          </a:solidFill>
          <a:ln/>
        </p:spPr>
      </p:sp>
      <p:sp>
        <p:nvSpPr>
          <p:cNvPr id="9" name="Shape 6"/>
          <p:cNvSpPr/>
          <p:nvPr/>
        </p:nvSpPr>
        <p:spPr>
          <a:xfrm>
            <a:off x="2441448" y="2011680"/>
            <a:ext cx="1691640" cy="2103120"/>
          </a:xfrm>
          <a:prstGeom prst="roundRect">
            <a:avLst>
              <a:gd name="adj" fmla="val 4324"/>
            </a:avLst>
          </a:prstGeom>
          <a:solidFill>
            <a:srgbClr val="EEF4F2"/>
          </a:solidFill>
          <a:ln/>
        </p:spPr>
      </p:sp>
      <p:pic>
        <p:nvPicPr>
          <p:cNvPr id="10" name="Image 1" descr="preencoded.png">    </p:cNvPr>
          <p:cNvPicPr>
            <a:picLocks noChangeAspect="1"/>
          </p:cNvPicPr>
          <p:nvPr/>
        </p:nvPicPr>
        <p:blipFill>
          <a:blip r:embed="rId2"/>
          <a:stretch>
            <a:fillRect/>
          </a:stretch>
        </p:blipFill>
        <p:spPr>
          <a:xfrm>
            <a:off x="2624328" y="2194560"/>
            <a:ext cx="384048" cy="384048"/>
          </a:xfrm>
          <a:prstGeom prst="rect">
            <a:avLst/>
          </a:prstGeom>
        </p:spPr>
      </p:pic>
      <p:sp>
        <p:nvSpPr>
          <p:cNvPr id="11" name="Text 7"/>
          <p:cNvSpPr txBox="1"/>
          <p:nvPr/>
        </p:nvSpPr>
        <p:spPr>
          <a:xfrm>
            <a:off x="2624328" y="2670048"/>
            <a:ext cx="1417320" cy="502920"/>
          </a:xfrm>
          <a:prstGeom prst="rect">
            <a:avLst/>
          </a:prstGeom>
          <a:noFill/>
          <a:ln/>
        </p:spPr>
        <p:txBody>
          <a:bodyPr wrap="square" lIns="0" tIns="0" rIns="0" bIns="0" rtlCol="0" anchor="t"/>
          <a:lstStyle/>
          <a:p>
            <a:pPr indent="0" marL="0">
              <a:buNone/>
            </a:pPr>
            <a:r>
              <a:rPr lang="en-US" sz="1400" b="1" dirty="0">
                <a:solidFill>
                  <a:srgbClr val="10201F"/>
                </a:solidFill>
                <a:latin typeface="Calibri" pitchFamily="34" charset="0"/>
                <a:ea typeface="Calibri" pitchFamily="34" charset="-122"/>
                <a:cs typeface="Calibri" pitchFamily="34" charset="-120"/>
              </a:rPr>
              <a:t>ERP history</a:t>
            </a:r>
            <a:endParaRPr lang="en-US" sz="1400" dirty="0"/>
          </a:p>
        </p:txBody>
      </p:sp>
      <p:sp>
        <p:nvSpPr>
          <p:cNvPr id="12" name="Text 8"/>
          <p:cNvSpPr txBox="1"/>
          <p:nvPr/>
        </p:nvSpPr>
        <p:spPr>
          <a:xfrm>
            <a:off x="2624328" y="3200400"/>
            <a:ext cx="1417320" cy="8686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Redash source 13: calls, DSR calls, meetings, assignments</a:t>
            </a:r>
            <a:endParaRPr lang="en-US" sz="1200" dirty="0"/>
          </a:p>
        </p:txBody>
      </p:sp>
      <p:sp>
        <p:nvSpPr>
          <p:cNvPr id="13" name="Shape 9"/>
          <p:cNvSpPr/>
          <p:nvPr/>
        </p:nvSpPr>
        <p:spPr>
          <a:xfrm>
            <a:off x="4151376" y="2926080"/>
            <a:ext cx="164592" cy="274320"/>
          </a:xfrm>
          <a:prstGeom prst="rightArrow">
            <a:avLst/>
          </a:prstGeom>
          <a:solidFill>
            <a:srgbClr val="9AA8A6"/>
          </a:solidFill>
          <a:ln/>
        </p:spPr>
      </p:sp>
      <p:sp>
        <p:nvSpPr>
          <p:cNvPr id="14" name="Shape 10"/>
          <p:cNvSpPr/>
          <p:nvPr/>
        </p:nvSpPr>
        <p:spPr>
          <a:xfrm>
            <a:off x="4334256" y="2011680"/>
            <a:ext cx="1691640" cy="2103120"/>
          </a:xfrm>
          <a:prstGeom prst="roundRect">
            <a:avLst>
              <a:gd name="adj" fmla="val 4324"/>
            </a:avLst>
          </a:prstGeom>
          <a:solidFill>
            <a:srgbClr val="EEF4F2"/>
          </a:solidFill>
          <a:ln/>
        </p:spPr>
      </p:sp>
      <p:pic>
        <p:nvPicPr>
          <p:cNvPr id="15" name="Image 2" descr="preencoded.png">    </p:cNvPr>
          <p:cNvPicPr>
            <a:picLocks noChangeAspect="1"/>
          </p:cNvPicPr>
          <p:nvPr/>
        </p:nvPicPr>
        <p:blipFill>
          <a:blip r:embed="rId3"/>
          <a:stretch>
            <a:fillRect/>
          </a:stretch>
        </p:blipFill>
        <p:spPr>
          <a:xfrm>
            <a:off x="4517136" y="2194560"/>
            <a:ext cx="384048" cy="384048"/>
          </a:xfrm>
          <a:prstGeom prst="rect">
            <a:avLst/>
          </a:prstGeom>
        </p:spPr>
      </p:pic>
      <p:sp>
        <p:nvSpPr>
          <p:cNvPr id="16" name="Text 11"/>
          <p:cNvSpPr txBox="1"/>
          <p:nvPr/>
        </p:nvSpPr>
        <p:spPr>
          <a:xfrm>
            <a:off x="4517136" y="2670048"/>
            <a:ext cx="1417320" cy="502920"/>
          </a:xfrm>
          <a:prstGeom prst="rect">
            <a:avLst/>
          </a:prstGeom>
          <a:noFill/>
          <a:ln/>
        </p:spPr>
        <p:txBody>
          <a:bodyPr wrap="square" lIns="0" tIns="0" rIns="0" bIns="0" rtlCol="0" anchor="t"/>
          <a:lstStyle/>
          <a:p>
            <a:pPr indent="0" marL="0">
              <a:buNone/>
            </a:pPr>
            <a:r>
              <a:rPr lang="en-US" sz="1400" b="1" dirty="0">
                <a:solidFill>
                  <a:srgbClr val="10201F"/>
                </a:solidFill>
                <a:latin typeface="Calibri" pitchFamily="34" charset="0"/>
                <a:ea typeface="Calibri" pitchFamily="34" charset="-122"/>
                <a:cs typeface="Calibri" pitchFamily="34" charset="-120"/>
              </a:rPr>
              <a:t>Calling rules</a:t>
            </a:r>
            <a:endParaRPr lang="en-US" sz="1400" dirty="0"/>
          </a:p>
        </p:txBody>
      </p:sp>
      <p:sp>
        <p:nvSpPr>
          <p:cNvPr id="17" name="Text 12"/>
          <p:cNvSpPr txBox="1"/>
          <p:nvPr/>
        </p:nvSpPr>
        <p:spPr>
          <a:xfrm>
            <a:off x="4517136" y="3200400"/>
            <a:ext cx="1417320" cy="8686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Hours, gap, caps, DNC, appointments</a:t>
            </a:r>
            <a:endParaRPr lang="en-US" sz="1200" dirty="0"/>
          </a:p>
        </p:txBody>
      </p:sp>
      <p:sp>
        <p:nvSpPr>
          <p:cNvPr id="18" name="Shape 13"/>
          <p:cNvSpPr/>
          <p:nvPr/>
        </p:nvSpPr>
        <p:spPr>
          <a:xfrm>
            <a:off x="6044184" y="2926080"/>
            <a:ext cx="164592" cy="274320"/>
          </a:xfrm>
          <a:prstGeom prst="rightArrow">
            <a:avLst/>
          </a:prstGeom>
          <a:solidFill>
            <a:srgbClr val="9AA8A6"/>
          </a:solidFill>
          <a:ln/>
        </p:spPr>
      </p:sp>
      <p:sp>
        <p:nvSpPr>
          <p:cNvPr id="19" name="Shape 14"/>
          <p:cNvSpPr/>
          <p:nvPr/>
        </p:nvSpPr>
        <p:spPr>
          <a:xfrm>
            <a:off x="6227064" y="2011680"/>
            <a:ext cx="1691640" cy="2103120"/>
          </a:xfrm>
          <a:prstGeom prst="roundRect">
            <a:avLst>
              <a:gd name="adj" fmla="val 4324"/>
            </a:avLst>
          </a:prstGeom>
          <a:solidFill>
            <a:srgbClr val="EEF4F2"/>
          </a:solidFill>
          <a:ln/>
        </p:spPr>
      </p:sp>
      <p:pic>
        <p:nvPicPr>
          <p:cNvPr id="20" name="Image 3" descr="preencoded.png">    </p:cNvPr>
          <p:cNvPicPr>
            <a:picLocks noChangeAspect="1"/>
          </p:cNvPicPr>
          <p:nvPr/>
        </p:nvPicPr>
        <p:blipFill>
          <a:blip r:embed="rId4"/>
          <a:stretch>
            <a:fillRect/>
          </a:stretch>
        </p:blipFill>
        <p:spPr>
          <a:xfrm>
            <a:off x="6409944" y="2194560"/>
            <a:ext cx="384048" cy="384048"/>
          </a:xfrm>
          <a:prstGeom prst="rect">
            <a:avLst/>
          </a:prstGeom>
        </p:spPr>
      </p:pic>
      <p:sp>
        <p:nvSpPr>
          <p:cNvPr id="21" name="Text 15"/>
          <p:cNvSpPr txBox="1"/>
          <p:nvPr/>
        </p:nvSpPr>
        <p:spPr>
          <a:xfrm>
            <a:off x="6409944" y="2670048"/>
            <a:ext cx="1417320" cy="502920"/>
          </a:xfrm>
          <a:prstGeom prst="rect">
            <a:avLst/>
          </a:prstGeom>
          <a:noFill/>
          <a:ln/>
        </p:spPr>
        <p:txBody>
          <a:bodyPr wrap="square" lIns="0" tIns="0" rIns="0" bIns="0" rtlCol="0" anchor="t"/>
          <a:lstStyle/>
          <a:p>
            <a:pPr indent="0" marL="0">
              <a:buNone/>
            </a:pPr>
            <a:r>
              <a:rPr lang="en-US" sz="1400" b="1" dirty="0">
                <a:solidFill>
                  <a:srgbClr val="10201F"/>
                </a:solidFill>
                <a:latin typeface="Calibri" pitchFamily="34" charset="0"/>
                <a:ea typeface="Calibri" pitchFamily="34" charset="-122"/>
                <a:cs typeface="Calibri" pitchFamily="34" charset="-120"/>
              </a:rPr>
              <a:t>Ranking ladder</a:t>
            </a:r>
            <a:endParaRPr lang="en-US" sz="1400" dirty="0"/>
          </a:p>
        </p:txBody>
      </p:sp>
      <p:sp>
        <p:nvSpPr>
          <p:cNvPr id="22" name="Text 16"/>
          <p:cNvSpPr txBox="1"/>
          <p:nvPr/>
        </p:nvSpPr>
        <p:spPr>
          <a:xfrm>
            <a:off x="6409944" y="3200400"/>
            <a:ext cx="1417320" cy="8686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Seller meetings → answers → model → hours</a:t>
            </a:r>
            <a:endParaRPr lang="en-US" sz="1200" dirty="0"/>
          </a:p>
        </p:txBody>
      </p:sp>
      <p:sp>
        <p:nvSpPr>
          <p:cNvPr id="23" name="Shape 17"/>
          <p:cNvSpPr/>
          <p:nvPr/>
        </p:nvSpPr>
        <p:spPr>
          <a:xfrm>
            <a:off x="7936992" y="2926080"/>
            <a:ext cx="164592" cy="274320"/>
          </a:xfrm>
          <a:prstGeom prst="rightArrow">
            <a:avLst/>
          </a:prstGeom>
          <a:solidFill>
            <a:srgbClr val="9AA8A6"/>
          </a:solidFill>
          <a:ln/>
        </p:spPr>
      </p:sp>
      <p:sp>
        <p:nvSpPr>
          <p:cNvPr id="24" name="Shape 18"/>
          <p:cNvSpPr/>
          <p:nvPr/>
        </p:nvSpPr>
        <p:spPr>
          <a:xfrm>
            <a:off x="8119872" y="2011680"/>
            <a:ext cx="1691640" cy="2103120"/>
          </a:xfrm>
          <a:prstGeom prst="roundRect">
            <a:avLst>
              <a:gd name="adj" fmla="val 4324"/>
            </a:avLst>
          </a:prstGeom>
          <a:solidFill>
            <a:srgbClr val="EEF4F2"/>
          </a:solidFill>
          <a:ln/>
        </p:spPr>
      </p:sp>
      <p:pic>
        <p:nvPicPr>
          <p:cNvPr id="25" name="Image 4" descr="preencoded.png">    </p:cNvPr>
          <p:cNvPicPr>
            <a:picLocks noChangeAspect="1"/>
          </p:cNvPicPr>
          <p:nvPr/>
        </p:nvPicPr>
        <p:blipFill>
          <a:blip r:embed="rId5"/>
          <a:stretch>
            <a:fillRect/>
          </a:stretch>
        </p:blipFill>
        <p:spPr>
          <a:xfrm>
            <a:off x="8302752" y="2194560"/>
            <a:ext cx="384048" cy="384048"/>
          </a:xfrm>
          <a:prstGeom prst="rect">
            <a:avLst/>
          </a:prstGeom>
        </p:spPr>
      </p:pic>
      <p:sp>
        <p:nvSpPr>
          <p:cNvPr id="26" name="Text 19"/>
          <p:cNvSpPr txBox="1"/>
          <p:nvPr/>
        </p:nvSpPr>
        <p:spPr>
          <a:xfrm>
            <a:off x="8302752" y="2670048"/>
            <a:ext cx="1417320" cy="502920"/>
          </a:xfrm>
          <a:prstGeom prst="rect">
            <a:avLst/>
          </a:prstGeom>
          <a:noFill/>
          <a:ln/>
        </p:spPr>
        <p:txBody>
          <a:bodyPr wrap="square" lIns="0" tIns="0" rIns="0" bIns="0" rtlCol="0" anchor="t"/>
          <a:lstStyle/>
          <a:p>
            <a:pPr indent="0" marL="0">
              <a:buNone/>
            </a:pPr>
            <a:r>
              <a:rPr lang="en-US" sz="1400" b="1" dirty="0">
                <a:solidFill>
                  <a:srgbClr val="10201F"/>
                </a:solidFill>
                <a:latin typeface="Calibri" pitchFamily="34" charset="0"/>
                <a:ea typeface="Calibri" pitchFamily="34" charset="-122"/>
                <a:cs typeface="Calibri" pitchFamily="34" charset="-120"/>
              </a:rPr>
              <a:t>Retry simulation</a:t>
            </a:r>
            <a:endParaRPr lang="en-US" sz="1400" dirty="0"/>
          </a:p>
        </p:txBody>
      </p:sp>
      <p:sp>
        <p:nvSpPr>
          <p:cNvPr id="27" name="Text 20"/>
          <p:cNvSpPr txBox="1"/>
          <p:nvPr/>
        </p:nvSpPr>
        <p:spPr>
          <a:xfrm>
            <a:off x="8302752" y="3200400"/>
            <a:ext cx="1417320" cy="8686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Assume a miss, recompute the plan</a:t>
            </a:r>
            <a:endParaRPr lang="en-US" sz="1200" dirty="0"/>
          </a:p>
        </p:txBody>
      </p:sp>
      <p:sp>
        <p:nvSpPr>
          <p:cNvPr id="28" name="Shape 21"/>
          <p:cNvSpPr/>
          <p:nvPr/>
        </p:nvSpPr>
        <p:spPr>
          <a:xfrm>
            <a:off x="9829800" y="2926080"/>
            <a:ext cx="164592" cy="274320"/>
          </a:xfrm>
          <a:prstGeom prst="rightArrow">
            <a:avLst/>
          </a:prstGeom>
          <a:solidFill>
            <a:srgbClr val="9AA8A6"/>
          </a:solidFill>
          <a:ln/>
        </p:spPr>
      </p:sp>
      <p:sp>
        <p:nvSpPr>
          <p:cNvPr id="29" name="Shape 22"/>
          <p:cNvSpPr/>
          <p:nvPr/>
        </p:nvSpPr>
        <p:spPr>
          <a:xfrm>
            <a:off x="10012680" y="2011680"/>
            <a:ext cx="1691640" cy="2103120"/>
          </a:xfrm>
          <a:prstGeom prst="roundRect">
            <a:avLst>
              <a:gd name="adj" fmla="val 4324"/>
            </a:avLst>
          </a:prstGeom>
          <a:solidFill>
            <a:srgbClr val="EEF4F2"/>
          </a:solidFill>
          <a:ln/>
        </p:spPr>
      </p:sp>
      <p:pic>
        <p:nvPicPr>
          <p:cNvPr id="30" name="Image 5" descr="preencoded.png">    </p:cNvPr>
          <p:cNvPicPr>
            <a:picLocks noChangeAspect="1"/>
          </p:cNvPicPr>
          <p:nvPr/>
        </p:nvPicPr>
        <p:blipFill>
          <a:blip r:embed="rId6"/>
          <a:stretch>
            <a:fillRect/>
          </a:stretch>
        </p:blipFill>
        <p:spPr>
          <a:xfrm>
            <a:off x="10195560" y="2194560"/>
            <a:ext cx="384048" cy="384048"/>
          </a:xfrm>
          <a:prstGeom prst="rect">
            <a:avLst/>
          </a:prstGeom>
        </p:spPr>
      </p:pic>
      <p:sp>
        <p:nvSpPr>
          <p:cNvPr id="31" name="Text 23"/>
          <p:cNvSpPr txBox="1"/>
          <p:nvPr/>
        </p:nvSpPr>
        <p:spPr>
          <a:xfrm>
            <a:off x="10195560" y="2670048"/>
            <a:ext cx="1417320" cy="502920"/>
          </a:xfrm>
          <a:prstGeom prst="rect">
            <a:avLst/>
          </a:prstGeom>
          <a:noFill/>
          <a:ln/>
        </p:spPr>
        <p:txBody>
          <a:bodyPr wrap="square" lIns="0" tIns="0" rIns="0" bIns="0" rtlCol="0" anchor="t"/>
          <a:lstStyle/>
          <a:p>
            <a:pPr indent="0" marL="0">
              <a:buNone/>
            </a:pPr>
            <a:r>
              <a:rPr lang="en-US" sz="1400" b="1" dirty="0">
                <a:solidFill>
                  <a:srgbClr val="10201F"/>
                </a:solidFill>
                <a:latin typeface="Calibri" pitchFamily="34" charset="0"/>
                <a:ea typeface="Calibri" pitchFamily="34" charset="-122"/>
                <a:cs typeface="Calibri" pitchFamily="34" charset="-120"/>
              </a:rPr>
              <a:t>LLM review</a:t>
            </a:r>
            <a:endParaRPr lang="en-US" sz="1400" dirty="0"/>
          </a:p>
        </p:txBody>
      </p:sp>
      <p:sp>
        <p:nvSpPr>
          <p:cNvPr id="32" name="Text 24"/>
          <p:cNvSpPr txBox="1"/>
          <p:nvPr/>
        </p:nvSpPr>
        <p:spPr>
          <a:xfrm>
            <a:off x="10195560" y="3200400"/>
            <a:ext cx="1417320" cy="8686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GPT-6 Luna, tools only, strict schema</a:t>
            </a:r>
            <a:endParaRPr lang="en-US" sz="1200" dirty="0"/>
          </a:p>
        </p:txBody>
      </p:sp>
      <p:sp>
        <p:nvSpPr>
          <p:cNvPr id="33" name="Shape 25"/>
          <p:cNvSpPr/>
          <p:nvPr/>
        </p:nvSpPr>
        <p:spPr>
          <a:xfrm>
            <a:off x="548640" y="4434840"/>
            <a:ext cx="3520440" cy="1645920"/>
          </a:xfrm>
          <a:prstGeom prst="roundRect">
            <a:avLst>
              <a:gd name="adj" fmla="val 4444"/>
            </a:avLst>
          </a:prstGeom>
          <a:solidFill>
            <a:srgbClr val="FFFFFF"/>
          </a:solidFill>
          <a:ln w="12700">
            <a:solidFill>
              <a:srgbClr val="D9E3E0"/>
            </a:solidFill>
            <a:prstDash val="solid"/>
          </a:ln>
        </p:spPr>
      </p:sp>
      <p:sp>
        <p:nvSpPr>
          <p:cNvPr id="34" name="Text 26"/>
          <p:cNvSpPr txBox="1"/>
          <p:nvPr/>
        </p:nvSpPr>
        <p:spPr>
          <a:xfrm>
            <a:off x="731520" y="4553712"/>
            <a:ext cx="3200400" cy="320040"/>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Global Context API</a:t>
            </a:r>
            <a:endParaRPr lang="en-US" sz="1400" dirty="0"/>
          </a:p>
        </p:txBody>
      </p:sp>
      <p:sp>
        <p:nvSpPr>
          <p:cNvPr id="35" name="Text 27"/>
          <p:cNvSpPr txBox="1"/>
          <p:nvPr/>
        </p:nvSpPr>
        <p:spPr>
          <a:xfrm>
            <a:off x="731520" y="4892040"/>
            <a:ext cx="3200400" cy="10972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7 segments (KYC, connects, tickets, BuyLeads, activity, duplicate GLIDs, actual data) fetched with a server-side token; shown for context, never used to rank.</a:t>
            </a:r>
            <a:endParaRPr lang="en-US" sz="1200" dirty="0"/>
          </a:p>
        </p:txBody>
      </p:sp>
      <p:sp>
        <p:nvSpPr>
          <p:cNvPr id="36" name="Shape 28"/>
          <p:cNvSpPr/>
          <p:nvPr/>
        </p:nvSpPr>
        <p:spPr>
          <a:xfrm>
            <a:off x="4297680" y="4434840"/>
            <a:ext cx="3520440" cy="1645920"/>
          </a:xfrm>
          <a:prstGeom prst="roundRect">
            <a:avLst>
              <a:gd name="adj" fmla="val 4444"/>
            </a:avLst>
          </a:prstGeom>
          <a:solidFill>
            <a:srgbClr val="FFFFFF"/>
          </a:solidFill>
          <a:ln w="12700">
            <a:solidFill>
              <a:srgbClr val="D9E3E0"/>
            </a:solidFill>
            <a:prstDash val="solid"/>
          </a:ln>
        </p:spPr>
      </p:sp>
      <p:sp>
        <p:nvSpPr>
          <p:cNvPr id="37" name="Text 29"/>
          <p:cNvSpPr txBox="1"/>
          <p:nvPr/>
        </p:nvSpPr>
        <p:spPr>
          <a:xfrm>
            <a:off x="4480560" y="4553712"/>
            <a:ext cx="3200400" cy="320040"/>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Provenance checks</a:t>
            </a:r>
            <a:endParaRPr lang="en-US" sz="1400" dirty="0"/>
          </a:p>
        </p:txBody>
      </p:sp>
      <p:sp>
        <p:nvSpPr>
          <p:cNvPr id="38" name="Text 30"/>
          <p:cNvSpPr txBox="1"/>
          <p:nvPr/>
        </p:nvSpPr>
        <p:spPr>
          <a:xfrm>
            <a:off x="4480560" y="4892040"/>
            <a:ext cx="3200400" cy="10972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Model files load only if their SHA-256, model card and sealed-test results match. Otherwise the app falls back to calling hours.</a:t>
            </a:r>
            <a:endParaRPr lang="en-US" sz="1200" dirty="0"/>
          </a:p>
        </p:txBody>
      </p:sp>
      <p:sp>
        <p:nvSpPr>
          <p:cNvPr id="39" name="Shape 31"/>
          <p:cNvSpPr/>
          <p:nvPr/>
        </p:nvSpPr>
        <p:spPr>
          <a:xfrm>
            <a:off x="8046720" y="4434840"/>
            <a:ext cx="3520440" cy="1645920"/>
          </a:xfrm>
          <a:prstGeom prst="roundRect">
            <a:avLst>
              <a:gd name="adj" fmla="val 4444"/>
            </a:avLst>
          </a:prstGeom>
          <a:solidFill>
            <a:srgbClr val="FFFFFF"/>
          </a:solidFill>
          <a:ln w="12700">
            <a:solidFill>
              <a:srgbClr val="D9E3E0"/>
            </a:solidFill>
            <a:prstDash val="solid"/>
          </a:ln>
        </p:spPr>
      </p:sp>
      <p:sp>
        <p:nvSpPr>
          <p:cNvPr id="40" name="Text 32"/>
          <p:cNvSpPr txBox="1"/>
          <p:nvPr/>
        </p:nvSpPr>
        <p:spPr>
          <a:xfrm>
            <a:off x="8229600" y="4553712"/>
            <a:ext cx="3200400" cy="320040"/>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Developer mode</a:t>
            </a:r>
            <a:endParaRPr lang="en-US" sz="1400" dirty="0"/>
          </a:p>
        </p:txBody>
      </p:sp>
      <p:sp>
        <p:nvSpPr>
          <p:cNvPr id="41" name="Text 33"/>
          <p:cNvSpPr txBox="1"/>
          <p:nvPr/>
        </p:nvSpPr>
        <p:spPr>
          <a:xfrm>
            <a:off x="8229600" y="4892040"/>
            <a:ext cx="3200400" cy="1097280"/>
          </a:xfrm>
          <a:prstGeom prst="rect">
            <a:avLst/>
          </a:prstGeom>
          <a:noFill/>
          <a:ln/>
        </p:spPr>
        <p:txBody>
          <a:bodyPr wrap="square" lIns="0" tIns="0" rIns="0" bIns="0" rtlCol="0" anchor="t"/>
          <a:lstStyle/>
          <a:p>
            <a:pPr indent="0" marL="0">
              <a:buNone/>
            </a:pPr>
            <a:r>
              <a:rPr lang="en-US" sz="1200" dirty="0">
                <a:solidFill>
                  <a:srgbClr val="4A5D5B"/>
                </a:solidFill>
                <a:latin typeface="Calibri" pitchFamily="34" charset="0"/>
                <a:ea typeface="Calibri" pitchFamily="34" charset="-122"/>
                <a:cs typeface="Calibri" pitchFamily="34" charset="-120"/>
              </a:rPr>
              <a:t>Raw API responses, IDs and scores are hidden unless a per-browser switch in Admin is on.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The most specific evidence wins, and each plan names it</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Thresholds are from the live code (lib/best-time-ranking.ts, lib/best-time-policy.ts).</a:t>
            </a:r>
            <a:endParaRPr lang="en-US" sz="1500" dirty="0"/>
          </a:p>
        </p:txBody>
      </p:sp>
      <p:sp>
        <p:nvSpPr>
          <p:cNvPr id="4" name="Shape 2"/>
          <p:cNvSpPr/>
          <p:nvPr/>
        </p:nvSpPr>
        <p:spPr>
          <a:xfrm>
            <a:off x="548640" y="1783080"/>
            <a:ext cx="11064240" cy="621792"/>
          </a:xfrm>
          <a:prstGeom prst="roundRect">
            <a:avLst>
              <a:gd name="adj" fmla="val 11765"/>
            </a:avLst>
          </a:prstGeom>
          <a:solidFill>
            <a:srgbClr val="EEF4F2"/>
          </a:solidFill>
          <a:ln w="12700">
            <a:solidFill>
              <a:srgbClr val="D9E3E0"/>
            </a:solidFill>
            <a:prstDash val="solid"/>
          </a:ln>
        </p:spPr>
      </p:sp>
      <p:sp>
        <p:nvSpPr>
          <p:cNvPr id="5" name="Shape 3"/>
          <p:cNvSpPr/>
          <p:nvPr/>
        </p:nvSpPr>
        <p:spPr>
          <a:xfrm>
            <a:off x="713232" y="1901952"/>
            <a:ext cx="384048" cy="384048"/>
          </a:xfrm>
          <a:prstGeom prst="roundRect">
            <a:avLst>
              <a:gd name="adj" fmla="val 14286"/>
            </a:avLst>
          </a:prstGeom>
          <a:solidFill>
            <a:srgbClr val="0B4F45"/>
          </a:solidFill>
          <a:ln/>
        </p:spPr>
      </p:sp>
      <p:sp>
        <p:nvSpPr>
          <p:cNvPr id="6" name="Text 4"/>
          <p:cNvSpPr txBox="1"/>
          <p:nvPr/>
        </p:nvSpPr>
        <p:spPr>
          <a:xfrm>
            <a:off x="713232" y="19019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7" name="Text 5"/>
          <p:cNvSpPr txBox="1"/>
          <p:nvPr/>
        </p:nvSpPr>
        <p:spPr>
          <a:xfrm>
            <a:off x="1280160" y="1874520"/>
            <a:ext cx="2926080" cy="438912"/>
          </a:xfrm>
          <a:prstGeom prst="rect">
            <a:avLst/>
          </a:prstGeom>
          <a:noFill/>
          <a:ln/>
        </p:spPr>
        <p:txBody>
          <a:bodyPr wrap="square" lIns="0" tIns="0" rIns="0" bIns="0" rtlCol="0" anchor="ctr"/>
          <a:lstStyle/>
          <a:p>
            <a:pPr indent="0" marL="0">
              <a:buNone/>
            </a:pPr>
            <a:r>
              <a:rPr lang="en-US" sz="1500" b="1" dirty="0">
                <a:solidFill>
                  <a:srgbClr val="10201F"/>
                </a:solidFill>
                <a:latin typeface="Calibri" pitchFamily="34" charset="0"/>
                <a:ea typeface="Calibri" pitchFamily="34" charset="-122"/>
                <a:cs typeface="Calibri" pitchFamily="34" charset="-120"/>
              </a:rPr>
              <a:t>Calling rules gate</a:t>
            </a:r>
            <a:endParaRPr lang="en-US" sz="1500" dirty="0"/>
          </a:p>
        </p:txBody>
      </p:sp>
      <p:sp>
        <p:nvSpPr>
          <p:cNvPr id="8" name="Text 6"/>
          <p:cNvSpPr txBox="1"/>
          <p:nvPr/>
        </p:nvSpPr>
        <p:spPr>
          <a:xfrm>
            <a:off x="4206240" y="1856232"/>
            <a:ext cx="6126480" cy="475488"/>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10:00–18:00 Mon–Sat · 60-min gap · 3/day · 10 per 7-day sequence · DNC · appointments · ≤ 4 windows</a:t>
            </a:r>
            <a:endParaRPr lang="en-US" sz="1200" dirty="0"/>
          </a:p>
        </p:txBody>
      </p:sp>
      <p:sp>
        <p:nvSpPr>
          <p:cNvPr id="9" name="Text 7"/>
          <p:cNvSpPr txBox="1"/>
          <p:nvPr/>
        </p:nvSpPr>
        <p:spPr>
          <a:xfrm>
            <a:off x="10424160" y="1874520"/>
            <a:ext cx="1051560" cy="438912"/>
          </a:xfrm>
          <a:prstGeom prst="rect">
            <a:avLst/>
          </a:prstGeom>
          <a:noFill/>
          <a:ln/>
        </p:spPr>
        <p:txBody>
          <a:bodyPr wrap="square" lIns="0" tIns="0" rIns="0" bIns="0" rtlCol="0" anchor="ctr"/>
          <a:lstStyle/>
          <a:p>
            <a:pPr algn="r" indent="0" marL="0">
              <a:buNone/>
            </a:pPr>
            <a:r>
              <a:rPr lang="en-US" sz="1200" b="1" dirty="0">
                <a:solidFill>
                  <a:srgbClr val="0B8A76"/>
                </a:solidFill>
                <a:latin typeface="Calibri" pitchFamily="34" charset="0"/>
                <a:ea typeface="Calibri" pitchFamily="34" charset="-122"/>
                <a:cs typeface="Calibri" pitchFamily="34" charset="-120"/>
              </a:rPr>
              <a:t>Always</a:t>
            </a:r>
            <a:endParaRPr lang="en-US" sz="1200" dirty="0"/>
          </a:p>
        </p:txBody>
      </p:sp>
      <p:sp>
        <p:nvSpPr>
          <p:cNvPr id="10" name="Shape 8"/>
          <p:cNvSpPr/>
          <p:nvPr/>
        </p:nvSpPr>
        <p:spPr>
          <a:xfrm>
            <a:off x="548640" y="2514600"/>
            <a:ext cx="11064240" cy="621792"/>
          </a:xfrm>
          <a:prstGeom prst="roundRect">
            <a:avLst>
              <a:gd name="adj" fmla="val 11765"/>
            </a:avLst>
          </a:prstGeom>
          <a:solidFill>
            <a:srgbClr val="FFFFFF"/>
          </a:solidFill>
          <a:ln w="12700">
            <a:solidFill>
              <a:srgbClr val="D9E3E0"/>
            </a:solidFill>
            <a:prstDash val="solid"/>
          </a:ln>
        </p:spPr>
      </p:sp>
      <p:sp>
        <p:nvSpPr>
          <p:cNvPr id="11" name="Shape 9"/>
          <p:cNvSpPr/>
          <p:nvPr/>
        </p:nvSpPr>
        <p:spPr>
          <a:xfrm>
            <a:off x="713232" y="2633472"/>
            <a:ext cx="384048" cy="384048"/>
          </a:xfrm>
          <a:prstGeom prst="roundRect">
            <a:avLst>
              <a:gd name="adj" fmla="val 14286"/>
            </a:avLst>
          </a:prstGeom>
          <a:solidFill>
            <a:srgbClr val="0B8A76"/>
          </a:solidFill>
          <a:ln/>
        </p:spPr>
      </p:sp>
      <p:sp>
        <p:nvSpPr>
          <p:cNvPr id="12" name="Text 10"/>
          <p:cNvSpPr txBox="1"/>
          <p:nvPr/>
        </p:nvSpPr>
        <p:spPr>
          <a:xfrm>
            <a:off x="713232" y="2633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txBox="1"/>
          <p:nvPr/>
        </p:nvSpPr>
        <p:spPr>
          <a:xfrm>
            <a:off x="1280160" y="2606040"/>
            <a:ext cx="2926080" cy="438912"/>
          </a:xfrm>
          <a:prstGeom prst="rect">
            <a:avLst/>
          </a:prstGeom>
          <a:noFill/>
          <a:ln/>
        </p:spPr>
        <p:txBody>
          <a:bodyPr wrap="square" lIns="0" tIns="0" rIns="0" bIns="0" rtlCol="0" anchor="ctr"/>
          <a:lstStyle/>
          <a:p>
            <a:pPr indent="0" marL="0">
              <a:buNone/>
            </a:pPr>
            <a:r>
              <a:rPr lang="en-US" sz="1500" b="1" dirty="0">
                <a:solidFill>
                  <a:srgbClr val="10201F"/>
                </a:solidFill>
                <a:latin typeface="Calibri" pitchFamily="34" charset="0"/>
                <a:ea typeface="Calibri" pitchFamily="34" charset="-122"/>
                <a:cs typeface="Calibri" pitchFamily="34" charset="-120"/>
              </a:rPr>
              <a:t>Seller's meeting history</a:t>
            </a:r>
            <a:endParaRPr lang="en-US" sz="1500" dirty="0"/>
          </a:p>
        </p:txBody>
      </p:sp>
      <p:sp>
        <p:nvSpPr>
          <p:cNvPr id="14" name="Text 12"/>
          <p:cNvSpPr txBox="1"/>
          <p:nvPr/>
        </p:nvSpPr>
        <p:spPr>
          <a:xfrm>
            <a:off x="4206240" y="2587752"/>
            <a:ext cx="6126480" cy="475488"/>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 2 calls that led to meetings. Weekday slot if supported, else hour pooled across weekdays.</a:t>
            </a:r>
            <a:endParaRPr lang="en-US" sz="1200" dirty="0"/>
          </a:p>
        </p:txBody>
      </p:sp>
      <p:sp>
        <p:nvSpPr>
          <p:cNvPr id="15" name="Text 13"/>
          <p:cNvSpPr txBox="1"/>
          <p:nvPr/>
        </p:nvSpPr>
        <p:spPr>
          <a:xfrm>
            <a:off x="10424160" y="2606040"/>
            <a:ext cx="1051560" cy="438912"/>
          </a:xfrm>
          <a:prstGeom prst="rect">
            <a:avLst/>
          </a:prstGeom>
          <a:noFill/>
          <a:ln/>
        </p:spPr>
        <p:txBody>
          <a:bodyPr wrap="square" lIns="0" tIns="0" rIns="0" bIns="0" rtlCol="0" anchor="ctr"/>
          <a:lstStyle/>
          <a:p>
            <a:pPr algn="r" indent="0" marL="0">
              <a:buNone/>
            </a:pPr>
            <a:r>
              <a:rPr lang="en-US" sz="1200" b="1" dirty="0">
                <a:solidFill>
                  <a:srgbClr val="0B8A76"/>
                </a:solidFill>
                <a:latin typeface="Calibri" pitchFamily="34" charset="0"/>
                <a:ea typeface="Calibri" pitchFamily="34" charset="-122"/>
                <a:cs typeface="Calibri" pitchFamily="34" charset="-120"/>
              </a:rPr>
              <a:t>Live</a:t>
            </a:r>
            <a:endParaRPr lang="en-US" sz="1200" dirty="0"/>
          </a:p>
        </p:txBody>
      </p:sp>
      <p:sp>
        <p:nvSpPr>
          <p:cNvPr id="16" name="Shape 14"/>
          <p:cNvSpPr/>
          <p:nvPr/>
        </p:nvSpPr>
        <p:spPr>
          <a:xfrm>
            <a:off x="548640" y="3246120"/>
            <a:ext cx="11064240" cy="621792"/>
          </a:xfrm>
          <a:prstGeom prst="roundRect">
            <a:avLst>
              <a:gd name="adj" fmla="val 11765"/>
            </a:avLst>
          </a:prstGeom>
          <a:solidFill>
            <a:srgbClr val="FFFFFF"/>
          </a:solidFill>
          <a:ln w="12700">
            <a:solidFill>
              <a:srgbClr val="D9E3E0"/>
            </a:solidFill>
            <a:prstDash val="solid"/>
          </a:ln>
        </p:spPr>
      </p:sp>
      <p:sp>
        <p:nvSpPr>
          <p:cNvPr id="17" name="Shape 15"/>
          <p:cNvSpPr/>
          <p:nvPr/>
        </p:nvSpPr>
        <p:spPr>
          <a:xfrm>
            <a:off x="713232" y="3364992"/>
            <a:ext cx="384048" cy="384048"/>
          </a:xfrm>
          <a:prstGeom prst="roundRect">
            <a:avLst>
              <a:gd name="adj" fmla="val 14286"/>
            </a:avLst>
          </a:prstGeom>
          <a:solidFill>
            <a:srgbClr val="0B8A76"/>
          </a:solidFill>
          <a:ln/>
        </p:spPr>
      </p:sp>
      <p:sp>
        <p:nvSpPr>
          <p:cNvPr id="18" name="Text 16"/>
          <p:cNvSpPr txBox="1"/>
          <p:nvPr/>
        </p:nvSpPr>
        <p:spPr>
          <a:xfrm>
            <a:off x="713232" y="3364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txBox="1"/>
          <p:nvPr/>
        </p:nvSpPr>
        <p:spPr>
          <a:xfrm>
            <a:off x="1280160" y="3337560"/>
            <a:ext cx="2926080" cy="438912"/>
          </a:xfrm>
          <a:prstGeom prst="rect">
            <a:avLst/>
          </a:prstGeom>
          <a:noFill/>
          <a:ln/>
        </p:spPr>
        <p:txBody>
          <a:bodyPr wrap="square" lIns="0" tIns="0" rIns="0" bIns="0" rtlCol="0" anchor="ctr"/>
          <a:lstStyle/>
          <a:p>
            <a:pPr indent="0" marL="0">
              <a:buNone/>
            </a:pPr>
            <a:r>
              <a:rPr lang="en-US" sz="1500" b="1" dirty="0">
                <a:solidFill>
                  <a:srgbClr val="10201F"/>
                </a:solidFill>
                <a:latin typeface="Calibri" pitchFamily="34" charset="0"/>
                <a:ea typeface="Calibri" pitchFamily="34" charset="-122"/>
                <a:cs typeface="Calibri" pitchFamily="34" charset="-120"/>
              </a:rPr>
              <a:t>Seller's answer history</a:t>
            </a:r>
            <a:endParaRPr lang="en-US" sz="1500" dirty="0"/>
          </a:p>
        </p:txBody>
      </p:sp>
      <p:sp>
        <p:nvSpPr>
          <p:cNvPr id="20" name="Text 18"/>
          <p:cNvSpPr txBox="1"/>
          <p:nvPr/>
        </p:nvSpPr>
        <p:spPr>
          <a:xfrm>
            <a:off x="4206240" y="3319272"/>
            <a:ext cx="6126480" cy="475488"/>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 3 answered, one hour ≥ 2. Priority × (1 − 0.75 × share of calls under 20 s).</a:t>
            </a:r>
            <a:endParaRPr lang="en-US" sz="1200" dirty="0"/>
          </a:p>
        </p:txBody>
      </p:sp>
      <p:sp>
        <p:nvSpPr>
          <p:cNvPr id="21" name="Text 19"/>
          <p:cNvSpPr txBox="1"/>
          <p:nvPr/>
        </p:nvSpPr>
        <p:spPr>
          <a:xfrm>
            <a:off x="10424160" y="3337560"/>
            <a:ext cx="1051560" cy="438912"/>
          </a:xfrm>
          <a:prstGeom prst="rect">
            <a:avLst/>
          </a:prstGeom>
          <a:noFill/>
          <a:ln/>
        </p:spPr>
        <p:txBody>
          <a:bodyPr wrap="square" lIns="0" tIns="0" rIns="0" bIns="0" rtlCol="0" anchor="ctr"/>
          <a:lstStyle/>
          <a:p>
            <a:pPr algn="r" indent="0" marL="0">
              <a:buNone/>
            </a:pPr>
            <a:r>
              <a:rPr lang="en-US" sz="1200" b="1" dirty="0">
                <a:solidFill>
                  <a:srgbClr val="0B8A76"/>
                </a:solidFill>
                <a:latin typeface="Calibri" pitchFamily="34" charset="0"/>
                <a:ea typeface="Calibri" pitchFamily="34" charset="-122"/>
                <a:cs typeface="Calibri" pitchFamily="34" charset="-120"/>
              </a:rPr>
              <a:t>Live</a:t>
            </a:r>
            <a:endParaRPr lang="en-US" sz="1200" dirty="0"/>
          </a:p>
        </p:txBody>
      </p:sp>
      <p:sp>
        <p:nvSpPr>
          <p:cNvPr id="22" name="Shape 20"/>
          <p:cNvSpPr/>
          <p:nvPr/>
        </p:nvSpPr>
        <p:spPr>
          <a:xfrm>
            <a:off x="548640" y="3977640"/>
            <a:ext cx="11064240" cy="621792"/>
          </a:xfrm>
          <a:prstGeom prst="roundRect">
            <a:avLst>
              <a:gd name="adj" fmla="val 11765"/>
            </a:avLst>
          </a:prstGeom>
          <a:solidFill>
            <a:srgbClr val="FFFFFF"/>
          </a:solidFill>
          <a:ln w="12700">
            <a:solidFill>
              <a:srgbClr val="D9E3E0"/>
            </a:solidFill>
            <a:prstDash val="solid"/>
          </a:ln>
        </p:spPr>
      </p:sp>
      <p:sp>
        <p:nvSpPr>
          <p:cNvPr id="23" name="Shape 21"/>
          <p:cNvSpPr/>
          <p:nvPr/>
        </p:nvSpPr>
        <p:spPr>
          <a:xfrm>
            <a:off x="713232" y="4096512"/>
            <a:ext cx="384048" cy="384048"/>
          </a:xfrm>
          <a:prstGeom prst="roundRect">
            <a:avLst>
              <a:gd name="adj" fmla="val 14286"/>
            </a:avLst>
          </a:prstGeom>
          <a:solidFill>
            <a:srgbClr val="9AA8A6"/>
          </a:solidFill>
          <a:ln/>
        </p:spPr>
      </p:sp>
      <p:sp>
        <p:nvSpPr>
          <p:cNvPr id="24" name="Text 22"/>
          <p:cNvSpPr txBox="1"/>
          <p:nvPr/>
        </p:nvSpPr>
        <p:spPr>
          <a:xfrm>
            <a:off x="713232"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txBox="1"/>
          <p:nvPr/>
        </p:nvSpPr>
        <p:spPr>
          <a:xfrm>
            <a:off x="1280160" y="4069080"/>
            <a:ext cx="2926080" cy="438912"/>
          </a:xfrm>
          <a:prstGeom prst="rect">
            <a:avLst/>
          </a:prstGeom>
          <a:noFill/>
          <a:ln/>
        </p:spPr>
        <p:txBody>
          <a:bodyPr wrap="square" lIns="0" tIns="0" rIns="0" bIns="0" rtlCol="0" anchor="ctr"/>
          <a:lstStyle/>
          <a:p>
            <a:pPr indent="0" marL="0">
              <a:buNone/>
            </a:pPr>
            <a:r>
              <a:rPr lang="en-US" sz="1500" b="1" dirty="0">
                <a:solidFill>
                  <a:srgbClr val="10201F"/>
                </a:solidFill>
                <a:latin typeface="Calibri" pitchFamily="34" charset="0"/>
                <a:ea typeface="Calibri" pitchFamily="34" charset="-122"/>
                <a:cs typeface="Calibri" pitchFamily="34" charset="-120"/>
              </a:rPr>
              <a:t>Completed-meeting model</a:t>
            </a:r>
            <a:endParaRPr lang="en-US" sz="1500" dirty="0"/>
          </a:p>
        </p:txBody>
      </p:sp>
      <p:sp>
        <p:nvSpPr>
          <p:cNvPr id="26" name="Text 24"/>
          <p:cNvSpPr txBox="1"/>
          <p:nvPr/>
        </p:nvSpPr>
        <p:spPr>
          <a:xfrm>
            <a:off x="4206240" y="4050792"/>
            <a:ext cx="6126480" cy="475488"/>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Reserved for a calibrated meeting_done model; off until verified labels exist.</a:t>
            </a:r>
            <a:endParaRPr lang="en-US" sz="1200" dirty="0"/>
          </a:p>
        </p:txBody>
      </p:sp>
      <p:sp>
        <p:nvSpPr>
          <p:cNvPr id="27" name="Text 25"/>
          <p:cNvSpPr txBox="1"/>
          <p:nvPr/>
        </p:nvSpPr>
        <p:spPr>
          <a:xfrm>
            <a:off x="10424160" y="4069080"/>
            <a:ext cx="1051560" cy="438912"/>
          </a:xfrm>
          <a:prstGeom prst="rect">
            <a:avLst/>
          </a:prstGeom>
          <a:noFill/>
          <a:ln/>
        </p:spPr>
        <p:txBody>
          <a:bodyPr wrap="square" lIns="0" tIns="0" rIns="0" bIns="0" rtlCol="0" anchor="ctr"/>
          <a:lstStyle/>
          <a:p>
            <a:pPr algn="r" indent="0" marL="0">
              <a:buNone/>
            </a:pPr>
            <a:r>
              <a:rPr lang="en-US" sz="1200" b="1" dirty="0">
                <a:solidFill>
                  <a:srgbClr val="7A8B89"/>
                </a:solidFill>
                <a:latin typeface="Calibri" pitchFamily="34" charset="0"/>
                <a:ea typeface="Calibri" pitchFamily="34" charset="-122"/>
                <a:cs typeface="Calibri" pitchFamily="34" charset="-120"/>
              </a:rPr>
              <a:t>Waiting</a:t>
            </a:r>
            <a:endParaRPr lang="en-US" sz="1200" dirty="0"/>
          </a:p>
        </p:txBody>
      </p:sp>
      <p:sp>
        <p:nvSpPr>
          <p:cNvPr id="28" name="Shape 26"/>
          <p:cNvSpPr/>
          <p:nvPr/>
        </p:nvSpPr>
        <p:spPr>
          <a:xfrm>
            <a:off x="548640" y="4709160"/>
            <a:ext cx="11064240" cy="621792"/>
          </a:xfrm>
          <a:prstGeom prst="roundRect">
            <a:avLst>
              <a:gd name="adj" fmla="val 11765"/>
            </a:avLst>
          </a:prstGeom>
          <a:solidFill>
            <a:srgbClr val="FFFFFF"/>
          </a:solidFill>
          <a:ln w="12700">
            <a:solidFill>
              <a:srgbClr val="D9E3E0"/>
            </a:solidFill>
            <a:prstDash val="solid"/>
          </a:ln>
        </p:spPr>
      </p:sp>
      <p:sp>
        <p:nvSpPr>
          <p:cNvPr id="29" name="Shape 27"/>
          <p:cNvSpPr/>
          <p:nvPr/>
        </p:nvSpPr>
        <p:spPr>
          <a:xfrm>
            <a:off x="713232" y="4828032"/>
            <a:ext cx="384048" cy="384048"/>
          </a:xfrm>
          <a:prstGeom prst="roundRect">
            <a:avLst>
              <a:gd name="adj" fmla="val 14286"/>
            </a:avLst>
          </a:prstGeom>
          <a:solidFill>
            <a:srgbClr val="0B8A76"/>
          </a:solidFill>
          <a:ln/>
        </p:spPr>
      </p:sp>
      <p:sp>
        <p:nvSpPr>
          <p:cNvPr id="30" name="Text 28"/>
          <p:cNvSpPr txBox="1"/>
          <p:nvPr/>
        </p:nvSpPr>
        <p:spPr>
          <a:xfrm>
            <a:off x="713232" y="4828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txBox="1"/>
          <p:nvPr/>
        </p:nvSpPr>
        <p:spPr>
          <a:xfrm>
            <a:off x="1280160" y="4800600"/>
            <a:ext cx="2926080" cy="438912"/>
          </a:xfrm>
          <a:prstGeom prst="rect">
            <a:avLst/>
          </a:prstGeom>
          <a:noFill/>
          <a:ln/>
        </p:spPr>
        <p:txBody>
          <a:bodyPr wrap="square" lIns="0" tIns="0" rIns="0" bIns="0" rtlCol="0" anchor="ctr"/>
          <a:lstStyle/>
          <a:p>
            <a:pPr indent="0" marL="0">
              <a:buNone/>
            </a:pPr>
            <a:r>
              <a:rPr lang="en-US" sz="1500" b="1" dirty="0">
                <a:solidFill>
                  <a:srgbClr val="10201F"/>
                </a:solidFill>
                <a:latin typeface="Calibri" pitchFamily="34" charset="0"/>
                <a:ea typeface="Calibri" pitchFamily="34" charset="-122"/>
                <a:cs typeface="Calibri" pitchFamily="34" charset="-120"/>
              </a:rPr>
              <a:t>General timing model v4</a:t>
            </a:r>
            <a:endParaRPr lang="en-US" sz="1500" dirty="0"/>
          </a:p>
        </p:txBody>
      </p:sp>
      <p:sp>
        <p:nvSpPr>
          <p:cNvPr id="32" name="Text 30"/>
          <p:cNvSpPr txBox="1"/>
          <p:nvPr/>
        </p:nvSpPr>
        <p:spPr>
          <a:xfrm>
            <a:off x="4206240" y="4782312"/>
            <a:ext cx="6126480" cy="475488"/>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Smoothed weekday × hour rate from 150,875 calls / 723 meetings, dev-calibrated, hour back-off.</a:t>
            </a:r>
            <a:endParaRPr lang="en-US" sz="1200" dirty="0"/>
          </a:p>
        </p:txBody>
      </p:sp>
      <p:sp>
        <p:nvSpPr>
          <p:cNvPr id="33" name="Text 31"/>
          <p:cNvSpPr txBox="1"/>
          <p:nvPr/>
        </p:nvSpPr>
        <p:spPr>
          <a:xfrm>
            <a:off x="10424160" y="4800600"/>
            <a:ext cx="1051560" cy="438912"/>
          </a:xfrm>
          <a:prstGeom prst="rect">
            <a:avLst/>
          </a:prstGeom>
          <a:noFill/>
          <a:ln/>
        </p:spPr>
        <p:txBody>
          <a:bodyPr wrap="square" lIns="0" tIns="0" rIns="0" bIns="0" rtlCol="0" anchor="ctr"/>
          <a:lstStyle/>
          <a:p>
            <a:pPr algn="r" indent="0" marL="0">
              <a:buNone/>
            </a:pPr>
            <a:r>
              <a:rPr lang="en-US" sz="1200" b="1" dirty="0">
                <a:solidFill>
                  <a:srgbClr val="0B8A76"/>
                </a:solidFill>
                <a:latin typeface="Calibri" pitchFamily="34" charset="0"/>
                <a:ea typeface="Calibri" pitchFamily="34" charset="-122"/>
                <a:cs typeface="Calibri" pitchFamily="34" charset="-120"/>
              </a:rPr>
              <a:t>Live</a:t>
            </a:r>
            <a:endParaRPr lang="en-US" sz="1200" dirty="0"/>
          </a:p>
        </p:txBody>
      </p:sp>
      <p:sp>
        <p:nvSpPr>
          <p:cNvPr id="34" name="Shape 32"/>
          <p:cNvSpPr/>
          <p:nvPr/>
        </p:nvSpPr>
        <p:spPr>
          <a:xfrm>
            <a:off x="548640" y="5440680"/>
            <a:ext cx="11064240" cy="621792"/>
          </a:xfrm>
          <a:prstGeom prst="roundRect">
            <a:avLst>
              <a:gd name="adj" fmla="val 11765"/>
            </a:avLst>
          </a:prstGeom>
          <a:solidFill>
            <a:srgbClr val="FFFFFF"/>
          </a:solidFill>
          <a:ln w="12700">
            <a:solidFill>
              <a:srgbClr val="D9E3E0"/>
            </a:solidFill>
            <a:prstDash val="solid"/>
          </a:ln>
        </p:spPr>
      </p:sp>
      <p:sp>
        <p:nvSpPr>
          <p:cNvPr id="35" name="Shape 33"/>
          <p:cNvSpPr/>
          <p:nvPr/>
        </p:nvSpPr>
        <p:spPr>
          <a:xfrm>
            <a:off x="713232" y="5559552"/>
            <a:ext cx="384048" cy="384048"/>
          </a:xfrm>
          <a:prstGeom prst="roundRect">
            <a:avLst>
              <a:gd name="adj" fmla="val 14286"/>
            </a:avLst>
          </a:prstGeom>
          <a:solidFill>
            <a:srgbClr val="9AA8A6"/>
          </a:solidFill>
          <a:ln/>
        </p:spPr>
      </p:sp>
      <p:sp>
        <p:nvSpPr>
          <p:cNvPr id="36" name="Text 34"/>
          <p:cNvSpPr txBox="1"/>
          <p:nvPr/>
        </p:nvSpPr>
        <p:spPr>
          <a:xfrm>
            <a:off x="713232" y="55595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7" name="Text 35"/>
          <p:cNvSpPr txBox="1"/>
          <p:nvPr/>
        </p:nvSpPr>
        <p:spPr>
          <a:xfrm>
            <a:off x="1280160" y="5532120"/>
            <a:ext cx="2926080" cy="438912"/>
          </a:xfrm>
          <a:prstGeom prst="rect">
            <a:avLst/>
          </a:prstGeom>
          <a:noFill/>
          <a:ln/>
        </p:spPr>
        <p:txBody>
          <a:bodyPr wrap="square" lIns="0" tIns="0" rIns="0" bIns="0" rtlCol="0" anchor="ctr"/>
          <a:lstStyle/>
          <a:p>
            <a:pPr indent="0" marL="0">
              <a:buNone/>
            </a:pPr>
            <a:r>
              <a:rPr lang="en-US" sz="1500" b="1" dirty="0">
                <a:solidFill>
                  <a:srgbClr val="10201F"/>
                </a:solidFill>
                <a:latin typeface="Calibri" pitchFamily="34" charset="0"/>
                <a:ea typeface="Calibri" pitchFamily="34" charset="-122"/>
                <a:cs typeface="Calibri" pitchFamily="34" charset="-120"/>
              </a:rPr>
              <a:t>Calling hours</a:t>
            </a:r>
            <a:endParaRPr lang="en-US" sz="1500" dirty="0"/>
          </a:p>
        </p:txBody>
      </p:sp>
      <p:sp>
        <p:nvSpPr>
          <p:cNvPr id="38" name="Text 36"/>
          <p:cNvSpPr txBox="1"/>
          <p:nvPr/>
        </p:nvSpPr>
        <p:spPr>
          <a:xfrm>
            <a:off x="4206240" y="5513832"/>
            <a:ext cx="6126480" cy="475488"/>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No usable evidence: earliest allowed windows, labelled as such.</a:t>
            </a:r>
            <a:endParaRPr lang="en-US" sz="1200" dirty="0"/>
          </a:p>
        </p:txBody>
      </p:sp>
      <p:sp>
        <p:nvSpPr>
          <p:cNvPr id="39" name="Text 37"/>
          <p:cNvSpPr txBox="1"/>
          <p:nvPr/>
        </p:nvSpPr>
        <p:spPr>
          <a:xfrm>
            <a:off x="10424160" y="5532120"/>
            <a:ext cx="1051560" cy="438912"/>
          </a:xfrm>
          <a:prstGeom prst="rect">
            <a:avLst/>
          </a:prstGeom>
          <a:noFill/>
          <a:ln/>
        </p:spPr>
        <p:txBody>
          <a:bodyPr wrap="square" lIns="0" tIns="0" rIns="0" bIns="0" rtlCol="0" anchor="ctr"/>
          <a:lstStyle/>
          <a:p>
            <a:pPr algn="r" indent="0" marL="0">
              <a:buNone/>
            </a:pPr>
            <a:r>
              <a:rPr lang="en-US" sz="1200" b="1" dirty="0">
                <a:solidFill>
                  <a:srgbClr val="7A8B89"/>
                </a:solidFill>
                <a:latin typeface="Calibri" pitchFamily="34" charset="0"/>
                <a:ea typeface="Calibri" pitchFamily="34" charset="-122"/>
                <a:cs typeface="Calibri" pitchFamily="34" charset="-120"/>
              </a:rPr>
              <a:t>Fallback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Retry timing is simulated, not guessed</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The engine assumes the recommended call goes unanswered, adds that attempt, and reruns every rule and ranking.</a:t>
            </a:r>
            <a:endParaRPr lang="en-US" sz="1500" dirty="0"/>
          </a:p>
        </p:txBody>
      </p:sp>
      <p:sp>
        <p:nvSpPr>
          <p:cNvPr id="4" name="Shape 2"/>
          <p:cNvSpPr/>
          <p:nvPr/>
        </p:nvSpPr>
        <p:spPr>
          <a:xfrm>
            <a:off x="548640" y="2011680"/>
            <a:ext cx="502920" cy="502920"/>
          </a:xfrm>
          <a:prstGeom prst="ellipse">
            <a:avLst/>
          </a:prstGeom>
          <a:solidFill>
            <a:srgbClr val="0B8A76"/>
          </a:solidFill>
          <a:ln/>
        </p:spPr>
      </p:sp>
      <p:sp>
        <p:nvSpPr>
          <p:cNvPr id="5" name="Text 3"/>
          <p:cNvSpPr txBox="1"/>
          <p:nvPr/>
        </p:nvSpPr>
        <p:spPr>
          <a:xfrm>
            <a:off x="54864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143000" y="2263140"/>
            <a:ext cx="2103120" cy="0"/>
          </a:xfrm>
          <a:prstGeom prst="line">
            <a:avLst/>
          </a:prstGeom>
          <a:noFill/>
          <a:ln w="25400">
            <a:solidFill>
              <a:srgbClr val="D9E3E0"/>
            </a:solidFill>
            <a:prstDash val="solid"/>
          </a:ln>
        </p:spPr>
      </p:sp>
      <p:sp>
        <p:nvSpPr>
          <p:cNvPr id="7" name="Text 5"/>
          <p:cNvSpPr txBox="1"/>
          <p:nvPr/>
        </p:nvSpPr>
        <p:spPr>
          <a:xfrm>
            <a:off x="548640" y="2651760"/>
            <a:ext cx="246888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Call</a:t>
            </a:r>
            <a:endParaRPr lang="en-US" sz="1600" dirty="0"/>
          </a:p>
        </p:txBody>
      </p:sp>
      <p:sp>
        <p:nvSpPr>
          <p:cNvPr id="8" name="Text 6"/>
          <p:cNvSpPr txBox="1"/>
          <p:nvPr/>
        </p:nvSpPr>
        <p:spPr>
          <a:xfrm>
            <a:off x="548640" y="3017520"/>
            <a:ext cx="2514600" cy="822960"/>
          </a:xfrm>
          <a:prstGeom prst="rect">
            <a:avLst/>
          </a:prstGeom>
          <a:noFill/>
          <a:ln/>
        </p:spPr>
        <p:txBody>
          <a:bodyPr wrap="square" lIns="0" tIns="0" rIns="0" bIns="0" rtlCol="0" anchor="t"/>
          <a:lstStyle/>
          <a:p>
            <a:pPr indent="0" marL="0">
              <a:buNone/>
            </a:pPr>
            <a:r>
              <a:rPr lang="en-US" sz="1250" dirty="0">
                <a:solidFill>
                  <a:srgbClr val="4A5D5B"/>
                </a:solidFill>
                <a:latin typeface="Calibri" pitchFamily="34" charset="0"/>
                <a:ea typeface="Calibri" pitchFamily="34" charset="-122"/>
                <a:cs typeface="Calibri" pitchFamily="34" charset="-120"/>
              </a:rPr>
              <a:t>Top window</a:t>
            </a:r>
            <a:endParaRPr lang="en-US" sz="1250" dirty="0"/>
          </a:p>
          <a:p>
            <a:pPr indent="0" marL="0">
              <a:buNone/>
            </a:pPr>
            <a:r>
              <a:rPr lang="en-US" sz="1250" dirty="0">
                <a:solidFill>
                  <a:srgbClr val="4A5D5B"/>
                </a:solidFill>
                <a:latin typeface="Calibri" pitchFamily="34" charset="0"/>
                <a:ea typeface="Calibri" pitchFamily="34" charset="-122"/>
                <a:cs typeface="Calibri" pitchFamily="34" charset="-120"/>
              </a:rPr>
              <a:t>Tue 11:00–12:00</a:t>
            </a:r>
            <a:endParaRPr lang="en-US" sz="1250" dirty="0"/>
          </a:p>
        </p:txBody>
      </p:sp>
      <p:sp>
        <p:nvSpPr>
          <p:cNvPr id="9" name="Shape 7"/>
          <p:cNvSpPr/>
          <p:nvPr/>
        </p:nvSpPr>
        <p:spPr>
          <a:xfrm>
            <a:off x="3364992" y="2011680"/>
            <a:ext cx="502920" cy="502920"/>
          </a:xfrm>
          <a:prstGeom prst="ellipse">
            <a:avLst/>
          </a:prstGeom>
          <a:solidFill>
            <a:srgbClr val="0B8A76"/>
          </a:solidFill>
          <a:ln/>
        </p:spPr>
      </p:sp>
      <p:sp>
        <p:nvSpPr>
          <p:cNvPr id="10" name="Text 8"/>
          <p:cNvSpPr txBox="1"/>
          <p:nvPr/>
        </p:nvSpPr>
        <p:spPr>
          <a:xfrm>
            <a:off x="3364992"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p:cNvSpPr/>
          <p:nvPr/>
        </p:nvSpPr>
        <p:spPr>
          <a:xfrm>
            <a:off x="3959352" y="2263140"/>
            <a:ext cx="2103120" cy="0"/>
          </a:xfrm>
          <a:prstGeom prst="line">
            <a:avLst/>
          </a:prstGeom>
          <a:noFill/>
          <a:ln w="25400">
            <a:solidFill>
              <a:srgbClr val="D9E3E0"/>
            </a:solidFill>
            <a:prstDash val="solid"/>
          </a:ln>
        </p:spPr>
      </p:sp>
      <p:sp>
        <p:nvSpPr>
          <p:cNvPr id="12" name="Text 10"/>
          <p:cNvSpPr txBox="1"/>
          <p:nvPr/>
        </p:nvSpPr>
        <p:spPr>
          <a:xfrm>
            <a:off x="3364992" y="2651760"/>
            <a:ext cx="246888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Miss</a:t>
            </a:r>
            <a:endParaRPr lang="en-US" sz="1600" dirty="0"/>
          </a:p>
        </p:txBody>
      </p:sp>
      <p:sp>
        <p:nvSpPr>
          <p:cNvPr id="13" name="Text 11"/>
          <p:cNvSpPr txBox="1"/>
          <p:nvPr/>
        </p:nvSpPr>
        <p:spPr>
          <a:xfrm>
            <a:off x="3364992" y="3017520"/>
            <a:ext cx="2514600" cy="822960"/>
          </a:xfrm>
          <a:prstGeom prst="rect">
            <a:avLst/>
          </a:prstGeom>
          <a:noFill/>
          <a:ln/>
        </p:spPr>
        <p:txBody>
          <a:bodyPr wrap="square" lIns="0" tIns="0" rIns="0" bIns="0" rtlCol="0" anchor="t"/>
          <a:lstStyle/>
          <a:p>
            <a:pPr indent="0" marL="0">
              <a:buNone/>
            </a:pPr>
            <a:r>
              <a:rPr lang="en-US" sz="1250" dirty="0">
                <a:solidFill>
                  <a:srgbClr val="4A5D5B"/>
                </a:solidFill>
                <a:latin typeface="Calibri" pitchFamily="34" charset="0"/>
                <a:ea typeface="Calibri" pitchFamily="34" charset="-122"/>
                <a:cs typeface="Calibri" pitchFamily="34" charset="-120"/>
              </a:rPr>
              <a:t>Hypothetical unanswered attempt at 11:00</a:t>
            </a:r>
            <a:endParaRPr lang="en-US" sz="1250" dirty="0"/>
          </a:p>
        </p:txBody>
      </p:sp>
      <p:sp>
        <p:nvSpPr>
          <p:cNvPr id="14" name="Shape 12"/>
          <p:cNvSpPr/>
          <p:nvPr/>
        </p:nvSpPr>
        <p:spPr>
          <a:xfrm>
            <a:off x="6181344" y="2011680"/>
            <a:ext cx="502920" cy="502920"/>
          </a:xfrm>
          <a:prstGeom prst="ellipse">
            <a:avLst/>
          </a:prstGeom>
          <a:solidFill>
            <a:srgbClr val="0B8A76"/>
          </a:solidFill>
          <a:ln/>
        </p:spPr>
      </p:sp>
      <p:sp>
        <p:nvSpPr>
          <p:cNvPr id="15" name="Text 13"/>
          <p:cNvSpPr txBox="1"/>
          <p:nvPr/>
        </p:nvSpPr>
        <p:spPr>
          <a:xfrm>
            <a:off x="6181344"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6775704" y="2263140"/>
            <a:ext cx="2103120" cy="0"/>
          </a:xfrm>
          <a:prstGeom prst="line">
            <a:avLst/>
          </a:prstGeom>
          <a:noFill/>
          <a:ln w="25400">
            <a:solidFill>
              <a:srgbClr val="D9E3E0"/>
            </a:solidFill>
            <a:prstDash val="solid"/>
          </a:ln>
        </p:spPr>
      </p:sp>
      <p:sp>
        <p:nvSpPr>
          <p:cNvPr id="17" name="Text 15"/>
          <p:cNvSpPr txBox="1"/>
          <p:nvPr/>
        </p:nvSpPr>
        <p:spPr>
          <a:xfrm>
            <a:off x="6181344" y="2651760"/>
            <a:ext cx="246888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Recompute</a:t>
            </a:r>
            <a:endParaRPr lang="en-US" sz="1600" dirty="0"/>
          </a:p>
        </p:txBody>
      </p:sp>
      <p:sp>
        <p:nvSpPr>
          <p:cNvPr id="18" name="Text 16"/>
          <p:cNvSpPr txBox="1"/>
          <p:nvPr/>
        </p:nvSpPr>
        <p:spPr>
          <a:xfrm>
            <a:off x="6181344" y="3017520"/>
            <a:ext cx="2514600" cy="822960"/>
          </a:xfrm>
          <a:prstGeom prst="rect">
            <a:avLst/>
          </a:prstGeom>
          <a:noFill/>
          <a:ln/>
        </p:spPr>
        <p:txBody>
          <a:bodyPr wrap="square" lIns="0" tIns="0" rIns="0" bIns="0" rtlCol="0" anchor="t"/>
          <a:lstStyle/>
          <a:p>
            <a:pPr indent="0" marL="0">
              <a:buNone/>
            </a:pPr>
            <a:r>
              <a:rPr lang="en-US" sz="1250" dirty="0">
                <a:solidFill>
                  <a:srgbClr val="4A5D5B"/>
                </a:solidFill>
                <a:latin typeface="Calibri" pitchFamily="34" charset="0"/>
                <a:ea typeface="Calibri" pitchFamily="34" charset="-122"/>
                <a:cs typeface="Calibri" pitchFamily="34" charset="-120"/>
              </a:rPr>
              <a:t>Cooldown, daily cap, sequence cap, DNC, appointments, ranking</a:t>
            </a:r>
            <a:endParaRPr lang="en-US" sz="1250" dirty="0"/>
          </a:p>
        </p:txBody>
      </p:sp>
      <p:sp>
        <p:nvSpPr>
          <p:cNvPr id="19" name="Shape 17"/>
          <p:cNvSpPr/>
          <p:nvPr/>
        </p:nvSpPr>
        <p:spPr>
          <a:xfrm>
            <a:off x="8997696" y="2011680"/>
            <a:ext cx="502920" cy="502920"/>
          </a:xfrm>
          <a:prstGeom prst="ellipse">
            <a:avLst/>
          </a:prstGeom>
          <a:solidFill>
            <a:srgbClr val="0B4F45"/>
          </a:solidFill>
          <a:ln/>
        </p:spPr>
      </p:sp>
      <p:sp>
        <p:nvSpPr>
          <p:cNvPr id="20" name="Text 18"/>
          <p:cNvSpPr txBox="1"/>
          <p:nvPr/>
        </p:nvSpPr>
        <p:spPr>
          <a:xfrm>
            <a:off x="8997696"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8997696" y="2651760"/>
            <a:ext cx="246888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Decide</a:t>
            </a:r>
            <a:endParaRPr lang="en-US" sz="1600" dirty="0"/>
          </a:p>
        </p:txBody>
      </p:sp>
      <p:sp>
        <p:nvSpPr>
          <p:cNvPr id="22" name="Text 20"/>
          <p:cNvSpPr txBox="1"/>
          <p:nvPr/>
        </p:nvSpPr>
        <p:spPr>
          <a:xfrm>
            <a:off x="8997696" y="3017520"/>
            <a:ext cx="2514600" cy="822960"/>
          </a:xfrm>
          <a:prstGeom prst="rect">
            <a:avLst/>
          </a:prstGeom>
          <a:noFill/>
          <a:ln/>
        </p:spPr>
        <p:txBody>
          <a:bodyPr wrap="square" lIns="0" tIns="0" rIns="0" bIns="0" rtlCol="0" anchor="t"/>
          <a:lstStyle/>
          <a:p>
            <a:pPr indent="0" marL="0">
              <a:buNone/>
            </a:pPr>
            <a:r>
              <a:rPr lang="en-US" sz="1250" dirty="0">
                <a:solidFill>
                  <a:srgbClr val="4A5D5B"/>
                </a:solidFill>
                <a:latin typeface="Calibri" pitchFamily="34" charset="0"/>
                <a:ea typeface="Calibri" pitchFamily="34" charset="-122"/>
                <a:cs typeface="Calibri" pitchFamily="34" charset="-120"/>
              </a:rPr>
              <a:t>Same day → retry · later → postpone · capped or DNC → stop</a:t>
            </a:r>
            <a:endParaRPr lang="en-US" sz="1250" dirty="0"/>
          </a:p>
        </p:txBody>
      </p:sp>
      <p:sp>
        <p:nvSpPr>
          <p:cNvPr id="23" name="Shape 21"/>
          <p:cNvSpPr/>
          <p:nvPr/>
        </p:nvSpPr>
        <p:spPr>
          <a:xfrm>
            <a:off x="548640" y="4206240"/>
            <a:ext cx="3520440" cy="1737360"/>
          </a:xfrm>
          <a:prstGeom prst="roundRect">
            <a:avLst>
              <a:gd name="adj" fmla="val 4211"/>
            </a:avLst>
          </a:prstGeom>
          <a:solidFill>
            <a:srgbClr val="EEF4F2"/>
          </a:solidFill>
          <a:ln/>
        </p:spPr>
      </p:sp>
      <p:sp>
        <p:nvSpPr>
          <p:cNvPr id="24" name="Text 22"/>
          <p:cNvSpPr txBox="1"/>
          <p:nvPr/>
        </p:nvSpPr>
        <p:spPr>
          <a:xfrm>
            <a:off x="777240" y="4343400"/>
            <a:ext cx="3108960" cy="731520"/>
          </a:xfrm>
          <a:prstGeom prst="rect">
            <a:avLst/>
          </a:prstGeom>
          <a:noFill/>
          <a:ln/>
        </p:spPr>
        <p:txBody>
          <a:bodyPr wrap="square" lIns="0" tIns="0" rIns="0" bIns="0" rtlCol="0" anchor="ctr"/>
          <a:lstStyle/>
          <a:p>
            <a:pPr indent="0" marL="0">
              <a:buNone/>
            </a:pPr>
            <a:r>
              <a:rPr lang="en-US" sz="3600" b="1" dirty="0">
                <a:solidFill>
                  <a:srgbClr val="0B8A76"/>
                </a:solidFill>
                <a:latin typeface="Cambria" pitchFamily="34" charset="0"/>
                <a:ea typeface="Cambria" pitchFamily="34" charset="-122"/>
                <a:cs typeface="Cambria" pitchFamily="34" charset="-120"/>
              </a:rPr>
              <a:t>5</a:t>
            </a:r>
            <a:endParaRPr lang="en-US" sz="3600" dirty="0"/>
          </a:p>
        </p:txBody>
      </p:sp>
      <p:sp>
        <p:nvSpPr>
          <p:cNvPr id="25" name="Text 23"/>
          <p:cNvSpPr txBox="1"/>
          <p:nvPr/>
        </p:nvSpPr>
        <p:spPr>
          <a:xfrm>
            <a:off x="777240" y="5074920"/>
            <a:ext cx="3108960" cy="77724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candidate delays evaluated: 15 min, 30 min, 1 h, 2 h, 1 day</a:t>
            </a:r>
            <a:endParaRPr lang="en-US" sz="1300" dirty="0"/>
          </a:p>
        </p:txBody>
      </p:sp>
      <p:sp>
        <p:nvSpPr>
          <p:cNvPr id="26" name="Shape 24"/>
          <p:cNvSpPr/>
          <p:nvPr/>
        </p:nvSpPr>
        <p:spPr>
          <a:xfrm>
            <a:off x="4297680" y="4206240"/>
            <a:ext cx="3520440" cy="1737360"/>
          </a:xfrm>
          <a:prstGeom prst="roundRect">
            <a:avLst>
              <a:gd name="adj" fmla="val 4211"/>
            </a:avLst>
          </a:prstGeom>
          <a:solidFill>
            <a:srgbClr val="EEF4F2"/>
          </a:solidFill>
          <a:ln/>
        </p:spPr>
      </p:sp>
      <p:sp>
        <p:nvSpPr>
          <p:cNvPr id="27" name="Text 25"/>
          <p:cNvSpPr txBox="1"/>
          <p:nvPr/>
        </p:nvSpPr>
        <p:spPr>
          <a:xfrm>
            <a:off x="4526280" y="4343400"/>
            <a:ext cx="3108960" cy="731520"/>
          </a:xfrm>
          <a:prstGeom prst="rect">
            <a:avLst/>
          </a:prstGeom>
          <a:noFill/>
          <a:ln/>
        </p:spPr>
        <p:txBody>
          <a:bodyPr wrap="square" lIns="0" tIns="0" rIns="0" bIns="0" rtlCol="0" anchor="ctr"/>
          <a:lstStyle/>
          <a:p>
            <a:pPr indent="0" marL="0">
              <a:buNone/>
            </a:pPr>
            <a:r>
              <a:rPr lang="en-US" sz="3600" b="1" dirty="0">
                <a:solidFill>
                  <a:srgbClr val="0B8A76"/>
                </a:solidFill>
                <a:latin typeface="Cambria" pitchFamily="34" charset="0"/>
                <a:ea typeface="Cambria" pitchFamily="34" charset="-122"/>
                <a:cs typeface="Cambria" pitchFamily="34" charset="-120"/>
              </a:rPr>
              <a:t>60 min</a:t>
            </a:r>
            <a:endParaRPr lang="en-US" sz="3600" dirty="0"/>
          </a:p>
        </p:txBody>
      </p:sp>
      <p:sp>
        <p:nvSpPr>
          <p:cNvPr id="28" name="Text 26"/>
          <p:cNvSpPr txBox="1"/>
          <p:nvPr/>
        </p:nvSpPr>
        <p:spPr>
          <a:xfrm>
            <a:off x="4526280" y="5074920"/>
            <a:ext cx="3108960" cy="77724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default minimum gap; rep cancels the retry if contact happens another way</a:t>
            </a:r>
            <a:endParaRPr lang="en-US" sz="1300" dirty="0"/>
          </a:p>
        </p:txBody>
      </p:sp>
      <p:sp>
        <p:nvSpPr>
          <p:cNvPr id="29" name="Shape 27"/>
          <p:cNvSpPr/>
          <p:nvPr/>
        </p:nvSpPr>
        <p:spPr>
          <a:xfrm>
            <a:off x="8046720" y="4206240"/>
            <a:ext cx="3520440" cy="1737360"/>
          </a:xfrm>
          <a:prstGeom prst="roundRect">
            <a:avLst>
              <a:gd name="adj" fmla="val 4211"/>
            </a:avLst>
          </a:prstGeom>
          <a:solidFill>
            <a:srgbClr val="EEF4F2"/>
          </a:solidFill>
          <a:ln/>
        </p:spPr>
      </p:sp>
      <p:sp>
        <p:nvSpPr>
          <p:cNvPr id="30" name="Text 28"/>
          <p:cNvSpPr txBox="1"/>
          <p:nvPr/>
        </p:nvSpPr>
        <p:spPr>
          <a:xfrm>
            <a:off x="8275320" y="4343400"/>
            <a:ext cx="3108960" cy="731520"/>
          </a:xfrm>
          <a:prstGeom prst="rect">
            <a:avLst/>
          </a:prstGeom>
          <a:noFill/>
          <a:ln/>
        </p:spPr>
        <p:txBody>
          <a:bodyPr wrap="square" lIns="0" tIns="0" rIns="0" bIns="0" rtlCol="0" anchor="ctr"/>
          <a:lstStyle/>
          <a:p>
            <a:pPr indent="0" marL="0">
              <a:buNone/>
            </a:pPr>
            <a:r>
              <a:rPr lang="en-US" sz="3600" b="1" dirty="0">
                <a:solidFill>
                  <a:srgbClr val="0B8A76"/>
                </a:solidFill>
                <a:latin typeface="Cambria" pitchFamily="34" charset="0"/>
                <a:ea typeface="Cambria" pitchFamily="34" charset="-122"/>
                <a:cs typeface="Cambria" pitchFamily="34" charset="-120"/>
              </a:rPr>
              <a:t>10</a:t>
            </a:r>
            <a:endParaRPr lang="en-US" sz="3600" dirty="0"/>
          </a:p>
        </p:txBody>
      </p:sp>
      <p:sp>
        <p:nvSpPr>
          <p:cNvPr id="31" name="Text 29"/>
          <p:cNvSpPr txBox="1"/>
          <p:nvPr/>
        </p:nvSpPr>
        <p:spPr>
          <a:xfrm>
            <a:off x="8275320" y="5074920"/>
            <a:ext cx="3108960" cy="77724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attempts per 7-day sequence; the cap resets after an answered call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Production ERP data, without touching production</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Read-only Redash extraction under a 5-second statement limit, a dedicated query id, and salted pseudonyms computed inside SQL.</a:t>
            </a:r>
            <a:endParaRPr lang="en-US" sz="1500" dirty="0"/>
          </a:p>
        </p:txBody>
      </p:sp>
      <p:sp>
        <p:nvSpPr>
          <p:cNvPr id="4" name="Shape 2"/>
          <p:cNvSpPr/>
          <p:nvPr/>
        </p:nvSpPr>
        <p:spPr>
          <a:xfrm>
            <a:off x="548640" y="1828800"/>
            <a:ext cx="2103120" cy="1554480"/>
          </a:xfrm>
          <a:prstGeom prst="roundRect">
            <a:avLst>
              <a:gd name="adj" fmla="val 4706"/>
            </a:avLst>
          </a:prstGeom>
          <a:solidFill>
            <a:srgbClr val="EEF4F2"/>
          </a:solidFill>
          <a:ln/>
        </p:spPr>
      </p:sp>
      <p:pic>
        <p:nvPicPr>
          <p:cNvPr id="5" name="Image 0" descr="preencoded.png">    </p:cNvPr>
          <p:cNvPicPr>
            <a:picLocks noChangeAspect="1"/>
          </p:cNvPicPr>
          <p:nvPr/>
        </p:nvPicPr>
        <p:blipFill>
          <a:blip r:embed="rId1"/>
          <a:stretch>
            <a:fillRect/>
          </a:stretch>
        </p:blipFill>
        <p:spPr>
          <a:xfrm>
            <a:off x="731520" y="1965960"/>
            <a:ext cx="329184" cy="329184"/>
          </a:xfrm>
          <a:prstGeom prst="rect">
            <a:avLst/>
          </a:prstGeom>
        </p:spPr>
      </p:pic>
      <p:sp>
        <p:nvSpPr>
          <p:cNvPr id="6" name="Text 3"/>
          <p:cNvSpPr txBox="1"/>
          <p:nvPr/>
        </p:nvSpPr>
        <p:spPr>
          <a:xfrm>
            <a:off x="731520" y="2377440"/>
            <a:ext cx="1828800" cy="457200"/>
          </a:xfrm>
          <a:prstGeom prst="rect">
            <a:avLst/>
          </a:prstGeom>
          <a:noFill/>
          <a:ln/>
        </p:spPr>
        <p:txBody>
          <a:bodyPr wrap="square" lIns="0" tIns="0" rIns="0" bIns="0" rtlCol="0" anchor="ctr"/>
          <a:lstStyle/>
          <a:p>
            <a:pPr indent="0" marL="0">
              <a:buNone/>
            </a:pPr>
            <a:r>
              <a:rPr lang="en-US" sz="2200" b="1" dirty="0">
                <a:solidFill>
                  <a:srgbClr val="10201F"/>
                </a:solidFill>
                <a:latin typeface="Cambria" pitchFamily="34" charset="0"/>
                <a:ea typeface="Cambria" pitchFamily="34" charset="-122"/>
                <a:cs typeface="Cambria" pitchFamily="34" charset="-120"/>
              </a:rPr>
              <a:t>Redash 13</a:t>
            </a:r>
            <a:endParaRPr lang="en-US" sz="2200" dirty="0"/>
          </a:p>
        </p:txBody>
      </p:sp>
      <p:sp>
        <p:nvSpPr>
          <p:cNvPr id="7" name="Text 4"/>
          <p:cNvSpPr txBox="1"/>
          <p:nvPr/>
        </p:nvSpPr>
        <p:spPr>
          <a:xfrm>
            <a:off x="731520" y="2834640"/>
            <a:ext cx="1828800" cy="457200"/>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ERP read replica</a:t>
            </a:r>
            <a:endParaRPr lang="en-US" sz="1200" dirty="0"/>
          </a:p>
        </p:txBody>
      </p:sp>
      <p:sp>
        <p:nvSpPr>
          <p:cNvPr id="8" name="Shape 5"/>
          <p:cNvSpPr/>
          <p:nvPr/>
        </p:nvSpPr>
        <p:spPr>
          <a:xfrm>
            <a:off x="2798064" y="1828800"/>
            <a:ext cx="2103120" cy="1554480"/>
          </a:xfrm>
          <a:prstGeom prst="roundRect">
            <a:avLst>
              <a:gd name="adj" fmla="val 4706"/>
            </a:avLst>
          </a:prstGeom>
          <a:solidFill>
            <a:srgbClr val="EEF4F2"/>
          </a:solidFill>
          <a:ln/>
        </p:spPr>
      </p:sp>
      <p:pic>
        <p:nvPicPr>
          <p:cNvPr id="9" name="Image 1" descr="preencoded.png">    </p:cNvPr>
          <p:cNvPicPr>
            <a:picLocks noChangeAspect="1"/>
          </p:cNvPicPr>
          <p:nvPr/>
        </p:nvPicPr>
        <p:blipFill>
          <a:blip r:embed="rId2"/>
          <a:stretch>
            <a:fillRect/>
          </a:stretch>
        </p:blipFill>
        <p:spPr>
          <a:xfrm>
            <a:off x="2980944" y="1965960"/>
            <a:ext cx="329184" cy="329184"/>
          </a:xfrm>
          <a:prstGeom prst="rect">
            <a:avLst/>
          </a:prstGeom>
        </p:spPr>
      </p:pic>
      <p:sp>
        <p:nvSpPr>
          <p:cNvPr id="10" name="Text 6"/>
          <p:cNvSpPr txBox="1"/>
          <p:nvPr/>
        </p:nvSpPr>
        <p:spPr>
          <a:xfrm>
            <a:off x="2980944" y="2377440"/>
            <a:ext cx="1828800" cy="457200"/>
          </a:xfrm>
          <a:prstGeom prst="rect">
            <a:avLst/>
          </a:prstGeom>
          <a:noFill/>
          <a:ln/>
        </p:spPr>
        <p:txBody>
          <a:bodyPr wrap="square" lIns="0" tIns="0" rIns="0" bIns="0" rtlCol="0" anchor="ctr"/>
          <a:lstStyle/>
          <a:p>
            <a:pPr indent="0" marL="0">
              <a:buNone/>
            </a:pPr>
            <a:r>
              <a:rPr lang="en-US" sz="2200" b="1" dirty="0">
                <a:solidFill>
                  <a:srgbClr val="10201F"/>
                </a:solidFill>
                <a:latin typeface="Cambria" pitchFamily="34" charset="0"/>
                <a:ea typeface="Cambria" pitchFamily="34" charset="-122"/>
                <a:cs typeface="Cambria" pitchFamily="34" charset="-120"/>
              </a:rPr>
              <a:t>≈2,300</a:t>
            </a:r>
            <a:endParaRPr lang="en-US" sz="2200" dirty="0"/>
          </a:p>
        </p:txBody>
      </p:sp>
      <p:sp>
        <p:nvSpPr>
          <p:cNvPr id="11" name="Text 7"/>
          <p:cNvSpPr txBox="1"/>
          <p:nvPr/>
        </p:nvSpPr>
        <p:spPr>
          <a:xfrm>
            <a:off x="2980944" y="2834640"/>
            <a:ext cx="1828800" cy="457200"/>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30-min chunks, 6 workers</a:t>
            </a:r>
            <a:endParaRPr lang="en-US" sz="1200" dirty="0"/>
          </a:p>
        </p:txBody>
      </p:sp>
      <p:sp>
        <p:nvSpPr>
          <p:cNvPr id="12" name="Shape 8"/>
          <p:cNvSpPr/>
          <p:nvPr/>
        </p:nvSpPr>
        <p:spPr>
          <a:xfrm>
            <a:off x="5047488" y="1828800"/>
            <a:ext cx="2103120" cy="1554480"/>
          </a:xfrm>
          <a:prstGeom prst="roundRect">
            <a:avLst>
              <a:gd name="adj" fmla="val 4706"/>
            </a:avLst>
          </a:prstGeom>
          <a:solidFill>
            <a:srgbClr val="EEF4F2"/>
          </a:solidFill>
          <a:ln/>
        </p:spPr>
      </p:sp>
      <p:pic>
        <p:nvPicPr>
          <p:cNvPr id="13" name="Image 2" descr="preencoded.png">    </p:cNvPr>
          <p:cNvPicPr>
            <a:picLocks noChangeAspect="1"/>
          </p:cNvPicPr>
          <p:nvPr/>
        </p:nvPicPr>
        <p:blipFill>
          <a:blip r:embed="rId3"/>
          <a:stretch>
            <a:fillRect/>
          </a:stretch>
        </p:blipFill>
        <p:spPr>
          <a:xfrm>
            <a:off x="5230368" y="1965960"/>
            <a:ext cx="329184" cy="329184"/>
          </a:xfrm>
          <a:prstGeom prst="rect">
            <a:avLst/>
          </a:prstGeom>
        </p:spPr>
      </p:pic>
      <p:sp>
        <p:nvSpPr>
          <p:cNvPr id="14" name="Text 9"/>
          <p:cNvSpPr txBox="1"/>
          <p:nvPr/>
        </p:nvSpPr>
        <p:spPr>
          <a:xfrm>
            <a:off x="5230368" y="2377440"/>
            <a:ext cx="1828800" cy="457200"/>
          </a:xfrm>
          <a:prstGeom prst="rect">
            <a:avLst/>
          </a:prstGeom>
          <a:noFill/>
          <a:ln/>
        </p:spPr>
        <p:txBody>
          <a:bodyPr wrap="square" lIns="0" tIns="0" rIns="0" bIns="0" rtlCol="0" anchor="ctr"/>
          <a:lstStyle/>
          <a:p>
            <a:pPr indent="0" marL="0">
              <a:buNone/>
            </a:pPr>
            <a:r>
              <a:rPr lang="en-US" sz="2200" b="1" dirty="0">
                <a:solidFill>
                  <a:srgbClr val="10201F"/>
                </a:solidFill>
                <a:latin typeface="Cambria" pitchFamily="34" charset="0"/>
                <a:ea typeface="Cambria" pitchFamily="34" charset="-122"/>
                <a:cs typeface="Cambria" pitchFamily="34" charset="-120"/>
              </a:rPr>
              <a:t>md5 + salt</a:t>
            </a:r>
            <a:endParaRPr lang="en-US" sz="2200" dirty="0"/>
          </a:p>
        </p:txBody>
      </p:sp>
      <p:sp>
        <p:nvSpPr>
          <p:cNvPr id="15" name="Text 10"/>
          <p:cNvSpPr txBox="1"/>
          <p:nvPr/>
        </p:nvSpPr>
        <p:spPr>
          <a:xfrm>
            <a:off x="5230368" y="2834640"/>
            <a:ext cx="1828800" cy="457200"/>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no names, phones, recordings</a:t>
            </a:r>
            <a:endParaRPr lang="en-US" sz="1200" dirty="0"/>
          </a:p>
        </p:txBody>
      </p:sp>
      <p:sp>
        <p:nvSpPr>
          <p:cNvPr id="16" name="Shape 11"/>
          <p:cNvSpPr/>
          <p:nvPr/>
        </p:nvSpPr>
        <p:spPr>
          <a:xfrm>
            <a:off x="7296912" y="1828800"/>
            <a:ext cx="2103120" cy="1554480"/>
          </a:xfrm>
          <a:prstGeom prst="roundRect">
            <a:avLst>
              <a:gd name="adj" fmla="val 4706"/>
            </a:avLst>
          </a:prstGeom>
          <a:solidFill>
            <a:srgbClr val="EEF4F2"/>
          </a:solidFill>
          <a:ln/>
        </p:spPr>
      </p:sp>
      <p:pic>
        <p:nvPicPr>
          <p:cNvPr id="17" name="Image 3" descr="preencoded.png">    </p:cNvPr>
          <p:cNvPicPr>
            <a:picLocks noChangeAspect="1"/>
          </p:cNvPicPr>
          <p:nvPr/>
        </p:nvPicPr>
        <p:blipFill>
          <a:blip r:embed="rId4"/>
          <a:stretch>
            <a:fillRect/>
          </a:stretch>
        </p:blipFill>
        <p:spPr>
          <a:xfrm>
            <a:off x="7479792" y="1965960"/>
            <a:ext cx="329184" cy="329184"/>
          </a:xfrm>
          <a:prstGeom prst="rect">
            <a:avLst/>
          </a:prstGeom>
        </p:spPr>
      </p:pic>
      <p:sp>
        <p:nvSpPr>
          <p:cNvPr id="18" name="Text 12"/>
          <p:cNvSpPr txBox="1"/>
          <p:nvPr/>
        </p:nvSpPr>
        <p:spPr>
          <a:xfrm>
            <a:off x="7479792" y="2377440"/>
            <a:ext cx="1828800" cy="457200"/>
          </a:xfrm>
          <a:prstGeom prst="rect">
            <a:avLst/>
          </a:prstGeom>
          <a:noFill/>
          <a:ln/>
        </p:spPr>
        <p:txBody>
          <a:bodyPr wrap="square" lIns="0" tIns="0" rIns="0" bIns="0" rtlCol="0" anchor="ctr"/>
          <a:lstStyle/>
          <a:p>
            <a:pPr indent="0" marL="0">
              <a:buNone/>
            </a:pPr>
            <a:r>
              <a:rPr lang="en-US" sz="2200" b="1" dirty="0">
                <a:solidFill>
                  <a:srgbClr val="10201F"/>
                </a:solidFill>
                <a:latin typeface="Cambria" pitchFamily="34" charset="0"/>
                <a:ea typeface="Cambria" pitchFamily="34" charset="-122"/>
                <a:cs typeface="Cambria" pitchFamily="34" charset="-120"/>
              </a:rPr>
              <a:t>42,785</a:t>
            </a:r>
            <a:endParaRPr lang="en-US" sz="2200" dirty="0"/>
          </a:p>
        </p:txBody>
      </p:sp>
      <p:sp>
        <p:nvSpPr>
          <p:cNvPr id="19" name="Text 13"/>
          <p:cNvSpPr txBox="1"/>
          <p:nvPr/>
        </p:nvSpPr>
        <p:spPr>
          <a:xfrm>
            <a:off x="7479792" y="2834640"/>
            <a:ext cx="1828800" cy="457200"/>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meetings linked by UCID</a:t>
            </a:r>
            <a:endParaRPr lang="en-US" sz="1200" dirty="0"/>
          </a:p>
        </p:txBody>
      </p:sp>
      <p:sp>
        <p:nvSpPr>
          <p:cNvPr id="20" name="Shape 14"/>
          <p:cNvSpPr/>
          <p:nvPr/>
        </p:nvSpPr>
        <p:spPr>
          <a:xfrm>
            <a:off x="9546336" y="1828800"/>
            <a:ext cx="2103120" cy="1554480"/>
          </a:xfrm>
          <a:prstGeom prst="roundRect">
            <a:avLst>
              <a:gd name="adj" fmla="val 4706"/>
            </a:avLst>
          </a:prstGeom>
          <a:solidFill>
            <a:srgbClr val="EEF4F2"/>
          </a:solidFill>
          <a:ln/>
        </p:spPr>
      </p:sp>
      <p:pic>
        <p:nvPicPr>
          <p:cNvPr id="21" name="Image 4" descr="preencoded.png">    </p:cNvPr>
          <p:cNvPicPr>
            <a:picLocks noChangeAspect="1"/>
          </p:cNvPicPr>
          <p:nvPr/>
        </p:nvPicPr>
        <p:blipFill>
          <a:blip r:embed="rId5"/>
          <a:stretch>
            <a:fillRect/>
          </a:stretch>
        </p:blipFill>
        <p:spPr>
          <a:xfrm>
            <a:off x="9729216" y="1965960"/>
            <a:ext cx="329184" cy="329184"/>
          </a:xfrm>
          <a:prstGeom prst="rect">
            <a:avLst/>
          </a:prstGeom>
        </p:spPr>
      </p:pic>
      <p:sp>
        <p:nvSpPr>
          <p:cNvPr id="22" name="Text 15"/>
          <p:cNvSpPr txBox="1"/>
          <p:nvPr/>
        </p:nvSpPr>
        <p:spPr>
          <a:xfrm>
            <a:off x="9729216" y="2377440"/>
            <a:ext cx="1828800" cy="457200"/>
          </a:xfrm>
          <a:prstGeom prst="rect">
            <a:avLst/>
          </a:prstGeom>
          <a:noFill/>
          <a:ln/>
        </p:spPr>
        <p:txBody>
          <a:bodyPr wrap="square" lIns="0" tIns="0" rIns="0" bIns="0" rtlCol="0" anchor="ctr"/>
          <a:lstStyle/>
          <a:p>
            <a:pPr indent="0" marL="0">
              <a:buNone/>
            </a:pPr>
            <a:r>
              <a:rPr lang="en-US" sz="2200" b="1" dirty="0">
                <a:solidFill>
                  <a:srgbClr val="10201F"/>
                </a:solidFill>
                <a:latin typeface="Cambria" pitchFamily="34" charset="0"/>
                <a:ea typeface="Cambria" pitchFamily="34" charset="-122"/>
                <a:cs typeface="Cambria" pitchFamily="34" charset="-120"/>
              </a:rPr>
              <a:t>931,006</a:t>
            </a:r>
            <a:endParaRPr lang="en-US" sz="2200" dirty="0"/>
          </a:p>
        </p:txBody>
      </p:sp>
      <p:sp>
        <p:nvSpPr>
          <p:cNvPr id="23" name="Text 16"/>
          <p:cNvSpPr txBox="1"/>
          <p:nvPr/>
        </p:nvSpPr>
        <p:spPr>
          <a:xfrm>
            <a:off x="9729216" y="2834640"/>
            <a:ext cx="1828800" cy="457200"/>
          </a:xfrm>
          <a:prstGeom prst="rect">
            <a:avLst/>
          </a:prstGeom>
          <a:noFill/>
          <a:ln/>
        </p:spPr>
        <p:txBody>
          <a:bodyPr wrap="square" lIns="0" tIns="0" rIns="0" bIns="0" rtlCol="0" anchor="ctr"/>
          <a:lstStyle/>
          <a:p>
            <a:pPr indent="0" marL="0">
              <a:buNone/>
            </a:pPr>
            <a:r>
              <a:rPr lang="en-US" sz="1200" dirty="0">
                <a:solidFill>
                  <a:srgbClr val="4A5D5B"/>
                </a:solidFill>
                <a:latin typeface="Calibri" pitchFamily="34" charset="0"/>
                <a:ea typeface="Calibri" pitchFamily="34" charset="-122"/>
                <a:cs typeface="Calibri" pitchFamily="34" charset="-120"/>
              </a:rPr>
              <a:t>calls, 8% seller sample</a:t>
            </a:r>
            <a:endParaRPr lang="en-US" sz="1200" dirty="0"/>
          </a:p>
        </p:txBody>
      </p:sp>
      <p:sp>
        <p:nvSpPr>
          <p:cNvPr id="24" name="Text 17"/>
          <p:cNvSpPr txBox="1"/>
          <p:nvPr/>
        </p:nvSpPr>
        <p:spPr>
          <a:xfrm>
            <a:off x="548640" y="3703320"/>
            <a:ext cx="731520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Time-ordered splits with a 14-day maturity embargo</a:t>
            </a:r>
            <a:endParaRPr lang="en-US" sz="1600" dirty="0"/>
          </a:p>
        </p:txBody>
      </p:sp>
      <p:sp>
        <p:nvSpPr>
          <p:cNvPr id="25" name="Shape 18"/>
          <p:cNvSpPr/>
          <p:nvPr/>
        </p:nvSpPr>
        <p:spPr>
          <a:xfrm>
            <a:off x="548640" y="4206240"/>
            <a:ext cx="1628825" cy="502920"/>
          </a:xfrm>
          <a:prstGeom prst="roundRect">
            <a:avLst>
              <a:gd name="adj" fmla="val 9091"/>
            </a:avLst>
          </a:prstGeom>
          <a:solidFill>
            <a:srgbClr val="EEF4F2"/>
          </a:solidFill>
          <a:ln/>
        </p:spPr>
      </p:sp>
      <p:sp>
        <p:nvSpPr>
          <p:cNvPr id="26" name="Text 19"/>
          <p:cNvSpPr txBox="1"/>
          <p:nvPr/>
        </p:nvSpPr>
        <p:spPr>
          <a:xfrm>
            <a:off x="640080" y="4206240"/>
            <a:ext cx="1491665" cy="502920"/>
          </a:xfrm>
          <a:prstGeom prst="rect">
            <a:avLst/>
          </a:prstGeom>
          <a:noFill/>
          <a:ln/>
        </p:spPr>
        <p:txBody>
          <a:bodyPr wrap="square" lIns="0" tIns="0" rIns="0" bIns="0" rtlCol="0" anchor="ctr"/>
          <a:lstStyle/>
          <a:p>
            <a:pPr indent="0" marL="0">
              <a:buNone/>
            </a:pPr>
            <a:r>
              <a:rPr lang="en-US" sz="1200" b="1" dirty="0">
                <a:solidFill>
                  <a:srgbClr val="4A5D5B"/>
                </a:solidFill>
                <a:latin typeface="Calibri" pitchFamily="34" charset="0"/>
                <a:ea typeface="Calibri" pitchFamily="34" charset="-122"/>
                <a:cs typeface="Calibri" pitchFamily="34" charset="-120"/>
              </a:rPr>
              <a:t>Warm-up</a:t>
            </a:r>
            <a:endParaRPr lang="en-US" sz="1200" dirty="0"/>
          </a:p>
        </p:txBody>
      </p:sp>
      <p:sp>
        <p:nvSpPr>
          <p:cNvPr id="27" name="Text 20"/>
          <p:cNvSpPr txBox="1"/>
          <p:nvPr/>
        </p:nvSpPr>
        <p:spPr>
          <a:xfrm>
            <a:off x="548640" y="4800600"/>
            <a:ext cx="1628825" cy="274320"/>
          </a:xfrm>
          <a:prstGeom prst="rect">
            <a:avLst/>
          </a:prstGeom>
          <a:noFill/>
          <a:ln/>
        </p:spPr>
        <p:txBody>
          <a:bodyPr wrap="square" lIns="0" tIns="0" rIns="0" bIns="0" rtlCol="0" anchor="ctr"/>
          <a:lstStyle/>
          <a:p>
            <a:pPr indent="0" marL="0">
              <a:buNone/>
            </a:pPr>
            <a:r>
              <a:rPr lang="en-US" sz="1150" dirty="0">
                <a:solidFill>
                  <a:srgbClr val="4A5D5B"/>
                </a:solidFill>
                <a:latin typeface="Calibri" pitchFamily="34" charset="0"/>
                <a:ea typeface="Calibri" pitchFamily="34" charset="-122"/>
                <a:cs typeface="Calibri" pitchFamily="34" charset="-120"/>
              </a:rPr>
              <a:t>Aug 11–17</a:t>
            </a:r>
            <a:endParaRPr lang="en-US" sz="1150" dirty="0"/>
          </a:p>
        </p:txBody>
      </p:sp>
      <p:sp>
        <p:nvSpPr>
          <p:cNvPr id="28" name="Text 21"/>
          <p:cNvSpPr txBox="1"/>
          <p:nvPr/>
        </p:nvSpPr>
        <p:spPr>
          <a:xfrm>
            <a:off x="548640" y="5047488"/>
            <a:ext cx="1628825" cy="502920"/>
          </a:xfrm>
          <a:prstGeom prst="rect">
            <a:avLst/>
          </a:prstGeom>
          <a:noFill/>
          <a:ln/>
        </p:spPr>
        <p:txBody>
          <a:bodyPr wrap="square" lIns="0" tIns="0" rIns="0" bIns="0" rtlCol="0" anchor="t"/>
          <a:lstStyle/>
          <a:p>
            <a:pPr indent="0" marL="0">
              <a:buNone/>
            </a:pPr>
            <a:r>
              <a:rPr lang="en-US" sz="1100" b="1" dirty="0">
                <a:solidFill>
                  <a:srgbClr val="10201F"/>
                </a:solidFill>
                <a:latin typeface="Calibri" pitchFamily="34" charset="0"/>
                <a:ea typeface="Calibri" pitchFamily="34" charset="-122"/>
                <a:cs typeface="Calibri" pitchFamily="34" charset="-120"/>
              </a:rPr>
              <a:t>history only</a:t>
            </a:r>
            <a:endParaRPr lang="en-US" sz="1100" dirty="0"/>
          </a:p>
        </p:txBody>
      </p:sp>
      <p:sp>
        <p:nvSpPr>
          <p:cNvPr id="29" name="Shape 22"/>
          <p:cNvSpPr/>
          <p:nvPr/>
        </p:nvSpPr>
        <p:spPr>
          <a:xfrm>
            <a:off x="2232329" y="4206240"/>
            <a:ext cx="1628825" cy="502920"/>
          </a:xfrm>
          <a:prstGeom prst="roundRect">
            <a:avLst>
              <a:gd name="adj" fmla="val 9091"/>
            </a:avLst>
          </a:prstGeom>
          <a:solidFill>
            <a:srgbClr val="0B8A76"/>
          </a:solidFill>
          <a:ln/>
        </p:spPr>
      </p:sp>
      <p:sp>
        <p:nvSpPr>
          <p:cNvPr id="30" name="Text 23"/>
          <p:cNvSpPr txBox="1"/>
          <p:nvPr/>
        </p:nvSpPr>
        <p:spPr>
          <a:xfrm>
            <a:off x="2323769" y="4206240"/>
            <a:ext cx="1491665"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Train</a:t>
            </a:r>
            <a:endParaRPr lang="en-US" sz="1200" dirty="0"/>
          </a:p>
        </p:txBody>
      </p:sp>
      <p:sp>
        <p:nvSpPr>
          <p:cNvPr id="31" name="Text 24"/>
          <p:cNvSpPr txBox="1"/>
          <p:nvPr/>
        </p:nvSpPr>
        <p:spPr>
          <a:xfrm>
            <a:off x="2232329" y="4800600"/>
            <a:ext cx="1628825" cy="274320"/>
          </a:xfrm>
          <a:prstGeom prst="rect">
            <a:avLst/>
          </a:prstGeom>
          <a:noFill/>
          <a:ln/>
        </p:spPr>
        <p:txBody>
          <a:bodyPr wrap="square" lIns="0" tIns="0" rIns="0" bIns="0" rtlCol="0" anchor="ctr"/>
          <a:lstStyle/>
          <a:p>
            <a:pPr indent="0" marL="0">
              <a:buNone/>
            </a:pPr>
            <a:r>
              <a:rPr lang="en-US" sz="1150" dirty="0">
                <a:solidFill>
                  <a:srgbClr val="4A5D5B"/>
                </a:solidFill>
                <a:latin typeface="Calibri" pitchFamily="34" charset="0"/>
                <a:ea typeface="Calibri" pitchFamily="34" charset="-122"/>
                <a:cs typeface="Calibri" pitchFamily="34" charset="-120"/>
              </a:rPr>
              <a:t>Aug 18–24</a:t>
            </a:r>
            <a:endParaRPr lang="en-US" sz="1150" dirty="0"/>
          </a:p>
        </p:txBody>
      </p:sp>
      <p:sp>
        <p:nvSpPr>
          <p:cNvPr id="32" name="Text 25"/>
          <p:cNvSpPr txBox="1"/>
          <p:nvPr/>
        </p:nvSpPr>
        <p:spPr>
          <a:xfrm>
            <a:off x="2232329" y="5047488"/>
            <a:ext cx="1628825" cy="502920"/>
          </a:xfrm>
          <a:prstGeom prst="rect">
            <a:avLst/>
          </a:prstGeom>
          <a:noFill/>
          <a:ln/>
        </p:spPr>
        <p:txBody>
          <a:bodyPr wrap="square" lIns="0" tIns="0" rIns="0" bIns="0" rtlCol="0" anchor="t"/>
          <a:lstStyle/>
          <a:p>
            <a:pPr indent="0" marL="0">
              <a:buNone/>
            </a:pPr>
            <a:r>
              <a:rPr lang="en-US" sz="1100" b="1" dirty="0">
                <a:solidFill>
                  <a:srgbClr val="10201F"/>
                </a:solidFill>
                <a:latin typeface="Calibri" pitchFamily="34" charset="0"/>
                <a:ea typeface="Calibri" pitchFamily="34" charset="-122"/>
                <a:cs typeface="Calibri" pitchFamily="34" charset="-120"/>
              </a:rPr>
              <a:t>150,875 calls · 723 mtgs</a:t>
            </a:r>
            <a:endParaRPr lang="en-US" sz="1100" dirty="0"/>
          </a:p>
        </p:txBody>
      </p:sp>
      <p:sp>
        <p:nvSpPr>
          <p:cNvPr id="33" name="Shape 26"/>
          <p:cNvSpPr/>
          <p:nvPr/>
        </p:nvSpPr>
        <p:spPr>
          <a:xfrm>
            <a:off x="3916017" y="4206240"/>
            <a:ext cx="1628825" cy="502920"/>
          </a:xfrm>
          <a:prstGeom prst="roundRect">
            <a:avLst>
              <a:gd name="adj" fmla="val 9091"/>
            </a:avLst>
          </a:prstGeom>
          <a:solidFill>
            <a:srgbClr val="2A78D6"/>
          </a:solidFill>
          <a:ln/>
        </p:spPr>
      </p:sp>
      <p:sp>
        <p:nvSpPr>
          <p:cNvPr id="34" name="Text 27"/>
          <p:cNvSpPr txBox="1"/>
          <p:nvPr/>
        </p:nvSpPr>
        <p:spPr>
          <a:xfrm>
            <a:off x="4007457" y="4206240"/>
            <a:ext cx="1491665"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Dev</a:t>
            </a:r>
            <a:endParaRPr lang="en-US" sz="1200" dirty="0"/>
          </a:p>
        </p:txBody>
      </p:sp>
      <p:sp>
        <p:nvSpPr>
          <p:cNvPr id="35" name="Text 28"/>
          <p:cNvSpPr txBox="1"/>
          <p:nvPr/>
        </p:nvSpPr>
        <p:spPr>
          <a:xfrm>
            <a:off x="3916017" y="4800600"/>
            <a:ext cx="1628825" cy="274320"/>
          </a:xfrm>
          <a:prstGeom prst="rect">
            <a:avLst/>
          </a:prstGeom>
          <a:noFill/>
          <a:ln/>
        </p:spPr>
        <p:txBody>
          <a:bodyPr wrap="square" lIns="0" tIns="0" rIns="0" bIns="0" rtlCol="0" anchor="ctr"/>
          <a:lstStyle/>
          <a:p>
            <a:pPr indent="0" marL="0">
              <a:buNone/>
            </a:pPr>
            <a:r>
              <a:rPr lang="en-US" sz="1150" dirty="0">
                <a:solidFill>
                  <a:srgbClr val="4A5D5B"/>
                </a:solidFill>
                <a:latin typeface="Calibri" pitchFamily="34" charset="0"/>
                <a:ea typeface="Calibri" pitchFamily="34" charset="-122"/>
                <a:cs typeface="Calibri" pitchFamily="34" charset="-120"/>
              </a:rPr>
              <a:t>Aug 25–31</a:t>
            </a:r>
            <a:endParaRPr lang="en-US" sz="1150" dirty="0"/>
          </a:p>
        </p:txBody>
      </p:sp>
      <p:sp>
        <p:nvSpPr>
          <p:cNvPr id="36" name="Text 29"/>
          <p:cNvSpPr txBox="1"/>
          <p:nvPr/>
        </p:nvSpPr>
        <p:spPr>
          <a:xfrm>
            <a:off x="3916017" y="5047488"/>
            <a:ext cx="1628825" cy="502920"/>
          </a:xfrm>
          <a:prstGeom prst="rect">
            <a:avLst/>
          </a:prstGeom>
          <a:noFill/>
          <a:ln/>
        </p:spPr>
        <p:txBody>
          <a:bodyPr wrap="square" lIns="0" tIns="0" rIns="0" bIns="0" rtlCol="0" anchor="t"/>
          <a:lstStyle/>
          <a:p>
            <a:pPr indent="0" marL="0">
              <a:buNone/>
            </a:pPr>
            <a:r>
              <a:rPr lang="en-US" sz="1100" b="1" dirty="0">
                <a:solidFill>
                  <a:srgbClr val="10201F"/>
                </a:solidFill>
                <a:latin typeface="Calibri" pitchFamily="34" charset="0"/>
                <a:ea typeface="Calibri" pitchFamily="34" charset="-122"/>
                <a:cs typeface="Calibri" pitchFamily="34" charset="-120"/>
              </a:rPr>
              <a:t>165,323 calls · 628 mtgs</a:t>
            </a:r>
            <a:endParaRPr lang="en-US" sz="1100" dirty="0"/>
          </a:p>
        </p:txBody>
      </p:sp>
      <p:sp>
        <p:nvSpPr>
          <p:cNvPr id="37" name="Shape 30"/>
          <p:cNvSpPr/>
          <p:nvPr/>
        </p:nvSpPr>
        <p:spPr>
          <a:xfrm>
            <a:off x="5599706" y="4206240"/>
            <a:ext cx="3071986" cy="502920"/>
          </a:xfrm>
          <a:prstGeom prst="roundRect">
            <a:avLst>
              <a:gd name="adj" fmla="val 9091"/>
            </a:avLst>
          </a:prstGeom>
          <a:solidFill>
            <a:srgbClr val="EEF4F2"/>
          </a:solidFill>
          <a:ln/>
        </p:spPr>
      </p:sp>
      <p:sp>
        <p:nvSpPr>
          <p:cNvPr id="38" name="Text 31"/>
          <p:cNvSpPr txBox="1"/>
          <p:nvPr/>
        </p:nvSpPr>
        <p:spPr>
          <a:xfrm>
            <a:off x="5691146" y="4206240"/>
            <a:ext cx="2934826" cy="502920"/>
          </a:xfrm>
          <a:prstGeom prst="rect">
            <a:avLst/>
          </a:prstGeom>
          <a:noFill/>
          <a:ln/>
        </p:spPr>
        <p:txBody>
          <a:bodyPr wrap="square" lIns="0" tIns="0" rIns="0" bIns="0" rtlCol="0" anchor="ctr"/>
          <a:lstStyle/>
          <a:p>
            <a:pPr indent="0" marL="0">
              <a:buNone/>
            </a:pPr>
            <a:r>
              <a:rPr lang="en-US" sz="1200" b="1" dirty="0">
                <a:solidFill>
                  <a:srgbClr val="4A5D5B"/>
                </a:solidFill>
                <a:latin typeface="Calibri" pitchFamily="34" charset="0"/>
                <a:ea typeface="Calibri" pitchFamily="34" charset="-122"/>
                <a:cs typeface="Calibri" pitchFamily="34" charset="-120"/>
              </a:rPr>
              <a:t>Embargo</a:t>
            </a:r>
            <a:endParaRPr lang="en-US" sz="1200" dirty="0"/>
          </a:p>
        </p:txBody>
      </p:sp>
      <p:sp>
        <p:nvSpPr>
          <p:cNvPr id="39" name="Text 32"/>
          <p:cNvSpPr txBox="1"/>
          <p:nvPr/>
        </p:nvSpPr>
        <p:spPr>
          <a:xfrm>
            <a:off x="5599706" y="4800600"/>
            <a:ext cx="3071986" cy="274320"/>
          </a:xfrm>
          <a:prstGeom prst="rect">
            <a:avLst/>
          </a:prstGeom>
          <a:noFill/>
          <a:ln/>
        </p:spPr>
        <p:txBody>
          <a:bodyPr wrap="square" lIns="0" tIns="0" rIns="0" bIns="0" rtlCol="0" anchor="ctr"/>
          <a:lstStyle/>
          <a:p>
            <a:pPr indent="0" marL="0">
              <a:buNone/>
            </a:pPr>
            <a:r>
              <a:rPr lang="en-US" sz="1150" dirty="0">
                <a:solidFill>
                  <a:srgbClr val="4A5D5B"/>
                </a:solidFill>
                <a:latin typeface="Calibri" pitchFamily="34" charset="0"/>
                <a:ea typeface="Calibri" pitchFamily="34" charset="-122"/>
                <a:cs typeface="Calibri" pitchFamily="34" charset="-120"/>
              </a:rPr>
              <a:t>Sep 1–13</a:t>
            </a:r>
            <a:endParaRPr lang="en-US" sz="1150" dirty="0"/>
          </a:p>
        </p:txBody>
      </p:sp>
      <p:sp>
        <p:nvSpPr>
          <p:cNvPr id="40" name="Text 33"/>
          <p:cNvSpPr txBox="1"/>
          <p:nvPr/>
        </p:nvSpPr>
        <p:spPr>
          <a:xfrm>
            <a:off x="5599706" y="5047488"/>
            <a:ext cx="3071986" cy="502920"/>
          </a:xfrm>
          <a:prstGeom prst="rect">
            <a:avLst/>
          </a:prstGeom>
          <a:noFill/>
          <a:ln/>
        </p:spPr>
        <p:txBody>
          <a:bodyPr wrap="square" lIns="0" tIns="0" rIns="0" bIns="0" rtlCol="0" anchor="t"/>
          <a:lstStyle/>
          <a:p>
            <a:pPr indent="0" marL="0">
              <a:buNone/>
            </a:pPr>
            <a:r>
              <a:rPr lang="en-US" sz="1100" b="1" dirty="0">
                <a:solidFill>
                  <a:srgbClr val="10201F"/>
                </a:solidFill>
                <a:latin typeface="Calibri" pitchFamily="34" charset="0"/>
                <a:ea typeface="Calibri" pitchFamily="34" charset="-122"/>
                <a:cs typeface="Calibri" pitchFamily="34" charset="-120"/>
              </a:rPr>
              <a:t>labels mature</a:t>
            </a:r>
            <a:endParaRPr lang="en-US" sz="1100" dirty="0"/>
          </a:p>
        </p:txBody>
      </p:sp>
      <p:sp>
        <p:nvSpPr>
          <p:cNvPr id="41" name="Shape 34"/>
          <p:cNvSpPr/>
          <p:nvPr/>
        </p:nvSpPr>
        <p:spPr>
          <a:xfrm>
            <a:off x="8726557" y="4206240"/>
            <a:ext cx="2831459" cy="502920"/>
          </a:xfrm>
          <a:prstGeom prst="roundRect">
            <a:avLst>
              <a:gd name="adj" fmla="val 9091"/>
            </a:avLst>
          </a:prstGeom>
          <a:solidFill>
            <a:srgbClr val="EB6834"/>
          </a:solidFill>
          <a:ln/>
        </p:spPr>
      </p:sp>
      <p:sp>
        <p:nvSpPr>
          <p:cNvPr id="42" name="Text 35"/>
          <p:cNvSpPr txBox="1"/>
          <p:nvPr/>
        </p:nvSpPr>
        <p:spPr>
          <a:xfrm>
            <a:off x="8817997" y="4206240"/>
            <a:ext cx="2694299"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Sealed test</a:t>
            </a:r>
            <a:endParaRPr lang="en-US" sz="1200" dirty="0"/>
          </a:p>
        </p:txBody>
      </p:sp>
      <p:sp>
        <p:nvSpPr>
          <p:cNvPr id="43" name="Text 36"/>
          <p:cNvSpPr txBox="1"/>
          <p:nvPr/>
        </p:nvSpPr>
        <p:spPr>
          <a:xfrm>
            <a:off x="8726557" y="4800600"/>
            <a:ext cx="2831459" cy="274320"/>
          </a:xfrm>
          <a:prstGeom prst="rect">
            <a:avLst/>
          </a:prstGeom>
          <a:noFill/>
          <a:ln/>
        </p:spPr>
        <p:txBody>
          <a:bodyPr wrap="square" lIns="0" tIns="0" rIns="0" bIns="0" rtlCol="0" anchor="ctr"/>
          <a:lstStyle/>
          <a:p>
            <a:pPr indent="0" marL="0">
              <a:buNone/>
            </a:pPr>
            <a:r>
              <a:rPr lang="en-US" sz="1150" dirty="0">
                <a:solidFill>
                  <a:srgbClr val="4A5D5B"/>
                </a:solidFill>
                <a:latin typeface="Calibri" pitchFamily="34" charset="0"/>
                <a:ea typeface="Calibri" pitchFamily="34" charset="-122"/>
                <a:cs typeface="Calibri" pitchFamily="34" charset="-120"/>
              </a:rPr>
              <a:t>Sep 14–25</a:t>
            </a:r>
            <a:endParaRPr lang="en-US" sz="1150" dirty="0"/>
          </a:p>
        </p:txBody>
      </p:sp>
      <p:sp>
        <p:nvSpPr>
          <p:cNvPr id="44" name="Text 37"/>
          <p:cNvSpPr txBox="1"/>
          <p:nvPr/>
        </p:nvSpPr>
        <p:spPr>
          <a:xfrm>
            <a:off x="8726557" y="5047488"/>
            <a:ext cx="2831459" cy="502920"/>
          </a:xfrm>
          <a:prstGeom prst="rect">
            <a:avLst/>
          </a:prstGeom>
          <a:noFill/>
          <a:ln/>
        </p:spPr>
        <p:txBody>
          <a:bodyPr wrap="square" lIns="0" tIns="0" rIns="0" bIns="0" rtlCol="0" anchor="t"/>
          <a:lstStyle/>
          <a:p>
            <a:pPr indent="0" marL="0">
              <a:buNone/>
            </a:pPr>
            <a:r>
              <a:rPr lang="en-US" sz="1100" b="1" dirty="0">
                <a:solidFill>
                  <a:srgbClr val="10201F"/>
                </a:solidFill>
                <a:latin typeface="Calibri" pitchFamily="34" charset="0"/>
                <a:ea typeface="Calibri" pitchFamily="34" charset="-122"/>
                <a:cs typeface="Calibri" pitchFamily="34" charset="-120"/>
              </a:rPr>
              <a:t>269,060 calls · 1,332 mtgs</a:t>
            </a:r>
            <a:endParaRPr lang="en-US" sz="1100" dirty="0"/>
          </a:p>
        </p:txBody>
      </p:sp>
      <p:sp>
        <p:nvSpPr>
          <p:cNvPr id="45" name="Text 38"/>
          <p:cNvSpPr txBox="1"/>
          <p:nvPr/>
        </p:nvSpPr>
        <p:spPr>
          <a:xfrm>
            <a:off x="548640" y="5715000"/>
            <a:ext cx="11064240" cy="502920"/>
          </a:xfrm>
          <a:prstGeom prst="rect">
            <a:avLst/>
          </a:prstGeom>
          <a:noFill/>
          <a:ln/>
        </p:spPr>
        <p:txBody>
          <a:bodyPr wrap="square" lIns="0" tIns="0" rIns="0" bIns="0" rtlCol="0" anchor="ctr"/>
          <a:lstStyle/>
          <a:p>
            <a:pPr indent="0" marL="0">
              <a:buNone/>
            </a:pPr>
            <a:r>
              <a:rPr lang="en-US" sz="1200" i="1" dirty="0">
                <a:solidFill>
                  <a:srgbClr val="7A8B89"/>
                </a:solidFill>
                <a:latin typeface="Calibri" pitchFamily="34" charset="0"/>
                <a:ea typeface="Calibri" pitchFamily="34" charset="-122"/>
                <a:cs typeface="Calibri" pitchFamily="34" charset="-120"/>
              </a:rPr>
              <a:t>Features use only events that happened and were recorded before the call. The test was opened once, after every model was frozen, and excludes the 1,000 calls the previous model's test had used.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Mornings convert; afternoons mostly don't</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Live v4 model: % of calls leading to an attributable physical meeting within 14 days, by weekday and hour.</a:t>
            </a:r>
            <a:endParaRPr lang="en-US" sz="1500" dirty="0"/>
          </a:p>
        </p:txBody>
      </p:sp>
      <p:sp>
        <p:nvSpPr>
          <p:cNvPr id="4" name="Text 2"/>
          <p:cNvSpPr txBox="1"/>
          <p:nvPr/>
        </p:nvSpPr>
        <p:spPr>
          <a:xfrm>
            <a:off x="1280160"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09:00</a:t>
            </a:r>
            <a:endParaRPr lang="en-US" sz="1100" dirty="0"/>
          </a:p>
        </p:txBody>
      </p:sp>
      <p:sp>
        <p:nvSpPr>
          <p:cNvPr id="5" name="Text 3"/>
          <p:cNvSpPr txBox="1"/>
          <p:nvPr/>
        </p:nvSpPr>
        <p:spPr>
          <a:xfrm>
            <a:off x="1993392"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10:00</a:t>
            </a:r>
            <a:endParaRPr lang="en-US" sz="1100" dirty="0"/>
          </a:p>
        </p:txBody>
      </p:sp>
      <p:sp>
        <p:nvSpPr>
          <p:cNvPr id="6" name="Text 4"/>
          <p:cNvSpPr txBox="1"/>
          <p:nvPr/>
        </p:nvSpPr>
        <p:spPr>
          <a:xfrm>
            <a:off x="2706624"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11:00</a:t>
            </a:r>
            <a:endParaRPr lang="en-US" sz="1100" dirty="0"/>
          </a:p>
        </p:txBody>
      </p:sp>
      <p:sp>
        <p:nvSpPr>
          <p:cNvPr id="7" name="Text 5"/>
          <p:cNvSpPr txBox="1"/>
          <p:nvPr/>
        </p:nvSpPr>
        <p:spPr>
          <a:xfrm>
            <a:off x="3419856"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12:00</a:t>
            </a:r>
            <a:endParaRPr lang="en-US" sz="1100" dirty="0"/>
          </a:p>
        </p:txBody>
      </p:sp>
      <p:sp>
        <p:nvSpPr>
          <p:cNvPr id="8" name="Text 6"/>
          <p:cNvSpPr txBox="1"/>
          <p:nvPr/>
        </p:nvSpPr>
        <p:spPr>
          <a:xfrm>
            <a:off x="4133088"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13:00</a:t>
            </a:r>
            <a:endParaRPr lang="en-US" sz="1100" dirty="0"/>
          </a:p>
        </p:txBody>
      </p:sp>
      <p:sp>
        <p:nvSpPr>
          <p:cNvPr id="9" name="Text 7"/>
          <p:cNvSpPr txBox="1"/>
          <p:nvPr/>
        </p:nvSpPr>
        <p:spPr>
          <a:xfrm>
            <a:off x="4846320"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14:00</a:t>
            </a:r>
            <a:endParaRPr lang="en-US" sz="1100" dirty="0"/>
          </a:p>
        </p:txBody>
      </p:sp>
      <p:sp>
        <p:nvSpPr>
          <p:cNvPr id="10" name="Text 8"/>
          <p:cNvSpPr txBox="1"/>
          <p:nvPr/>
        </p:nvSpPr>
        <p:spPr>
          <a:xfrm>
            <a:off x="5559552"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15:00</a:t>
            </a:r>
            <a:endParaRPr lang="en-US" sz="1100" dirty="0"/>
          </a:p>
        </p:txBody>
      </p:sp>
      <p:sp>
        <p:nvSpPr>
          <p:cNvPr id="11" name="Text 9"/>
          <p:cNvSpPr txBox="1"/>
          <p:nvPr/>
        </p:nvSpPr>
        <p:spPr>
          <a:xfrm>
            <a:off x="6272784"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16:00</a:t>
            </a:r>
            <a:endParaRPr lang="en-US" sz="1100" dirty="0"/>
          </a:p>
        </p:txBody>
      </p:sp>
      <p:sp>
        <p:nvSpPr>
          <p:cNvPr id="12" name="Text 10"/>
          <p:cNvSpPr txBox="1"/>
          <p:nvPr/>
        </p:nvSpPr>
        <p:spPr>
          <a:xfrm>
            <a:off x="6986016"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17:00</a:t>
            </a:r>
            <a:endParaRPr lang="en-US" sz="1100" dirty="0"/>
          </a:p>
        </p:txBody>
      </p:sp>
      <p:sp>
        <p:nvSpPr>
          <p:cNvPr id="13" name="Text 11"/>
          <p:cNvSpPr txBox="1"/>
          <p:nvPr/>
        </p:nvSpPr>
        <p:spPr>
          <a:xfrm>
            <a:off x="7699248"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18:00</a:t>
            </a:r>
            <a:endParaRPr lang="en-US" sz="1100" dirty="0"/>
          </a:p>
        </p:txBody>
      </p:sp>
      <p:sp>
        <p:nvSpPr>
          <p:cNvPr id="14" name="Text 12"/>
          <p:cNvSpPr txBox="1"/>
          <p:nvPr/>
        </p:nvSpPr>
        <p:spPr>
          <a:xfrm>
            <a:off x="8412480" y="1737360"/>
            <a:ext cx="713232" cy="274320"/>
          </a:xfrm>
          <a:prstGeom prst="rect">
            <a:avLst/>
          </a:prstGeom>
          <a:noFill/>
          <a:ln/>
        </p:spPr>
        <p:txBody>
          <a:bodyPr wrap="square" lIns="0" tIns="0" rIns="0" bIns="0" rtlCol="0" anchor="ctr"/>
          <a:lstStyle/>
          <a:p>
            <a:pPr algn="ctr" indent="0" marL="0">
              <a:buNone/>
            </a:pPr>
            <a:r>
              <a:rPr lang="en-US" sz="1100" dirty="0">
                <a:solidFill>
                  <a:srgbClr val="4A5D5B"/>
                </a:solidFill>
                <a:latin typeface="Calibri" pitchFamily="34" charset="0"/>
                <a:ea typeface="Calibri" pitchFamily="34" charset="-122"/>
                <a:cs typeface="Calibri" pitchFamily="34" charset="-120"/>
              </a:rPr>
              <a:t>19:00</a:t>
            </a:r>
            <a:endParaRPr lang="en-US" sz="1100" dirty="0"/>
          </a:p>
        </p:txBody>
      </p:sp>
      <p:sp>
        <p:nvSpPr>
          <p:cNvPr id="15" name="Text 13"/>
          <p:cNvSpPr txBox="1"/>
          <p:nvPr/>
        </p:nvSpPr>
        <p:spPr>
          <a:xfrm>
            <a:off x="548640" y="2057400"/>
            <a:ext cx="640080" cy="530352"/>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Mon</a:t>
            </a:r>
            <a:endParaRPr lang="en-US" sz="1300" dirty="0"/>
          </a:p>
        </p:txBody>
      </p:sp>
      <p:sp>
        <p:nvSpPr>
          <p:cNvPr id="16" name="Cell Mon 9"/>
          <p:cNvSpPr/>
          <p:nvPr/>
        </p:nvSpPr>
        <p:spPr>
          <a:xfrm>
            <a:off x="1307592" y="2084832"/>
            <a:ext cx="658368" cy="475488"/>
          </a:xfrm>
          <a:prstGeom prst="roundRect">
            <a:avLst>
              <a:gd name="adj" fmla="val 7692"/>
            </a:avLst>
          </a:prstGeom>
          <a:solidFill>
            <a:srgbClr val="8FCFBE"/>
          </a:solidFill>
          <a:ln/>
        </p:spPr>
      </p:sp>
      <p:sp>
        <p:nvSpPr>
          <p:cNvPr id="17" name="Cell Mon 10"/>
          <p:cNvSpPr/>
          <p:nvPr/>
        </p:nvSpPr>
        <p:spPr>
          <a:xfrm>
            <a:off x="2020824" y="2084832"/>
            <a:ext cx="658368" cy="475488"/>
          </a:xfrm>
          <a:prstGeom prst="roundRect">
            <a:avLst>
              <a:gd name="adj" fmla="val 7692"/>
            </a:avLst>
          </a:prstGeom>
          <a:solidFill>
            <a:srgbClr val="1F8D77"/>
          </a:solidFill>
          <a:ln/>
        </p:spPr>
      </p:sp>
      <p:sp>
        <p:nvSpPr>
          <p:cNvPr id="18" name="Text 16"/>
          <p:cNvSpPr txBox="1"/>
          <p:nvPr/>
        </p:nvSpPr>
        <p:spPr>
          <a:xfrm>
            <a:off x="1993392" y="2057400"/>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0.65</a:t>
            </a:r>
            <a:endParaRPr lang="en-US" sz="1100" dirty="0"/>
          </a:p>
        </p:txBody>
      </p:sp>
      <p:sp>
        <p:nvSpPr>
          <p:cNvPr id="19" name="Cell Mon 11"/>
          <p:cNvSpPr/>
          <p:nvPr/>
        </p:nvSpPr>
        <p:spPr>
          <a:xfrm>
            <a:off x="2734056" y="2084832"/>
            <a:ext cx="658368" cy="475488"/>
          </a:xfrm>
          <a:prstGeom prst="roundRect">
            <a:avLst>
              <a:gd name="adj" fmla="val 7692"/>
            </a:avLst>
          </a:prstGeom>
          <a:solidFill>
            <a:srgbClr val="1F8D77"/>
          </a:solidFill>
          <a:ln/>
        </p:spPr>
      </p:sp>
      <p:sp>
        <p:nvSpPr>
          <p:cNvPr id="20" name="Text 18"/>
          <p:cNvSpPr txBox="1"/>
          <p:nvPr/>
        </p:nvSpPr>
        <p:spPr>
          <a:xfrm>
            <a:off x="2706624" y="2057400"/>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0.68</a:t>
            </a:r>
            <a:endParaRPr lang="en-US" sz="1100" dirty="0"/>
          </a:p>
        </p:txBody>
      </p:sp>
      <p:sp>
        <p:nvSpPr>
          <p:cNvPr id="21" name="Cell Mon 12"/>
          <p:cNvSpPr/>
          <p:nvPr/>
        </p:nvSpPr>
        <p:spPr>
          <a:xfrm>
            <a:off x="3447288" y="2084832"/>
            <a:ext cx="658368" cy="475488"/>
          </a:xfrm>
          <a:prstGeom prst="roundRect">
            <a:avLst>
              <a:gd name="adj" fmla="val 7692"/>
            </a:avLst>
          </a:prstGeom>
          <a:solidFill>
            <a:srgbClr val="8FCFBE"/>
          </a:solidFill>
          <a:ln/>
        </p:spPr>
      </p:sp>
      <p:sp>
        <p:nvSpPr>
          <p:cNvPr id="22" name="Cell Mon 13"/>
          <p:cNvSpPr/>
          <p:nvPr/>
        </p:nvSpPr>
        <p:spPr>
          <a:xfrm>
            <a:off x="4160520" y="2084832"/>
            <a:ext cx="658368" cy="475488"/>
          </a:xfrm>
          <a:prstGeom prst="roundRect">
            <a:avLst>
              <a:gd name="adj" fmla="val 7692"/>
            </a:avLst>
          </a:prstGeom>
          <a:solidFill>
            <a:srgbClr val="8FCFBE"/>
          </a:solidFill>
          <a:ln/>
        </p:spPr>
      </p:sp>
      <p:sp>
        <p:nvSpPr>
          <p:cNvPr id="23" name="Cell Mon 14"/>
          <p:cNvSpPr/>
          <p:nvPr/>
        </p:nvSpPr>
        <p:spPr>
          <a:xfrm>
            <a:off x="4873752" y="2084832"/>
            <a:ext cx="658368" cy="475488"/>
          </a:xfrm>
          <a:prstGeom prst="roundRect">
            <a:avLst>
              <a:gd name="adj" fmla="val 7692"/>
            </a:avLst>
          </a:prstGeom>
          <a:solidFill>
            <a:srgbClr val="BFE4D9"/>
          </a:solidFill>
          <a:ln/>
        </p:spPr>
      </p:sp>
      <p:sp>
        <p:nvSpPr>
          <p:cNvPr id="24" name="Cell Mon 15"/>
          <p:cNvSpPr/>
          <p:nvPr/>
        </p:nvSpPr>
        <p:spPr>
          <a:xfrm>
            <a:off x="5586984" y="2084832"/>
            <a:ext cx="658368" cy="475488"/>
          </a:xfrm>
          <a:prstGeom prst="roundRect">
            <a:avLst>
              <a:gd name="adj" fmla="val 7692"/>
            </a:avLst>
          </a:prstGeom>
          <a:solidFill>
            <a:srgbClr val="E6F4F0"/>
          </a:solidFill>
          <a:ln/>
        </p:spPr>
      </p:sp>
      <p:sp>
        <p:nvSpPr>
          <p:cNvPr id="25" name="Cell Mon 16"/>
          <p:cNvSpPr/>
          <p:nvPr/>
        </p:nvSpPr>
        <p:spPr>
          <a:xfrm>
            <a:off x="6300216" y="2084832"/>
            <a:ext cx="658368" cy="475488"/>
          </a:xfrm>
          <a:prstGeom prst="roundRect">
            <a:avLst>
              <a:gd name="adj" fmla="val 7692"/>
            </a:avLst>
          </a:prstGeom>
          <a:solidFill>
            <a:srgbClr val="8FCFBE"/>
          </a:solidFill>
          <a:ln/>
        </p:spPr>
      </p:sp>
      <p:sp>
        <p:nvSpPr>
          <p:cNvPr id="26" name="Cell Mon 17"/>
          <p:cNvSpPr/>
          <p:nvPr/>
        </p:nvSpPr>
        <p:spPr>
          <a:xfrm>
            <a:off x="7013448" y="2084832"/>
            <a:ext cx="658368" cy="475488"/>
          </a:xfrm>
          <a:prstGeom prst="roundRect">
            <a:avLst>
              <a:gd name="adj" fmla="val 7692"/>
            </a:avLst>
          </a:prstGeom>
          <a:solidFill>
            <a:srgbClr val="BFE4D9"/>
          </a:solidFill>
          <a:ln/>
        </p:spPr>
      </p:sp>
      <p:sp>
        <p:nvSpPr>
          <p:cNvPr id="27" name="Cell Mon 18"/>
          <p:cNvSpPr/>
          <p:nvPr/>
        </p:nvSpPr>
        <p:spPr>
          <a:xfrm>
            <a:off x="7726680" y="2084832"/>
            <a:ext cx="658368" cy="475488"/>
          </a:xfrm>
          <a:prstGeom prst="roundRect">
            <a:avLst>
              <a:gd name="adj" fmla="val 7692"/>
            </a:avLst>
          </a:prstGeom>
          <a:solidFill>
            <a:srgbClr val="E6F4F0"/>
          </a:solidFill>
          <a:ln/>
        </p:spPr>
      </p:sp>
      <p:sp>
        <p:nvSpPr>
          <p:cNvPr id="28" name="Cell Mon 19"/>
          <p:cNvSpPr/>
          <p:nvPr/>
        </p:nvSpPr>
        <p:spPr>
          <a:xfrm>
            <a:off x="8439912" y="2084832"/>
            <a:ext cx="658368" cy="475488"/>
          </a:xfrm>
          <a:prstGeom prst="roundRect">
            <a:avLst>
              <a:gd name="adj" fmla="val 7692"/>
            </a:avLst>
          </a:prstGeom>
          <a:solidFill>
            <a:srgbClr val="E6F4F0"/>
          </a:solidFill>
          <a:ln/>
        </p:spPr>
      </p:sp>
      <p:sp>
        <p:nvSpPr>
          <p:cNvPr id="29" name="Text 27"/>
          <p:cNvSpPr txBox="1"/>
          <p:nvPr/>
        </p:nvSpPr>
        <p:spPr>
          <a:xfrm>
            <a:off x="548640" y="2587752"/>
            <a:ext cx="640080" cy="530352"/>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Tue</a:t>
            </a:r>
            <a:endParaRPr lang="en-US" sz="1300" dirty="0"/>
          </a:p>
        </p:txBody>
      </p:sp>
      <p:sp>
        <p:nvSpPr>
          <p:cNvPr id="30" name="Cell Tue 9"/>
          <p:cNvSpPr/>
          <p:nvPr/>
        </p:nvSpPr>
        <p:spPr>
          <a:xfrm>
            <a:off x="1307592" y="2615184"/>
            <a:ext cx="658368" cy="475488"/>
          </a:xfrm>
          <a:prstGeom prst="roundRect">
            <a:avLst>
              <a:gd name="adj" fmla="val 7692"/>
            </a:avLst>
          </a:prstGeom>
          <a:solidFill>
            <a:srgbClr val="55B29C"/>
          </a:solidFill>
          <a:ln/>
        </p:spPr>
      </p:sp>
      <p:sp>
        <p:nvSpPr>
          <p:cNvPr id="31" name="Cell Tue 10"/>
          <p:cNvSpPr/>
          <p:nvPr/>
        </p:nvSpPr>
        <p:spPr>
          <a:xfrm>
            <a:off x="2020824" y="2615184"/>
            <a:ext cx="658368" cy="475488"/>
          </a:xfrm>
          <a:prstGeom prst="roundRect">
            <a:avLst>
              <a:gd name="adj" fmla="val 7692"/>
            </a:avLst>
          </a:prstGeom>
          <a:solidFill>
            <a:srgbClr val="55B29C"/>
          </a:solidFill>
          <a:ln/>
        </p:spPr>
      </p:sp>
      <p:sp>
        <p:nvSpPr>
          <p:cNvPr id="32" name="Cell Tue 11"/>
          <p:cNvSpPr/>
          <p:nvPr/>
        </p:nvSpPr>
        <p:spPr>
          <a:xfrm>
            <a:off x="2734056" y="2615184"/>
            <a:ext cx="658368" cy="475488"/>
          </a:xfrm>
          <a:prstGeom prst="roundRect">
            <a:avLst>
              <a:gd name="adj" fmla="val 7692"/>
            </a:avLst>
          </a:prstGeom>
          <a:solidFill>
            <a:srgbClr val="0B5E51"/>
          </a:solidFill>
          <a:ln/>
        </p:spPr>
      </p:sp>
      <p:sp>
        <p:nvSpPr>
          <p:cNvPr id="33" name="Text 31"/>
          <p:cNvSpPr txBox="1"/>
          <p:nvPr/>
        </p:nvSpPr>
        <p:spPr>
          <a:xfrm>
            <a:off x="2706624" y="2587752"/>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0.79</a:t>
            </a:r>
            <a:endParaRPr lang="en-US" sz="1100" dirty="0"/>
          </a:p>
        </p:txBody>
      </p:sp>
      <p:sp>
        <p:nvSpPr>
          <p:cNvPr id="34" name="Cell Tue 12"/>
          <p:cNvSpPr/>
          <p:nvPr/>
        </p:nvSpPr>
        <p:spPr>
          <a:xfrm>
            <a:off x="3447288" y="2615184"/>
            <a:ext cx="658368" cy="475488"/>
          </a:xfrm>
          <a:prstGeom prst="roundRect">
            <a:avLst>
              <a:gd name="adj" fmla="val 7692"/>
            </a:avLst>
          </a:prstGeom>
          <a:solidFill>
            <a:srgbClr val="8FCFBE"/>
          </a:solidFill>
          <a:ln/>
        </p:spPr>
      </p:sp>
      <p:sp>
        <p:nvSpPr>
          <p:cNvPr id="35" name="Cell Tue 13"/>
          <p:cNvSpPr/>
          <p:nvPr/>
        </p:nvSpPr>
        <p:spPr>
          <a:xfrm>
            <a:off x="4160520" y="2615184"/>
            <a:ext cx="658368" cy="475488"/>
          </a:xfrm>
          <a:prstGeom prst="roundRect">
            <a:avLst>
              <a:gd name="adj" fmla="val 7692"/>
            </a:avLst>
          </a:prstGeom>
          <a:solidFill>
            <a:srgbClr val="8FCFBE"/>
          </a:solidFill>
          <a:ln/>
        </p:spPr>
      </p:sp>
      <p:sp>
        <p:nvSpPr>
          <p:cNvPr id="36" name="Cell Tue 14"/>
          <p:cNvSpPr/>
          <p:nvPr/>
        </p:nvSpPr>
        <p:spPr>
          <a:xfrm>
            <a:off x="4873752" y="2615184"/>
            <a:ext cx="658368" cy="475488"/>
          </a:xfrm>
          <a:prstGeom prst="roundRect">
            <a:avLst>
              <a:gd name="adj" fmla="val 7692"/>
            </a:avLst>
          </a:prstGeom>
          <a:solidFill>
            <a:srgbClr val="55B29C"/>
          </a:solidFill>
          <a:ln/>
        </p:spPr>
      </p:sp>
      <p:sp>
        <p:nvSpPr>
          <p:cNvPr id="37" name="Cell Tue 15"/>
          <p:cNvSpPr/>
          <p:nvPr/>
        </p:nvSpPr>
        <p:spPr>
          <a:xfrm>
            <a:off x="5586984" y="2615184"/>
            <a:ext cx="658368" cy="475488"/>
          </a:xfrm>
          <a:prstGeom prst="roundRect">
            <a:avLst>
              <a:gd name="adj" fmla="val 7692"/>
            </a:avLst>
          </a:prstGeom>
          <a:solidFill>
            <a:srgbClr val="E6F4F0"/>
          </a:solidFill>
          <a:ln/>
        </p:spPr>
      </p:sp>
      <p:sp>
        <p:nvSpPr>
          <p:cNvPr id="38" name="Cell Tue 16"/>
          <p:cNvSpPr/>
          <p:nvPr/>
        </p:nvSpPr>
        <p:spPr>
          <a:xfrm>
            <a:off x="6300216" y="2615184"/>
            <a:ext cx="658368" cy="475488"/>
          </a:xfrm>
          <a:prstGeom prst="roundRect">
            <a:avLst>
              <a:gd name="adj" fmla="val 7692"/>
            </a:avLst>
          </a:prstGeom>
          <a:solidFill>
            <a:srgbClr val="BFE4D9"/>
          </a:solidFill>
          <a:ln/>
        </p:spPr>
      </p:sp>
      <p:sp>
        <p:nvSpPr>
          <p:cNvPr id="39" name="Cell Tue 17"/>
          <p:cNvSpPr/>
          <p:nvPr/>
        </p:nvSpPr>
        <p:spPr>
          <a:xfrm>
            <a:off x="7013448" y="2615184"/>
            <a:ext cx="658368" cy="475488"/>
          </a:xfrm>
          <a:prstGeom prst="roundRect">
            <a:avLst>
              <a:gd name="adj" fmla="val 7692"/>
            </a:avLst>
          </a:prstGeom>
          <a:solidFill>
            <a:srgbClr val="E6F4F0"/>
          </a:solidFill>
          <a:ln/>
        </p:spPr>
      </p:sp>
      <p:sp>
        <p:nvSpPr>
          <p:cNvPr id="40" name="Cell Tue 18"/>
          <p:cNvSpPr/>
          <p:nvPr/>
        </p:nvSpPr>
        <p:spPr>
          <a:xfrm>
            <a:off x="7726680" y="2615184"/>
            <a:ext cx="658368" cy="475488"/>
          </a:xfrm>
          <a:prstGeom prst="roundRect">
            <a:avLst>
              <a:gd name="adj" fmla="val 7692"/>
            </a:avLst>
          </a:prstGeom>
          <a:solidFill>
            <a:srgbClr val="E6F4F0"/>
          </a:solidFill>
          <a:ln/>
        </p:spPr>
      </p:sp>
      <p:sp>
        <p:nvSpPr>
          <p:cNvPr id="41" name="Cell Tue 19"/>
          <p:cNvSpPr/>
          <p:nvPr/>
        </p:nvSpPr>
        <p:spPr>
          <a:xfrm>
            <a:off x="8439912" y="2615184"/>
            <a:ext cx="658368" cy="475488"/>
          </a:xfrm>
          <a:prstGeom prst="roundRect">
            <a:avLst>
              <a:gd name="adj" fmla="val 7692"/>
            </a:avLst>
          </a:prstGeom>
          <a:solidFill>
            <a:srgbClr val="E6F4F0"/>
          </a:solidFill>
          <a:ln/>
        </p:spPr>
      </p:sp>
      <p:sp>
        <p:nvSpPr>
          <p:cNvPr id="42" name="Text 40"/>
          <p:cNvSpPr txBox="1"/>
          <p:nvPr/>
        </p:nvSpPr>
        <p:spPr>
          <a:xfrm>
            <a:off x="548640" y="3118104"/>
            <a:ext cx="640080" cy="530352"/>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Wed</a:t>
            </a:r>
            <a:endParaRPr lang="en-US" sz="1300" dirty="0"/>
          </a:p>
        </p:txBody>
      </p:sp>
      <p:sp>
        <p:nvSpPr>
          <p:cNvPr id="43" name="Cell Wed 9"/>
          <p:cNvSpPr/>
          <p:nvPr/>
        </p:nvSpPr>
        <p:spPr>
          <a:xfrm>
            <a:off x="1307592" y="3145536"/>
            <a:ext cx="658368" cy="475488"/>
          </a:xfrm>
          <a:prstGeom prst="roundRect">
            <a:avLst>
              <a:gd name="adj" fmla="val 7692"/>
            </a:avLst>
          </a:prstGeom>
          <a:solidFill>
            <a:srgbClr val="BFE4D9"/>
          </a:solidFill>
          <a:ln/>
        </p:spPr>
      </p:sp>
      <p:sp>
        <p:nvSpPr>
          <p:cNvPr id="44" name="Cell Wed 10"/>
          <p:cNvSpPr/>
          <p:nvPr/>
        </p:nvSpPr>
        <p:spPr>
          <a:xfrm>
            <a:off x="2020824" y="3145536"/>
            <a:ext cx="658368" cy="475488"/>
          </a:xfrm>
          <a:prstGeom prst="roundRect">
            <a:avLst>
              <a:gd name="adj" fmla="val 7692"/>
            </a:avLst>
          </a:prstGeom>
          <a:solidFill>
            <a:srgbClr val="1F8D77"/>
          </a:solidFill>
          <a:ln/>
        </p:spPr>
      </p:sp>
      <p:sp>
        <p:nvSpPr>
          <p:cNvPr id="45" name="Text 43"/>
          <p:cNvSpPr txBox="1"/>
          <p:nvPr/>
        </p:nvSpPr>
        <p:spPr>
          <a:xfrm>
            <a:off x="1993392" y="3118104"/>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0.66</a:t>
            </a:r>
            <a:endParaRPr lang="en-US" sz="1100" dirty="0"/>
          </a:p>
        </p:txBody>
      </p:sp>
      <p:sp>
        <p:nvSpPr>
          <p:cNvPr id="46" name="Cell Wed 11"/>
          <p:cNvSpPr/>
          <p:nvPr/>
        </p:nvSpPr>
        <p:spPr>
          <a:xfrm>
            <a:off x="2734056" y="3145536"/>
            <a:ext cx="658368" cy="475488"/>
          </a:xfrm>
          <a:prstGeom prst="roundRect">
            <a:avLst>
              <a:gd name="adj" fmla="val 7692"/>
            </a:avLst>
          </a:prstGeom>
          <a:solidFill>
            <a:srgbClr val="1F8D77"/>
          </a:solidFill>
          <a:ln/>
        </p:spPr>
      </p:sp>
      <p:sp>
        <p:nvSpPr>
          <p:cNvPr id="47" name="Text 45"/>
          <p:cNvSpPr txBox="1"/>
          <p:nvPr/>
        </p:nvSpPr>
        <p:spPr>
          <a:xfrm>
            <a:off x="2706624" y="3118104"/>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0.71</a:t>
            </a:r>
            <a:endParaRPr lang="en-US" sz="1100" dirty="0"/>
          </a:p>
        </p:txBody>
      </p:sp>
      <p:sp>
        <p:nvSpPr>
          <p:cNvPr id="48" name="Cell Wed 12"/>
          <p:cNvSpPr/>
          <p:nvPr/>
        </p:nvSpPr>
        <p:spPr>
          <a:xfrm>
            <a:off x="3447288" y="3145536"/>
            <a:ext cx="658368" cy="475488"/>
          </a:xfrm>
          <a:prstGeom prst="roundRect">
            <a:avLst>
              <a:gd name="adj" fmla="val 7692"/>
            </a:avLst>
          </a:prstGeom>
          <a:solidFill>
            <a:srgbClr val="55B29C"/>
          </a:solidFill>
          <a:ln/>
        </p:spPr>
      </p:sp>
      <p:sp>
        <p:nvSpPr>
          <p:cNvPr id="49" name="Cell Wed 13"/>
          <p:cNvSpPr/>
          <p:nvPr/>
        </p:nvSpPr>
        <p:spPr>
          <a:xfrm>
            <a:off x="4160520" y="3145536"/>
            <a:ext cx="658368" cy="475488"/>
          </a:xfrm>
          <a:prstGeom prst="roundRect">
            <a:avLst>
              <a:gd name="adj" fmla="val 7692"/>
            </a:avLst>
          </a:prstGeom>
          <a:solidFill>
            <a:srgbClr val="8FCFBE"/>
          </a:solidFill>
          <a:ln/>
        </p:spPr>
      </p:sp>
      <p:sp>
        <p:nvSpPr>
          <p:cNvPr id="50" name="Cell Wed 14"/>
          <p:cNvSpPr/>
          <p:nvPr/>
        </p:nvSpPr>
        <p:spPr>
          <a:xfrm>
            <a:off x="4873752" y="3145536"/>
            <a:ext cx="658368" cy="475488"/>
          </a:xfrm>
          <a:prstGeom prst="roundRect">
            <a:avLst>
              <a:gd name="adj" fmla="val 7692"/>
            </a:avLst>
          </a:prstGeom>
          <a:solidFill>
            <a:srgbClr val="BFE4D9"/>
          </a:solidFill>
          <a:ln/>
        </p:spPr>
      </p:sp>
      <p:sp>
        <p:nvSpPr>
          <p:cNvPr id="51" name="Cell Wed 15"/>
          <p:cNvSpPr/>
          <p:nvPr/>
        </p:nvSpPr>
        <p:spPr>
          <a:xfrm>
            <a:off x="5586984" y="3145536"/>
            <a:ext cx="658368" cy="475488"/>
          </a:xfrm>
          <a:prstGeom prst="roundRect">
            <a:avLst>
              <a:gd name="adj" fmla="val 7692"/>
            </a:avLst>
          </a:prstGeom>
          <a:solidFill>
            <a:srgbClr val="BFE4D9"/>
          </a:solidFill>
          <a:ln/>
        </p:spPr>
      </p:sp>
      <p:sp>
        <p:nvSpPr>
          <p:cNvPr id="52" name="Cell Wed 16"/>
          <p:cNvSpPr/>
          <p:nvPr/>
        </p:nvSpPr>
        <p:spPr>
          <a:xfrm>
            <a:off x="6300216" y="3145536"/>
            <a:ext cx="658368" cy="475488"/>
          </a:xfrm>
          <a:prstGeom prst="roundRect">
            <a:avLst>
              <a:gd name="adj" fmla="val 7692"/>
            </a:avLst>
          </a:prstGeom>
          <a:solidFill>
            <a:srgbClr val="BFE4D9"/>
          </a:solidFill>
          <a:ln/>
        </p:spPr>
      </p:sp>
      <p:sp>
        <p:nvSpPr>
          <p:cNvPr id="53" name="Cell Wed 17"/>
          <p:cNvSpPr/>
          <p:nvPr/>
        </p:nvSpPr>
        <p:spPr>
          <a:xfrm>
            <a:off x="7013448" y="3145536"/>
            <a:ext cx="658368" cy="475488"/>
          </a:xfrm>
          <a:prstGeom prst="roundRect">
            <a:avLst>
              <a:gd name="adj" fmla="val 7692"/>
            </a:avLst>
          </a:prstGeom>
          <a:solidFill>
            <a:srgbClr val="E6F4F0"/>
          </a:solidFill>
          <a:ln/>
        </p:spPr>
      </p:sp>
      <p:sp>
        <p:nvSpPr>
          <p:cNvPr id="54" name="Cell Wed 18"/>
          <p:cNvSpPr/>
          <p:nvPr/>
        </p:nvSpPr>
        <p:spPr>
          <a:xfrm>
            <a:off x="7726680" y="3145536"/>
            <a:ext cx="658368" cy="475488"/>
          </a:xfrm>
          <a:prstGeom prst="roundRect">
            <a:avLst>
              <a:gd name="adj" fmla="val 7692"/>
            </a:avLst>
          </a:prstGeom>
          <a:solidFill>
            <a:srgbClr val="E6F4F0"/>
          </a:solidFill>
          <a:ln/>
        </p:spPr>
      </p:sp>
      <p:sp>
        <p:nvSpPr>
          <p:cNvPr id="55" name="Cell Wed 19"/>
          <p:cNvSpPr/>
          <p:nvPr/>
        </p:nvSpPr>
        <p:spPr>
          <a:xfrm>
            <a:off x="8439912" y="3145536"/>
            <a:ext cx="658368" cy="475488"/>
          </a:xfrm>
          <a:prstGeom prst="roundRect">
            <a:avLst>
              <a:gd name="adj" fmla="val 7692"/>
            </a:avLst>
          </a:prstGeom>
          <a:solidFill>
            <a:srgbClr val="E6F4F0"/>
          </a:solidFill>
          <a:ln/>
        </p:spPr>
      </p:sp>
      <p:sp>
        <p:nvSpPr>
          <p:cNvPr id="56" name="Text 54"/>
          <p:cNvSpPr txBox="1"/>
          <p:nvPr/>
        </p:nvSpPr>
        <p:spPr>
          <a:xfrm>
            <a:off x="548640" y="3648456"/>
            <a:ext cx="640080" cy="530352"/>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Thu</a:t>
            </a:r>
            <a:endParaRPr lang="en-US" sz="1300" dirty="0"/>
          </a:p>
        </p:txBody>
      </p:sp>
      <p:sp>
        <p:nvSpPr>
          <p:cNvPr id="57" name="Cell Thu 9"/>
          <p:cNvSpPr/>
          <p:nvPr/>
        </p:nvSpPr>
        <p:spPr>
          <a:xfrm>
            <a:off x="1307592" y="3675888"/>
            <a:ext cx="658368" cy="475488"/>
          </a:xfrm>
          <a:prstGeom prst="roundRect">
            <a:avLst>
              <a:gd name="adj" fmla="val 7692"/>
            </a:avLst>
          </a:prstGeom>
          <a:solidFill>
            <a:srgbClr val="1F8D77"/>
          </a:solidFill>
          <a:ln/>
        </p:spPr>
      </p:sp>
      <p:sp>
        <p:nvSpPr>
          <p:cNvPr id="58" name="Text 56"/>
          <p:cNvSpPr txBox="1"/>
          <p:nvPr/>
        </p:nvSpPr>
        <p:spPr>
          <a:xfrm>
            <a:off x="1280160" y="3648456"/>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0.70</a:t>
            </a:r>
            <a:endParaRPr lang="en-US" sz="1100" dirty="0"/>
          </a:p>
        </p:txBody>
      </p:sp>
      <p:sp>
        <p:nvSpPr>
          <p:cNvPr id="59" name="Cell Thu 10"/>
          <p:cNvSpPr/>
          <p:nvPr/>
        </p:nvSpPr>
        <p:spPr>
          <a:xfrm>
            <a:off x="2020824" y="3675888"/>
            <a:ext cx="658368" cy="475488"/>
          </a:xfrm>
          <a:prstGeom prst="roundRect">
            <a:avLst>
              <a:gd name="adj" fmla="val 7692"/>
            </a:avLst>
          </a:prstGeom>
          <a:solidFill>
            <a:srgbClr val="0B5E51"/>
          </a:solidFill>
          <a:ln/>
        </p:spPr>
      </p:sp>
      <p:sp>
        <p:nvSpPr>
          <p:cNvPr id="60" name="Text 58"/>
          <p:cNvSpPr txBox="1"/>
          <p:nvPr/>
        </p:nvSpPr>
        <p:spPr>
          <a:xfrm>
            <a:off x="1993392" y="3648456"/>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0.79</a:t>
            </a:r>
            <a:endParaRPr lang="en-US" sz="1100" dirty="0"/>
          </a:p>
        </p:txBody>
      </p:sp>
      <p:sp>
        <p:nvSpPr>
          <p:cNvPr id="61" name="Cell Thu 11"/>
          <p:cNvSpPr/>
          <p:nvPr/>
        </p:nvSpPr>
        <p:spPr>
          <a:xfrm>
            <a:off x="2734056" y="3675888"/>
            <a:ext cx="658368" cy="475488"/>
          </a:xfrm>
          <a:prstGeom prst="roundRect">
            <a:avLst>
              <a:gd name="adj" fmla="val 7692"/>
            </a:avLst>
          </a:prstGeom>
          <a:solidFill>
            <a:srgbClr val="0B5E51"/>
          </a:solidFill>
          <a:ln/>
        </p:spPr>
      </p:sp>
      <p:sp>
        <p:nvSpPr>
          <p:cNvPr id="62" name="Text 60"/>
          <p:cNvSpPr txBox="1"/>
          <p:nvPr/>
        </p:nvSpPr>
        <p:spPr>
          <a:xfrm>
            <a:off x="2706624" y="3648456"/>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0.77</a:t>
            </a:r>
            <a:endParaRPr lang="en-US" sz="1100" dirty="0"/>
          </a:p>
        </p:txBody>
      </p:sp>
      <p:sp>
        <p:nvSpPr>
          <p:cNvPr id="63" name="Cell Thu 12"/>
          <p:cNvSpPr/>
          <p:nvPr/>
        </p:nvSpPr>
        <p:spPr>
          <a:xfrm>
            <a:off x="3447288" y="3675888"/>
            <a:ext cx="658368" cy="475488"/>
          </a:xfrm>
          <a:prstGeom prst="roundRect">
            <a:avLst>
              <a:gd name="adj" fmla="val 7692"/>
            </a:avLst>
          </a:prstGeom>
          <a:solidFill>
            <a:srgbClr val="1F8D77"/>
          </a:solidFill>
          <a:ln/>
        </p:spPr>
      </p:sp>
      <p:sp>
        <p:nvSpPr>
          <p:cNvPr id="64" name="Text 62"/>
          <p:cNvSpPr txBox="1"/>
          <p:nvPr/>
        </p:nvSpPr>
        <p:spPr>
          <a:xfrm>
            <a:off x="3419856" y="3648456"/>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0.60</a:t>
            </a:r>
            <a:endParaRPr lang="en-US" sz="1100" dirty="0"/>
          </a:p>
        </p:txBody>
      </p:sp>
      <p:sp>
        <p:nvSpPr>
          <p:cNvPr id="65" name="Cell Thu 13"/>
          <p:cNvSpPr/>
          <p:nvPr/>
        </p:nvSpPr>
        <p:spPr>
          <a:xfrm>
            <a:off x="4160520" y="3675888"/>
            <a:ext cx="658368" cy="475488"/>
          </a:xfrm>
          <a:prstGeom prst="roundRect">
            <a:avLst>
              <a:gd name="adj" fmla="val 7692"/>
            </a:avLst>
          </a:prstGeom>
          <a:solidFill>
            <a:srgbClr val="8FCFBE"/>
          </a:solidFill>
          <a:ln/>
        </p:spPr>
      </p:sp>
      <p:sp>
        <p:nvSpPr>
          <p:cNvPr id="66" name="Cell Thu 14"/>
          <p:cNvSpPr/>
          <p:nvPr/>
        </p:nvSpPr>
        <p:spPr>
          <a:xfrm>
            <a:off x="4873752" y="3675888"/>
            <a:ext cx="658368" cy="475488"/>
          </a:xfrm>
          <a:prstGeom prst="roundRect">
            <a:avLst>
              <a:gd name="adj" fmla="val 7692"/>
            </a:avLst>
          </a:prstGeom>
          <a:solidFill>
            <a:srgbClr val="8FCFBE"/>
          </a:solidFill>
          <a:ln/>
        </p:spPr>
      </p:sp>
      <p:sp>
        <p:nvSpPr>
          <p:cNvPr id="67" name="Cell Thu 15"/>
          <p:cNvSpPr/>
          <p:nvPr/>
        </p:nvSpPr>
        <p:spPr>
          <a:xfrm>
            <a:off x="5586984" y="3675888"/>
            <a:ext cx="658368" cy="475488"/>
          </a:xfrm>
          <a:prstGeom prst="roundRect">
            <a:avLst>
              <a:gd name="adj" fmla="val 7692"/>
            </a:avLst>
          </a:prstGeom>
          <a:solidFill>
            <a:srgbClr val="E6F4F0"/>
          </a:solidFill>
          <a:ln/>
        </p:spPr>
      </p:sp>
      <p:sp>
        <p:nvSpPr>
          <p:cNvPr id="68" name="Cell Thu 16"/>
          <p:cNvSpPr/>
          <p:nvPr/>
        </p:nvSpPr>
        <p:spPr>
          <a:xfrm>
            <a:off x="6300216" y="3675888"/>
            <a:ext cx="658368" cy="475488"/>
          </a:xfrm>
          <a:prstGeom prst="roundRect">
            <a:avLst>
              <a:gd name="adj" fmla="val 7692"/>
            </a:avLst>
          </a:prstGeom>
          <a:solidFill>
            <a:srgbClr val="BFE4D9"/>
          </a:solidFill>
          <a:ln/>
        </p:spPr>
      </p:sp>
      <p:sp>
        <p:nvSpPr>
          <p:cNvPr id="69" name="Cell Thu 17"/>
          <p:cNvSpPr/>
          <p:nvPr/>
        </p:nvSpPr>
        <p:spPr>
          <a:xfrm>
            <a:off x="7013448" y="3675888"/>
            <a:ext cx="658368" cy="475488"/>
          </a:xfrm>
          <a:prstGeom prst="roundRect">
            <a:avLst>
              <a:gd name="adj" fmla="val 7692"/>
            </a:avLst>
          </a:prstGeom>
          <a:solidFill>
            <a:srgbClr val="BFE4D9"/>
          </a:solidFill>
          <a:ln/>
        </p:spPr>
      </p:sp>
      <p:sp>
        <p:nvSpPr>
          <p:cNvPr id="70" name="Cell Thu 18"/>
          <p:cNvSpPr/>
          <p:nvPr/>
        </p:nvSpPr>
        <p:spPr>
          <a:xfrm>
            <a:off x="7726680" y="3675888"/>
            <a:ext cx="658368" cy="475488"/>
          </a:xfrm>
          <a:prstGeom prst="roundRect">
            <a:avLst>
              <a:gd name="adj" fmla="val 7692"/>
            </a:avLst>
          </a:prstGeom>
          <a:solidFill>
            <a:srgbClr val="E6F4F0"/>
          </a:solidFill>
          <a:ln/>
        </p:spPr>
      </p:sp>
      <p:sp>
        <p:nvSpPr>
          <p:cNvPr id="71" name="Cell Thu 19"/>
          <p:cNvSpPr/>
          <p:nvPr/>
        </p:nvSpPr>
        <p:spPr>
          <a:xfrm>
            <a:off x="8439912" y="3675888"/>
            <a:ext cx="658368" cy="475488"/>
          </a:xfrm>
          <a:prstGeom prst="roundRect">
            <a:avLst>
              <a:gd name="adj" fmla="val 7692"/>
            </a:avLst>
          </a:prstGeom>
          <a:solidFill>
            <a:srgbClr val="E6F4F0"/>
          </a:solidFill>
          <a:ln/>
        </p:spPr>
      </p:sp>
      <p:sp>
        <p:nvSpPr>
          <p:cNvPr id="72" name="Text 70"/>
          <p:cNvSpPr txBox="1"/>
          <p:nvPr/>
        </p:nvSpPr>
        <p:spPr>
          <a:xfrm>
            <a:off x="548640" y="4178808"/>
            <a:ext cx="640080" cy="530352"/>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Fri</a:t>
            </a:r>
            <a:endParaRPr lang="en-US" sz="1300" dirty="0"/>
          </a:p>
        </p:txBody>
      </p:sp>
      <p:sp>
        <p:nvSpPr>
          <p:cNvPr id="73" name="Cell Fri 9"/>
          <p:cNvSpPr/>
          <p:nvPr/>
        </p:nvSpPr>
        <p:spPr>
          <a:xfrm>
            <a:off x="1307592" y="4206240"/>
            <a:ext cx="658368" cy="475488"/>
          </a:xfrm>
          <a:prstGeom prst="roundRect">
            <a:avLst>
              <a:gd name="adj" fmla="val 7692"/>
            </a:avLst>
          </a:prstGeom>
          <a:solidFill>
            <a:srgbClr val="55B29C"/>
          </a:solidFill>
          <a:ln/>
        </p:spPr>
      </p:sp>
      <p:sp>
        <p:nvSpPr>
          <p:cNvPr id="74" name="Cell Fri 10"/>
          <p:cNvSpPr/>
          <p:nvPr/>
        </p:nvSpPr>
        <p:spPr>
          <a:xfrm>
            <a:off x="2020824" y="4206240"/>
            <a:ext cx="658368" cy="475488"/>
          </a:xfrm>
          <a:prstGeom prst="roundRect">
            <a:avLst>
              <a:gd name="adj" fmla="val 7692"/>
            </a:avLst>
          </a:prstGeom>
          <a:solidFill>
            <a:srgbClr val="1F8D77"/>
          </a:solidFill>
          <a:ln/>
        </p:spPr>
      </p:sp>
      <p:sp>
        <p:nvSpPr>
          <p:cNvPr id="75" name="Text 73"/>
          <p:cNvSpPr txBox="1"/>
          <p:nvPr/>
        </p:nvSpPr>
        <p:spPr>
          <a:xfrm>
            <a:off x="1993392" y="4178808"/>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0.74</a:t>
            </a:r>
            <a:endParaRPr lang="en-US" sz="1100" dirty="0"/>
          </a:p>
        </p:txBody>
      </p:sp>
      <p:sp>
        <p:nvSpPr>
          <p:cNvPr id="76" name="Cell Fri 11"/>
          <p:cNvSpPr/>
          <p:nvPr/>
        </p:nvSpPr>
        <p:spPr>
          <a:xfrm>
            <a:off x="2734056" y="4206240"/>
            <a:ext cx="658368" cy="475488"/>
          </a:xfrm>
          <a:prstGeom prst="roundRect">
            <a:avLst>
              <a:gd name="adj" fmla="val 7692"/>
            </a:avLst>
          </a:prstGeom>
          <a:solidFill>
            <a:srgbClr val="0B5E51"/>
          </a:solidFill>
          <a:ln/>
        </p:spPr>
      </p:sp>
      <p:sp>
        <p:nvSpPr>
          <p:cNvPr id="77" name="Text 75"/>
          <p:cNvSpPr txBox="1"/>
          <p:nvPr/>
        </p:nvSpPr>
        <p:spPr>
          <a:xfrm>
            <a:off x="2706624" y="4178808"/>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0.94</a:t>
            </a:r>
            <a:endParaRPr lang="en-US" sz="1100" dirty="0"/>
          </a:p>
        </p:txBody>
      </p:sp>
      <p:sp>
        <p:nvSpPr>
          <p:cNvPr id="78" name="Cell Fri 12"/>
          <p:cNvSpPr/>
          <p:nvPr/>
        </p:nvSpPr>
        <p:spPr>
          <a:xfrm>
            <a:off x="3447288" y="4206240"/>
            <a:ext cx="658368" cy="475488"/>
          </a:xfrm>
          <a:prstGeom prst="roundRect">
            <a:avLst>
              <a:gd name="adj" fmla="val 7692"/>
            </a:avLst>
          </a:prstGeom>
          <a:solidFill>
            <a:srgbClr val="55B29C"/>
          </a:solidFill>
          <a:ln/>
        </p:spPr>
      </p:sp>
      <p:sp>
        <p:nvSpPr>
          <p:cNvPr id="79" name="Cell Fri 13"/>
          <p:cNvSpPr/>
          <p:nvPr/>
        </p:nvSpPr>
        <p:spPr>
          <a:xfrm>
            <a:off x="4160520" y="4206240"/>
            <a:ext cx="658368" cy="475488"/>
          </a:xfrm>
          <a:prstGeom prst="roundRect">
            <a:avLst>
              <a:gd name="adj" fmla="val 7692"/>
            </a:avLst>
          </a:prstGeom>
          <a:solidFill>
            <a:srgbClr val="8FCFBE"/>
          </a:solidFill>
          <a:ln/>
        </p:spPr>
      </p:sp>
      <p:sp>
        <p:nvSpPr>
          <p:cNvPr id="80" name="Cell Fri 14"/>
          <p:cNvSpPr/>
          <p:nvPr/>
        </p:nvSpPr>
        <p:spPr>
          <a:xfrm>
            <a:off x="4873752" y="4206240"/>
            <a:ext cx="658368" cy="475488"/>
          </a:xfrm>
          <a:prstGeom prst="roundRect">
            <a:avLst>
              <a:gd name="adj" fmla="val 7692"/>
            </a:avLst>
          </a:prstGeom>
          <a:solidFill>
            <a:srgbClr val="8FCFBE"/>
          </a:solidFill>
          <a:ln/>
        </p:spPr>
      </p:sp>
      <p:sp>
        <p:nvSpPr>
          <p:cNvPr id="81" name="Cell Fri 15"/>
          <p:cNvSpPr/>
          <p:nvPr/>
        </p:nvSpPr>
        <p:spPr>
          <a:xfrm>
            <a:off x="5586984" y="4206240"/>
            <a:ext cx="658368" cy="475488"/>
          </a:xfrm>
          <a:prstGeom prst="roundRect">
            <a:avLst>
              <a:gd name="adj" fmla="val 7692"/>
            </a:avLst>
          </a:prstGeom>
          <a:solidFill>
            <a:srgbClr val="E6F4F0"/>
          </a:solidFill>
          <a:ln/>
        </p:spPr>
      </p:sp>
      <p:sp>
        <p:nvSpPr>
          <p:cNvPr id="82" name="Cell Fri 16"/>
          <p:cNvSpPr/>
          <p:nvPr/>
        </p:nvSpPr>
        <p:spPr>
          <a:xfrm>
            <a:off x="6300216" y="4206240"/>
            <a:ext cx="658368" cy="475488"/>
          </a:xfrm>
          <a:prstGeom prst="roundRect">
            <a:avLst>
              <a:gd name="adj" fmla="val 7692"/>
            </a:avLst>
          </a:prstGeom>
          <a:solidFill>
            <a:srgbClr val="8FCFBE"/>
          </a:solidFill>
          <a:ln/>
        </p:spPr>
      </p:sp>
      <p:sp>
        <p:nvSpPr>
          <p:cNvPr id="83" name="Cell Fri 17"/>
          <p:cNvSpPr/>
          <p:nvPr/>
        </p:nvSpPr>
        <p:spPr>
          <a:xfrm>
            <a:off x="7013448" y="4206240"/>
            <a:ext cx="658368" cy="475488"/>
          </a:xfrm>
          <a:prstGeom prst="roundRect">
            <a:avLst>
              <a:gd name="adj" fmla="val 7692"/>
            </a:avLst>
          </a:prstGeom>
          <a:solidFill>
            <a:srgbClr val="E6F4F0"/>
          </a:solidFill>
          <a:ln/>
        </p:spPr>
      </p:sp>
      <p:sp>
        <p:nvSpPr>
          <p:cNvPr id="84" name="Cell Fri 18"/>
          <p:cNvSpPr/>
          <p:nvPr/>
        </p:nvSpPr>
        <p:spPr>
          <a:xfrm>
            <a:off x="7726680" y="4206240"/>
            <a:ext cx="658368" cy="475488"/>
          </a:xfrm>
          <a:prstGeom prst="roundRect">
            <a:avLst>
              <a:gd name="adj" fmla="val 7692"/>
            </a:avLst>
          </a:prstGeom>
          <a:solidFill>
            <a:srgbClr val="E6F4F0"/>
          </a:solidFill>
          <a:ln/>
        </p:spPr>
      </p:sp>
      <p:sp>
        <p:nvSpPr>
          <p:cNvPr id="85" name="Cell Fri 19"/>
          <p:cNvSpPr/>
          <p:nvPr/>
        </p:nvSpPr>
        <p:spPr>
          <a:xfrm>
            <a:off x="8439912" y="4206240"/>
            <a:ext cx="658368" cy="475488"/>
          </a:xfrm>
          <a:prstGeom prst="roundRect">
            <a:avLst>
              <a:gd name="adj" fmla="val 7692"/>
            </a:avLst>
          </a:prstGeom>
          <a:solidFill>
            <a:srgbClr val="E6F4F0"/>
          </a:solidFill>
          <a:ln/>
        </p:spPr>
      </p:sp>
      <p:sp>
        <p:nvSpPr>
          <p:cNvPr id="86" name="Text 84"/>
          <p:cNvSpPr txBox="1"/>
          <p:nvPr/>
        </p:nvSpPr>
        <p:spPr>
          <a:xfrm>
            <a:off x="548640" y="4709160"/>
            <a:ext cx="640080" cy="530352"/>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Sat</a:t>
            </a:r>
            <a:endParaRPr lang="en-US" sz="1300" dirty="0"/>
          </a:p>
        </p:txBody>
      </p:sp>
      <p:sp>
        <p:nvSpPr>
          <p:cNvPr id="87" name="Cell Sat 9"/>
          <p:cNvSpPr/>
          <p:nvPr/>
        </p:nvSpPr>
        <p:spPr>
          <a:xfrm>
            <a:off x="1307592" y="4736592"/>
            <a:ext cx="658368" cy="475488"/>
          </a:xfrm>
          <a:prstGeom prst="roundRect">
            <a:avLst>
              <a:gd name="adj" fmla="val 7692"/>
            </a:avLst>
          </a:prstGeom>
          <a:solidFill>
            <a:srgbClr val="8FCFBE"/>
          </a:solidFill>
          <a:ln/>
        </p:spPr>
      </p:sp>
      <p:sp>
        <p:nvSpPr>
          <p:cNvPr id="88" name="Cell Sat 10"/>
          <p:cNvSpPr/>
          <p:nvPr/>
        </p:nvSpPr>
        <p:spPr>
          <a:xfrm>
            <a:off x="2020824" y="4736592"/>
            <a:ext cx="658368" cy="475488"/>
          </a:xfrm>
          <a:prstGeom prst="roundRect">
            <a:avLst>
              <a:gd name="adj" fmla="val 7692"/>
            </a:avLst>
          </a:prstGeom>
          <a:solidFill>
            <a:srgbClr val="55B29C"/>
          </a:solidFill>
          <a:ln/>
        </p:spPr>
      </p:sp>
      <p:sp>
        <p:nvSpPr>
          <p:cNvPr id="89" name="Cell Sat 11"/>
          <p:cNvSpPr/>
          <p:nvPr/>
        </p:nvSpPr>
        <p:spPr>
          <a:xfrm>
            <a:off x="2734056" y="4736592"/>
            <a:ext cx="658368" cy="475488"/>
          </a:xfrm>
          <a:prstGeom prst="roundRect">
            <a:avLst>
              <a:gd name="adj" fmla="val 7692"/>
            </a:avLst>
          </a:prstGeom>
          <a:solidFill>
            <a:srgbClr val="0B5E51"/>
          </a:solidFill>
          <a:ln/>
        </p:spPr>
      </p:sp>
      <p:sp>
        <p:nvSpPr>
          <p:cNvPr id="90" name="Text 88"/>
          <p:cNvSpPr txBox="1"/>
          <p:nvPr/>
        </p:nvSpPr>
        <p:spPr>
          <a:xfrm>
            <a:off x="2706624" y="4709160"/>
            <a:ext cx="713232"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0.92</a:t>
            </a:r>
            <a:endParaRPr lang="en-US" sz="1100" dirty="0"/>
          </a:p>
        </p:txBody>
      </p:sp>
      <p:sp>
        <p:nvSpPr>
          <p:cNvPr id="91" name="Cell Sat 12"/>
          <p:cNvSpPr/>
          <p:nvPr/>
        </p:nvSpPr>
        <p:spPr>
          <a:xfrm>
            <a:off x="3447288" y="4736592"/>
            <a:ext cx="658368" cy="475488"/>
          </a:xfrm>
          <a:prstGeom prst="roundRect">
            <a:avLst>
              <a:gd name="adj" fmla="val 7692"/>
            </a:avLst>
          </a:prstGeom>
          <a:solidFill>
            <a:srgbClr val="55B29C"/>
          </a:solidFill>
          <a:ln/>
        </p:spPr>
      </p:sp>
      <p:sp>
        <p:nvSpPr>
          <p:cNvPr id="92" name="Cell Sat 13"/>
          <p:cNvSpPr/>
          <p:nvPr/>
        </p:nvSpPr>
        <p:spPr>
          <a:xfrm>
            <a:off x="4160520" y="4736592"/>
            <a:ext cx="658368" cy="475488"/>
          </a:xfrm>
          <a:prstGeom prst="roundRect">
            <a:avLst>
              <a:gd name="adj" fmla="val 7692"/>
            </a:avLst>
          </a:prstGeom>
          <a:solidFill>
            <a:srgbClr val="BFE4D9"/>
          </a:solidFill>
          <a:ln/>
        </p:spPr>
      </p:sp>
      <p:sp>
        <p:nvSpPr>
          <p:cNvPr id="93" name="Cell Sat 14"/>
          <p:cNvSpPr/>
          <p:nvPr/>
        </p:nvSpPr>
        <p:spPr>
          <a:xfrm>
            <a:off x="4873752" y="4736592"/>
            <a:ext cx="658368" cy="475488"/>
          </a:xfrm>
          <a:prstGeom prst="roundRect">
            <a:avLst>
              <a:gd name="adj" fmla="val 7692"/>
            </a:avLst>
          </a:prstGeom>
          <a:solidFill>
            <a:srgbClr val="BFE4D9"/>
          </a:solidFill>
          <a:ln/>
        </p:spPr>
      </p:sp>
      <p:sp>
        <p:nvSpPr>
          <p:cNvPr id="94" name="Cell Sat 15"/>
          <p:cNvSpPr/>
          <p:nvPr/>
        </p:nvSpPr>
        <p:spPr>
          <a:xfrm>
            <a:off x="5586984" y="4736592"/>
            <a:ext cx="658368" cy="475488"/>
          </a:xfrm>
          <a:prstGeom prst="roundRect">
            <a:avLst>
              <a:gd name="adj" fmla="val 7692"/>
            </a:avLst>
          </a:prstGeom>
          <a:solidFill>
            <a:srgbClr val="BFE4D9"/>
          </a:solidFill>
          <a:ln/>
        </p:spPr>
      </p:sp>
      <p:sp>
        <p:nvSpPr>
          <p:cNvPr id="95" name="Cell Sat 16"/>
          <p:cNvSpPr/>
          <p:nvPr/>
        </p:nvSpPr>
        <p:spPr>
          <a:xfrm>
            <a:off x="6300216" y="4736592"/>
            <a:ext cx="658368" cy="475488"/>
          </a:xfrm>
          <a:prstGeom prst="roundRect">
            <a:avLst>
              <a:gd name="adj" fmla="val 7692"/>
            </a:avLst>
          </a:prstGeom>
          <a:solidFill>
            <a:srgbClr val="BFE4D9"/>
          </a:solidFill>
          <a:ln/>
        </p:spPr>
      </p:sp>
      <p:sp>
        <p:nvSpPr>
          <p:cNvPr id="96" name="Cell Sat 17"/>
          <p:cNvSpPr/>
          <p:nvPr/>
        </p:nvSpPr>
        <p:spPr>
          <a:xfrm>
            <a:off x="7013448" y="4736592"/>
            <a:ext cx="658368" cy="475488"/>
          </a:xfrm>
          <a:prstGeom prst="roundRect">
            <a:avLst>
              <a:gd name="adj" fmla="val 7692"/>
            </a:avLst>
          </a:prstGeom>
          <a:solidFill>
            <a:srgbClr val="E6F4F0"/>
          </a:solidFill>
          <a:ln/>
        </p:spPr>
      </p:sp>
      <p:sp>
        <p:nvSpPr>
          <p:cNvPr id="97" name="Cell Sat 18"/>
          <p:cNvSpPr/>
          <p:nvPr/>
        </p:nvSpPr>
        <p:spPr>
          <a:xfrm>
            <a:off x="7726680" y="4736592"/>
            <a:ext cx="658368" cy="475488"/>
          </a:xfrm>
          <a:prstGeom prst="roundRect">
            <a:avLst>
              <a:gd name="adj" fmla="val 7692"/>
            </a:avLst>
          </a:prstGeom>
          <a:solidFill>
            <a:srgbClr val="E6F4F0"/>
          </a:solidFill>
          <a:ln/>
        </p:spPr>
      </p:sp>
      <p:sp>
        <p:nvSpPr>
          <p:cNvPr id="98" name="Cell Sat 19"/>
          <p:cNvSpPr/>
          <p:nvPr/>
        </p:nvSpPr>
        <p:spPr>
          <a:xfrm>
            <a:off x="8439912" y="4736592"/>
            <a:ext cx="658368" cy="475488"/>
          </a:xfrm>
          <a:prstGeom prst="roundRect">
            <a:avLst>
              <a:gd name="adj" fmla="val 7692"/>
            </a:avLst>
          </a:prstGeom>
          <a:solidFill>
            <a:srgbClr val="E6F4F0"/>
          </a:solidFill>
          <a:ln/>
        </p:spPr>
      </p:sp>
      <p:sp>
        <p:nvSpPr>
          <p:cNvPr id="99" name="Shape 97"/>
          <p:cNvSpPr/>
          <p:nvPr/>
        </p:nvSpPr>
        <p:spPr>
          <a:xfrm>
            <a:off x="1280160" y="5440680"/>
            <a:ext cx="201168" cy="201168"/>
          </a:xfrm>
          <a:prstGeom prst="rect">
            <a:avLst/>
          </a:prstGeom>
          <a:solidFill>
            <a:srgbClr val="E6F4F0"/>
          </a:solidFill>
          <a:ln w="6350">
            <a:solidFill>
              <a:srgbClr val="D9E3E0"/>
            </a:solidFill>
            <a:prstDash val="solid"/>
          </a:ln>
        </p:spPr>
      </p:sp>
      <p:sp>
        <p:nvSpPr>
          <p:cNvPr id="100" name="Text 98"/>
          <p:cNvSpPr txBox="1"/>
          <p:nvPr/>
        </p:nvSpPr>
        <p:spPr>
          <a:xfrm>
            <a:off x="1554480" y="5413248"/>
            <a:ext cx="1005840" cy="256032"/>
          </a:xfrm>
          <a:prstGeom prst="rect">
            <a:avLst/>
          </a:prstGeom>
          <a:noFill/>
          <a:ln/>
        </p:spPr>
        <p:txBody>
          <a:bodyPr wrap="square" lIns="0" tIns="0" rIns="0" bIns="0" rtlCol="0" anchor="ctr"/>
          <a:lstStyle/>
          <a:p>
            <a:pPr indent="0" marL="0">
              <a:buNone/>
            </a:pPr>
            <a:r>
              <a:rPr lang="en-US" sz="1100" dirty="0">
                <a:solidFill>
                  <a:srgbClr val="4A5D5B"/>
                </a:solidFill>
                <a:latin typeface="Calibri" pitchFamily="34" charset="0"/>
                <a:ea typeface="Calibri" pitchFamily="34" charset="-122"/>
                <a:cs typeface="Calibri" pitchFamily="34" charset="-120"/>
              </a:rPr>
              <a:t>&lt; 0.15%</a:t>
            </a:r>
            <a:endParaRPr lang="en-US" sz="1100" dirty="0"/>
          </a:p>
        </p:txBody>
      </p:sp>
      <p:sp>
        <p:nvSpPr>
          <p:cNvPr id="101" name="Shape 99"/>
          <p:cNvSpPr/>
          <p:nvPr/>
        </p:nvSpPr>
        <p:spPr>
          <a:xfrm>
            <a:off x="2560320" y="5440680"/>
            <a:ext cx="201168" cy="201168"/>
          </a:xfrm>
          <a:prstGeom prst="rect">
            <a:avLst/>
          </a:prstGeom>
          <a:solidFill>
            <a:srgbClr val="BFE4D9"/>
          </a:solidFill>
          <a:ln w="6350">
            <a:solidFill>
              <a:srgbClr val="D9E3E0"/>
            </a:solidFill>
            <a:prstDash val="solid"/>
          </a:ln>
        </p:spPr>
      </p:sp>
      <p:sp>
        <p:nvSpPr>
          <p:cNvPr id="102" name="Text 100"/>
          <p:cNvSpPr txBox="1"/>
          <p:nvPr/>
        </p:nvSpPr>
        <p:spPr>
          <a:xfrm>
            <a:off x="2834640" y="5413248"/>
            <a:ext cx="1005840" cy="256032"/>
          </a:xfrm>
          <a:prstGeom prst="rect">
            <a:avLst/>
          </a:prstGeom>
          <a:noFill/>
          <a:ln/>
        </p:spPr>
        <p:txBody>
          <a:bodyPr wrap="square" lIns="0" tIns="0" rIns="0" bIns="0" rtlCol="0" anchor="ctr"/>
          <a:lstStyle/>
          <a:p>
            <a:pPr indent="0" marL="0">
              <a:buNone/>
            </a:pPr>
            <a:r>
              <a:rPr lang="en-US" sz="1100" dirty="0">
                <a:solidFill>
                  <a:srgbClr val="4A5D5B"/>
                </a:solidFill>
                <a:latin typeface="Calibri" pitchFamily="34" charset="0"/>
                <a:ea typeface="Calibri" pitchFamily="34" charset="-122"/>
                <a:cs typeface="Calibri" pitchFamily="34" charset="-120"/>
              </a:rPr>
              <a:t>0.15–0.30</a:t>
            </a:r>
            <a:endParaRPr lang="en-US" sz="1100" dirty="0"/>
          </a:p>
        </p:txBody>
      </p:sp>
      <p:sp>
        <p:nvSpPr>
          <p:cNvPr id="103" name="Shape 101"/>
          <p:cNvSpPr/>
          <p:nvPr/>
        </p:nvSpPr>
        <p:spPr>
          <a:xfrm>
            <a:off x="3840480" y="5440680"/>
            <a:ext cx="201168" cy="201168"/>
          </a:xfrm>
          <a:prstGeom prst="rect">
            <a:avLst/>
          </a:prstGeom>
          <a:solidFill>
            <a:srgbClr val="8FCFBE"/>
          </a:solidFill>
          <a:ln w="6350">
            <a:solidFill>
              <a:srgbClr val="D9E3E0"/>
            </a:solidFill>
            <a:prstDash val="solid"/>
          </a:ln>
        </p:spPr>
      </p:sp>
      <p:sp>
        <p:nvSpPr>
          <p:cNvPr id="104" name="Text 102"/>
          <p:cNvSpPr txBox="1"/>
          <p:nvPr/>
        </p:nvSpPr>
        <p:spPr>
          <a:xfrm>
            <a:off x="4114800" y="5413248"/>
            <a:ext cx="1005840" cy="256032"/>
          </a:xfrm>
          <a:prstGeom prst="rect">
            <a:avLst/>
          </a:prstGeom>
          <a:noFill/>
          <a:ln/>
        </p:spPr>
        <p:txBody>
          <a:bodyPr wrap="square" lIns="0" tIns="0" rIns="0" bIns="0" rtlCol="0" anchor="ctr"/>
          <a:lstStyle/>
          <a:p>
            <a:pPr indent="0" marL="0">
              <a:buNone/>
            </a:pPr>
            <a:r>
              <a:rPr lang="en-US" sz="1100" dirty="0">
                <a:solidFill>
                  <a:srgbClr val="4A5D5B"/>
                </a:solidFill>
                <a:latin typeface="Calibri" pitchFamily="34" charset="0"/>
                <a:ea typeface="Calibri" pitchFamily="34" charset="-122"/>
                <a:cs typeface="Calibri" pitchFamily="34" charset="-120"/>
              </a:rPr>
              <a:t>0.30–0.45</a:t>
            </a:r>
            <a:endParaRPr lang="en-US" sz="1100" dirty="0"/>
          </a:p>
        </p:txBody>
      </p:sp>
      <p:sp>
        <p:nvSpPr>
          <p:cNvPr id="105" name="Shape 103"/>
          <p:cNvSpPr/>
          <p:nvPr/>
        </p:nvSpPr>
        <p:spPr>
          <a:xfrm>
            <a:off x="5120640" y="5440680"/>
            <a:ext cx="201168" cy="201168"/>
          </a:xfrm>
          <a:prstGeom prst="rect">
            <a:avLst/>
          </a:prstGeom>
          <a:solidFill>
            <a:srgbClr val="55B29C"/>
          </a:solidFill>
          <a:ln w="6350">
            <a:solidFill>
              <a:srgbClr val="D9E3E0"/>
            </a:solidFill>
            <a:prstDash val="solid"/>
          </a:ln>
        </p:spPr>
      </p:sp>
      <p:sp>
        <p:nvSpPr>
          <p:cNvPr id="106" name="Text 104"/>
          <p:cNvSpPr txBox="1"/>
          <p:nvPr/>
        </p:nvSpPr>
        <p:spPr>
          <a:xfrm>
            <a:off x="5394960" y="5413248"/>
            <a:ext cx="1005840" cy="256032"/>
          </a:xfrm>
          <a:prstGeom prst="rect">
            <a:avLst/>
          </a:prstGeom>
          <a:noFill/>
          <a:ln/>
        </p:spPr>
        <p:txBody>
          <a:bodyPr wrap="square" lIns="0" tIns="0" rIns="0" bIns="0" rtlCol="0" anchor="ctr"/>
          <a:lstStyle/>
          <a:p>
            <a:pPr indent="0" marL="0">
              <a:buNone/>
            </a:pPr>
            <a:r>
              <a:rPr lang="en-US" sz="1100" dirty="0">
                <a:solidFill>
                  <a:srgbClr val="4A5D5B"/>
                </a:solidFill>
                <a:latin typeface="Calibri" pitchFamily="34" charset="0"/>
                <a:ea typeface="Calibri" pitchFamily="34" charset="-122"/>
                <a:cs typeface="Calibri" pitchFamily="34" charset="-120"/>
              </a:rPr>
              <a:t>0.45–0.60</a:t>
            </a:r>
            <a:endParaRPr lang="en-US" sz="1100" dirty="0"/>
          </a:p>
        </p:txBody>
      </p:sp>
      <p:sp>
        <p:nvSpPr>
          <p:cNvPr id="107" name="Shape 105"/>
          <p:cNvSpPr/>
          <p:nvPr/>
        </p:nvSpPr>
        <p:spPr>
          <a:xfrm>
            <a:off x="6400800" y="5440680"/>
            <a:ext cx="201168" cy="201168"/>
          </a:xfrm>
          <a:prstGeom prst="rect">
            <a:avLst/>
          </a:prstGeom>
          <a:solidFill>
            <a:srgbClr val="1F8D77"/>
          </a:solidFill>
          <a:ln w="6350">
            <a:solidFill>
              <a:srgbClr val="D9E3E0"/>
            </a:solidFill>
            <a:prstDash val="solid"/>
          </a:ln>
        </p:spPr>
      </p:sp>
      <p:sp>
        <p:nvSpPr>
          <p:cNvPr id="108" name="Text 106"/>
          <p:cNvSpPr txBox="1"/>
          <p:nvPr/>
        </p:nvSpPr>
        <p:spPr>
          <a:xfrm>
            <a:off x="6675120" y="5413248"/>
            <a:ext cx="1005840" cy="256032"/>
          </a:xfrm>
          <a:prstGeom prst="rect">
            <a:avLst/>
          </a:prstGeom>
          <a:noFill/>
          <a:ln/>
        </p:spPr>
        <p:txBody>
          <a:bodyPr wrap="square" lIns="0" tIns="0" rIns="0" bIns="0" rtlCol="0" anchor="ctr"/>
          <a:lstStyle/>
          <a:p>
            <a:pPr indent="0" marL="0">
              <a:buNone/>
            </a:pPr>
            <a:r>
              <a:rPr lang="en-US" sz="1100" dirty="0">
                <a:solidFill>
                  <a:srgbClr val="4A5D5B"/>
                </a:solidFill>
                <a:latin typeface="Calibri" pitchFamily="34" charset="0"/>
                <a:ea typeface="Calibri" pitchFamily="34" charset="-122"/>
                <a:cs typeface="Calibri" pitchFamily="34" charset="-120"/>
              </a:rPr>
              <a:t>0.60–0.75</a:t>
            </a:r>
            <a:endParaRPr lang="en-US" sz="1100" dirty="0"/>
          </a:p>
        </p:txBody>
      </p:sp>
      <p:sp>
        <p:nvSpPr>
          <p:cNvPr id="109" name="Shape 107"/>
          <p:cNvSpPr/>
          <p:nvPr/>
        </p:nvSpPr>
        <p:spPr>
          <a:xfrm>
            <a:off x="7680960" y="5440680"/>
            <a:ext cx="201168" cy="201168"/>
          </a:xfrm>
          <a:prstGeom prst="rect">
            <a:avLst/>
          </a:prstGeom>
          <a:solidFill>
            <a:srgbClr val="0B5E51"/>
          </a:solidFill>
          <a:ln w="6350">
            <a:solidFill>
              <a:srgbClr val="D9E3E0"/>
            </a:solidFill>
            <a:prstDash val="solid"/>
          </a:ln>
        </p:spPr>
      </p:sp>
      <p:sp>
        <p:nvSpPr>
          <p:cNvPr id="110" name="Text 108"/>
          <p:cNvSpPr txBox="1"/>
          <p:nvPr/>
        </p:nvSpPr>
        <p:spPr>
          <a:xfrm>
            <a:off x="7955280" y="5413248"/>
            <a:ext cx="1005840" cy="256032"/>
          </a:xfrm>
          <a:prstGeom prst="rect">
            <a:avLst/>
          </a:prstGeom>
          <a:noFill/>
          <a:ln/>
        </p:spPr>
        <p:txBody>
          <a:bodyPr wrap="square" lIns="0" tIns="0" rIns="0" bIns="0" rtlCol="0" anchor="ctr"/>
          <a:lstStyle/>
          <a:p>
            <a:pPr indent="0" marL="0">
              <a:buNone/>
            </a:pPr>
            <a:r>
              <a:rPr lang="en-US" sz="1100" dirty="0">
                <a:solidFill>
                  <a:srgbClr val="4A5D5B"/>
                </a:solidFill>
                <a:latin typeface="Calibri" pitchFamily="34" charset="0"/>
                <a:ea typeface="Calibri" pitchFamily="34" charset="-122"/>
                <a:cs typeface="Calibri" pitchFamily="34" charset="-120"/>
              </a:rPr>
              <a:t>≥ 0.75%</a:t>
            </a:r>
            <a:endParaRPr lang="en-US" sz="1100" dirty="0"/>
          </a:p>
        </p:txBody>
      </p:sp>
      <p:sp>
        <p:nvSpPr>
          <p:cNvPr id="111" name="Shape 109"/>
          <p:cNvSpPr/>
          <p:nvPr/>
        </p:nvSpPr>
        <p:spPr>
          <a:xfrm>
            <a:off x="9372600" y="2057400"/>
            <a:ext cx="2240280" cy="3154680"/>
          </a:xfrm>
          <a:prstGeom prst="roundRect">
            <a:avLst>
              <a:gd name="adj" fmla="val 3265"/>
            </a:avLst>
          </a:prstGeom>
          <a:solidFill>
            <a:srgbClr val="EEF4F2"/>
          </a:solidFill>
          <a:ln/>
        </p:spPr>
      </p:sp>
      <p:sp>
        <p:nvSpPr>
          <p:cNvPr id="112" name="Text 110"/>
          <p:cNvSpPr txBox="1"/>
          <p:nvPr/>
        </p:nvSpPr>
        <p:spPr>
          <a:xfrm>
            <a:off x="9555480" y="2194560"/>
            <a:ext cx="1920240" cy="640080"/>
          </a:xfrm>
          <a:prstGeom prst="rect">
            <a:avLst/>
          </a:prstGeom>
          <a:noFill/>
          <a:ln/>
        </p:spPr>
        <p:txBody>
          <a:bodyPr wrap="square" lIns="0" tIns="0" rIns="0" bIns="0" rtlCol="0" anchor="ctr"/>
          <a:lstStyle/>
          <a:p>
            <a:pPr indent="0" marL="0">
              <a:buNone/>
            </a:pPr>
            <a:r>
              <a:rPr lang="en-US" sz="3600" b="1" dirty="0">
                <a:solidFill>
                  <a:srgbClr val="0B8A76"/>
                </a:solidFill>
                <a:latin typeface="Cambria" pitchFamily="34" charset="0"/>
                <a:ea typeface="Cambria" pitchFamily="34" charset="-122"/>
                <a:cs typeface="Cambria" pitchFamily="34" charset="-120"/>
              </a:rPr>
              <a:t>11:00</a:t>
            </a:r>
            <a:endParaRPr lang="en-US" sz="3600" dirty="0"/>
          </a:p>
        </p:txBody>
      </p:sp>
      <p:sp>
        <p:nvSpPr>
          <p:cNvPr id="113" name="Text 111"/>
          <p:cNvSpPr txBox="1"/>
          <p:nvPr/>
        </p:nvSpPr>
        <p:spPr>
          <a:xfrm>
            <a:off x="9555480" y="2834640"/>
            <a:ext cx="1920240" cy="822960"/>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is the peak on 5 of 6 calling days, at up to 0.94% per call</a:t>
            </a:r>
            <a:endParaRPr lang="en-US" sz="1300" dirty="0"/>
          </a:p>
        </p:txBody>
      </p:sp>
      <p:sp>
        <p:nvSpPr>
          <p:cNvPr id="114" name="Text 112"/>
          <p:cNvSpPr txBox="1"/>
          <p:nvPr/>
        </p:nvSpPr>
        <p:spPr>
          <a:xfrm>
            <a:off x="9555480" y="3703320"/>
            <a:ext cx="1920240" cy="548640"/>
          </a:xfrm>
          <a:prstGeom prst="rect">
            <a:avLst/>
          </a:prstGeom>
          <a:noFill/>
          <a:ln/>
        </p:spPr>
        <p:txBody>
          <a:bodyPr wrap="square" lIns="0" tIns="0" rIns="0" bIns="0" rtlCol="0" anchor="ctr"/>
          <a:lstStyle/>
          <a:p>
            <a:pPr indent="0" marL="0">
              <a:buNone/>
            </a:pPr>
            <a:r>
              <a:rPr lang="en-US" sz="3000" b="1" dirty="0">
                <a:solidFill>
                  <a:srgbClr val="EB6834"/>
                </a:solidFill>
                <a:latin typeface="Cambria" pitchFamily="34" charset="0"/>
                <a:ea typeface="Cambria" pitchFamily="34" charset="-122"/>
                <a:cs typeface="Cambria" pitchFamily="34" charset="-120"/>
              </a:rPr>
              <a:t>~40%</a:t>
            </a:r>
            <a:endParaRPr lang="en-US" sz="3000" dirty="0"/>
          </a:p>
        </p:txBody>
      </p:sp>
      <p:sp>
        <p:nvSpPr>
          <p:cNvPr id="115" name="Text 113"/>
          <p:cNvSpPr txBox="1"/>
          <p:nvPr/>
        </p:nvSpPr>
        <p:spPr>
          <a:xfrm>
            <a:off x="9555480" y="4251960"/>
            <a:ext cx="1920240" cy="868680"/>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of dials still happen 14:00–18:00, where the rate is mostly under 0.3%</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Meetings come almost entirely from one calling channel</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Share of calls vs share of attributable meetings, by calling module (train + dev, 316,198 calls).</a:t>
            </a:r>
            <a:endParaRPr lang="en-US" sz="1500" dirty="0"/>
          </a:p>
        </p:txBody>
      </p:sp>
      <p:graphicFrame>
        <p:nvGraphicFramePr>
          <p:cNvPr id="4" name="Chart 0" descr=""/>
          <p:cNvGraphicFramePr/>
          <p:nvPr/>
        </p:nvGraphicFramePr>
        <p:xfrm>
          <a:off x="548640" y="173736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83080"/>
            <a:ext cx="3931920" cy="4434840"/>
          </a:xfrm>
          <a:prstGeom prst="roundRect">
            <a:avLst>
              <a:gd name="adj" fmla="val 1860"/>
            </a:avLst>
          </a:prstGeom>
          <a:solidFill>
            <a:srgbClr val="EEF4F2"/>
          </a:solidFill>
          <a:ln/>
        </p:spPr>
      </p:sp>
      <p:sp>
        <p:nvSpPr>
          <p:cNvPr id="6" name="Text 3"/>
          <p:cNvSpPr txBox="1"/>
          <p:nvPr/>
        </p:nvSpPr>
        <p:spPr>
          <a:xfrm>
            <a:off x="7909560" y="1920240"/>
            <a:ext cx="347472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Why it matters</a:t>
            </a:r>
            <a:endParaRPr lang="en-US" sz="1600" dirty="0"/>
          </a:p>
        </p:txBody>
      </p:sp>
      <p:sp>
        <p:nvSpPr>
          <p:cNvPr id="7" name="Text 4"/>
          <p:cNvSpPr txBox="1"/>
          <p:nvPr/>
        </p:nvSpPr>
        <p:spPr>
          <a:xfrm>
            <a:off x="7909560" y="2331720"/>
            <a:ext cx="352044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A5D5B"/>
                </a:solidFill>
                <a:latin typeface="Calibri" pitchFamily="34" charset="0"/>
                <a:ea typeface="Calibri" pitchFamily="34" charset="-122"/>
                <a:cs typeface="Calibri" pitchFamily="34" charset="-120"/>
              </a:rPr>
              <a:t>A meeting is attributable only when its appointment record carries the call's ID. CSD booking calls do; NSD calls rarely do.</a:t>
            </a:r>
            <a:endParaRPr lang="en-US" sz="1300" dirty="0"/>
          </a:p>
          <a:p>
            <a:pPr marL="342900" indent="-342900">
              <a:spcAft>
                <a:spcPts val="800"/>
              </a:spcAft>
              <a:buSzPct val="100000"/>
              <a:buChar char="•"/>
            </a:pPr>
            <a:r>
              <a:rPr lang="en-US" sz="1300" dirty="0">
                <a:solidFill>
                  <a:srgbClr val="4A5D5B"/>
                </a:solidFill>
                <a:latin typeface="Calibri" pitchFamily="34" charset="0"/>
                <a:ea typeface="Calibri" pitchFamily="34" charset="-122"/>
                <a:cs typeface="Calibri" pitchFamily="34" charset="-120"/>
              </a:rPr>
              <a:t>A model that knows the channel looks 8× better on paper, but that only identifies the team dialling, not the best hour.</a:t>
            </a:r>
            <a:endParaRPr lang="en-US" sz="1300" dirty="0"/>
          </a:p>
          <a:p>
            <a:pPr marL="342900" indent="-342900">
              <a:spcAft>
                <a:spcPts val="800"/>
              </a:spcAft>
              <a:buSzPct val="100000"/>
              <a:buChar char="•"/>
            </a:pPr>
            <a:r>
              <a:rPr lang="en-US" sz="1300" dirty="0">
                <a:solidFill>
                  <a:srgbClr val="4A5D5B"/>
                </a:solidFill>
                <a:latin typeface="Calibri" pitchFamily="34" charset="0"/>
                <a:ea typeface="Calibri" pitchFamily="34" charset="-122"/>
                <a:cs typeface="Calibri" pitchFamily="34" charset="-120"/>
              </a:rPr>
              <a:t>So we judged timing quality inside the booking channel (CSDMERP + MERP, defined on training data only).</a:t>
            </a:r>
            <a:endParaRPr lang="en-US" sz="1300" dirty="0"/>
          </a:p>
          <a:p>
            <a:pPr marL="342900" indent="-342900">
              <a:buSzPct val="100000"/>
              <a:buChar char="•"/>
            </a:pPr>
            <a:r>
              <a:rPr lang="en-US" sz="1300" dirty="0">
                <a:solidFill>
                  <a:srgbClr val="4A5D5B"/>
                </a:solidFill>
                <a:latin typeface="Calibri" pitchFamily="34" charset="0"/>
                <a:ea typeface="Calibri" pitchFamily="34" charset="-122"/>
                <a:cs typeface="Calibri" pitchFamily="34" charset="-120"/>
              </a:rPr>
              <a:t>Product implication: meeting-based timing is meaningful for booking teams; other teams need a different outcome, such as validated meetings.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Seven model families: history predicts who converts</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Average precision on the sealed test. Higher is better; the base rate is what random ranking scores.</a:t>
            </a:r>
            <a:endParaRPr lang="en-US" sz="1500" dirty="0"/>
          </a:p>
        </p:txBody>
      </p:sp>
      <p:graphicFrame>
        <p:nvGraphicFramePr>
          <p:cNvPr id="4" name="Chart 0" descr=""/>
          <p:cNvGraphicFramePr/>
          <p:nvPr/>
        </p:nvGraphicFramePr>
        <p:xfrm>
          <a:off x="548640" y="173736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73736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250" dirty="0">
                <a:solidFill>
                  <a:srgbClr val="4A5D5B"/>
                </a:solidFill>
                <a:latin typeface="Calibri" pitchFamily="34" charset="0"/>
                <a:ea typeface="Calibri" pitchFamily="34" charset="-122"/>
                <a:cs typeface="Calibri" pitchFamily="34" charset="-120"/>
              </a:rPr>
              <a:t>Clock-only models (logistic, LightGBM, partial pooling) never beat the smoothed hour/day table. Seller history lifts channel precision by 52% (95% CI +0.026 to +0.039 absolute).</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But no model picks a better hour for the same seller</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Within-seller hour ranking vs the previous live model (booking channel), and meeting rate inside vs outside each model's top-4 hours.</a:t>
            </a:r>
            <a:endParaRPr lang="en-US" sz="1500" dirty="0"/>
          </a:p>
        </p:txBody>
      </p:sp>
      <p:sp>
        <p:nvSpPr>
          <p:cNvPr id="4" name="Text 2"/>
          <p:cNvSpPr txBox="1"/>
          <p:nvPr/>
        </p:nvSpPr>
        <p:spPr>
          <a:xfrm>
            <a:off x="548640" y="1783080"/>
            <a:ext cx="5486400" cy="320040"/>
          </a:xfrm>
          <a:prstGeom prst="rect">
            <a:avLst/>
          </a:prstGeom>
          <a:noFill/>
          <a:ln/>
        </p:spPr>
        <p:txBody>
          <a:bodyPr wrap="square" lIns="0" tIns="0" rIns="0" bIns="0" rtlCol="0" anchor="ctr"/>
          <a:lstStyle/>
          <a:p>
            <a:pPr indent="0" marL="0">
              <a:buNone/>
            </a:pPr>
            <a:r>
              <a:rPr lang="en-US" sz="1300" b="1" dirty="0">
                <a:solidFill>
                  <a:srgbClr val="10201F"/>
                </a:solidFill>
                <a:latin typeface="Calibri" pitchFamily="34" charset="0"/>
                <a:ea typeface="Calibri" pitchFamily="34" charset="-122"/>
                <a:cs typeface="Calibri" pitchFamily="34" charset="-120"/>
              </a:rPr>
              <a:t>Difference in concordance, 95% seller-cluster CI</a:t>
            </a:r>
            <a:endParaRPr lang="en-US" sz="1300" dirty="0"/>
          </a:p>
        </p:txBody>
      </p:sp>
      <p:sp>
        <p:nvSpPr>
          <p:cNvPr id="5" name="Shape 3"/>
          <p:cNvSpPr/>
          <p:nvPr/>
        </p:nvSpPr>
        <p:spPr>
          <a:xfrm>
            <a:off x="3130475" y="2194560"/>
            <a:ext cx="0" cy="3291840"/>
          </a:xfrm>
          <a:prstGeom prst="line">
            <a:avLst/>
          </a:prstGeom>
          <a:noFill/>
          <a:ln w="9525">
            <a:solidFill>
              <a:srgbClr val="D9E3E0"/>
            </a:solidFill>
            <a:prstDash val="dash"/>
          </a:ln>
        </p:spPr>
      </p:sp>
      <p:sp>
        <p:nvSpPr>
          <p:cNvPr id="6" name="Text 4"/>
          <p:cNvSpPr txBox="1"/>
          <p:nvPr/>
        </p:nvSpPr>
        <p:spPr>
          <a:xfrm>
            <a:off x="2810435" y="5532120"/>
            <a:ext cx="640080" cy="228600"/>
          </a:xfrm>
          <a:prstGeom prst="rect">
            <a:avLst/>
          </a:prstGeom>
          <a:noFill/>
          <a:ln/>
        </p:spPr>
        <p:txBody>
          <a:bodyPr wrap="square" lIns="0" tIns="0" rIns="0" bIns="0" rtlCol="0" anchor="ctr"/>
          <a:lstStyle/>
          <a:p>
            <a:pPr algn="ctr" indent="0" marL="0">
              <a:buNone/>
            </a:pPr>
            <a:r>
              <a:rPr lang="en-US" sz="1000" dirty="0">
                <a:solidFill>
                  <a:srgbClr val="7A8B89"/>
                </a:solidFill>
                <a:latin typeface="Calibri" pitchFamily="34" charset="0"/>
                <a:ea typeface="Calibri" pitchFamily="34" charset="-122"/>
                <a:cs typeface="Calibri" pitchFamily="34" charset="-120"/>
              </a:rPr>
              <a:t>-0.10</a:t>
            </a:r>
            <a:endParaRPr lang="en-US" sz="1000" dirty="0"/>
          </a:p>
        </p:txBody>
      </p:sp>
      <p:sp>
        <p:nvSpPr>
          <p:cNvPr id="7" name="Shape 5"/>
          <p:cNvSpPr/>
          <p:nvPr/>
        </p:nvSpPr>
        <p:spPr>
          <a:xfrm>
            <a:off x="4098664" y="2194560"/>
            <a:ext cx="0" cy="3291840"/>
          </a:xfrm>
          <a:prstGeom prst="line">
            <a:avLst/>
          </a:prstGeom>
          <a:noFill/>
          <a:ln w="9525">
            <a:solidFill>
              <a:srgbClr val="D9E3E0"/>
            </a:solidFill>
            <a:prstDash val="dash"/>
          </a:ln>
        </p:spPr>
      </p:sp>
      <p:sp>
        <p:nvSpPr>
          <p:cNvPr id="8" name="Text 6"/>
          <p:cNvSpPr txBox="1"/>
          <p:nvPr/>
        </p:nvSpPr>
        <p:spPr>
          <a:xfrm>
            <a:off x="3778624" y="5532120"/>
            <a:ext cx="640080" cy="228600"/>
          </a:xfrm>
          <a:prstGeom prst="rect">
            <a:avLst/>
          </a:prstGeom>
          <a:noFill/>
          <a:ln/>
        </p:spPr>
        <p:txBody>
          <a:bodyPr wrap="square" lIns="0" tIns="0" rIns="0" bIns="0" rtlCol="0" anchor="ctr"/>
          <a:lstStyle/>
          <a:p>
            <a:pPr algn="ctr" indent="0" marL="0">
              <a:buNone/>
            </a:pPr>
            <a:r>
              <a:rPr lang="en-US" sz="1000" dirty="0">
                <a:solidFill>
                  <a:srgbClr val="7A8B89"/>
                </a:solidFill>
                <a:latin typeface="Calibri" pitchFamily="34" charset="0"/>
                <a:ea typeface="Calibri" pitchFamily="34" charset="-122"/>
                <a:cs typeface="Calibri" pitchFamily="34" charset="-120"/>
              </a:rPr>
              <a:t>-0.05</a:t>
            </a:r>
            <a:endParaRPr lang="en-US" sz="1000" dirty="0"/>
          </a:p>
        </p:txBody>
      </p:sp>
      <p:sp>
        <p:nvSpPr>
          <p:cNvPr id="9" name="Shape 7"/>
          <p:cNvSpPr/>
          <p:nvPr/>
        </p:nvSpPr>
        <p:spPr>
          <a:xfrm>
            <a:off x="5066852" y="2194560"/>
            <a:ext cx="0" cy="3291840"/>
          </a:xfrm>
          <a:prstGeom prst="line">
            <a:avLst/>
          </a:prstGeom>
          <a:noFill/>
          <a:ln w="15875">
            <a:solidFill>
              <a:srgbClr val="4A5D5B"/>
            </a:solidFill>
            <a:prstDash val="solid"/>
          </a:ln>
        </p:spPr>
      </p:sp>
      <p:sp>
        <p:nvSpPr>
          <p:cNvPr id="10" name="Text 8"/>
          <p:cNvSpPr txBox="1"/>
          <p:nvPr/>
        </p:nvSpPr>
        <p:spPr>
          <a:xfrm>
            <a:off x="4746812" y="5532120"/>
            <a:ext cx="640080" cy="228600"/>
          </a:xfrm>
          <a:prstGeom prst="rect">
            <a:avLst/>
          </a:prstGeom>
          <a:noFill/>
          <a:ln/>
        </p:spPr>
        <p:txBody>
          <a:bodyPr wrap="square" lIns="0" tIns="0" rIns="0" bIns="0" rtlCol="0" anchor="ctr"/>
          <a:lstStyle/>
          <a:p>
            <a:pPr algn="ctr" indent="0" marL="0">
              <a:buNone/>
            </a:pPr>
            <a:r>
              <a:rPr lang="en-US" sz="1000" dirty="0">
                <a:solidFill>
                  <a:srgbClr val="7A8B89"/>
                </a:solidFill>
                <a:latin typeface="Calibri" pitchFamily="34" charset="0"/>
                <a:ea typeface="Calibri" pitchFamily="34" charset="-122"/>
                <a:cs typeface="Calibri" pitchFamily="34" charset="-120"/>
              </a:rPr>
              <a:t>0.00</a:t>
            </a:r>
            <a:endParaRPr lang="en-US" sz="1000" dirty="0"/>
          </a:p>
        </p:txBody>
      </p:sp>
      <p:sp>
        <p:nvSpPr>
          <p:cNvPr id="11" name="Shape 9"/>
          <p:cNvSpPr/>
          <p:nvPr/>
        </p:nvSpPr>
        <p:spPr>
          <a:xfrm>
            <a:off x="6035040" y="2194560"/>
            <a:ext cx="0" cy="3291840"/>
          </a:xfrm>
          <a:prstGeom prst="line">
            <a:avLst/>
          </a:prstGeom>
          <a:noFill/>
          <a:ln w="9525">
            <a:solidFill>
              <a:srgbClr val="D9E3E0"/>
            </a:solidFill>
            <a:prstDash val="dash"/>
          </a:ln>
        </p:spPr>
      </p:sp>
      <p:sp>
        <p:nvSpPr>
          <p:cNvPr id="12" name="Text 10"/>
          <p:cNvSpPr txBox="1"/>
          <p:nvPr/>
        </p:nvSpPr>
        <p:spPr>
          <a:xfrm>
            <a:off x="5715000" y="5532120"/>
            <a:ext cx="640080" cy="228600"/>
          </a:xfrm>
          <a:prstGeom prst="rect">
            <a:avLst/>
          </a:prstGeom>
          <a:noFill/>
          <a:ln/>
        </p:spPr>
        <p:txBody>
          <a:bodyPr wrap="square" lIns="0" tIns="0" rIns="0" bIns="0" rtlCol="0" anchor="ctr"/>
          <a:lstStyle/>
          <a:p>
            <a:pPr algn="ctr" indent="0" marL="0">
              <a:buNone/>
            </a:pPr>
            <a:r>
              <a:rPr lang="en-US" sz="1000" dirty="0">
                <a:solidFill>
                  <a:srgbClr val="7A8B89"/>
                </a:solidFill>
                <a:latin typeface="Calibri" pitchFamily="34" charset="0"/>
                <a:ea typeface="Calibri" pitchFamily="34" charset="-122"/>
                <a:cs typeface="Calibri" pitchFamily="34" charset="-120"/>
              </a:rPr>
              <a:t>+0.05</a:t>
            </a:r>
            <a:endParaRPr lang="en-US" sz="1000" dirty="0"/>
          </a:p>
        </p:txBody>
      </p:sp>
      <p:sp>
        <p:nvSpPr>
          <p:cNvPr id="13" name="Text 11"/>
          <p:cNvSpPr txBox="1"/>
          <p:nvPr/>
        </p:nvSpPr>
        <p:spPr>
          <a:xfrm>
            <a:off x="548640" y="2240280"/>
            <a:ext cx="2103120" cy="274320"/>
          </a:xfrm>
          <a:prstGeom prst="rect">
            <a:avLst/>
          </a:prstGeom>
          <a:noFill/>
          <a:ln/>
        </p:spPr>
        <p:txBody>
          <a:bodyPr wrap="square" lIns="0" tIns="0" rIns="0" bIns="0" rtlCol="0" anchor="ctr"/>
          <a:lstStyle/>
          <a:p>
            <a:pPr algn="r" indent="0" marL="0">
              <a:buNone/>
            </a:pPr>
            <a:r>
              <a:rPr lang="en-US" sz="1150" dirty="0">
                <a:solidFill>
                  <a:srgbClr val="4A5D5B"/>
                </a:solidFill>
                <a:latin typeface="Calibri" pitchFamily="34" charset="0"/>
                <a:ea typeface="Calibri" pitchFamily="34" charset="-122"/>
                <a:cs typeface="Calibri" pitchFamily="34" charset="-120"/>
              </a:rPr>
              <a:t>Hour/day retrained</a:t>
            </a:r>
            <a:endParaRPr lang="en-US" sz="1150" dirty="0"/>
          </a:p>
        </p:txBody>
      </p:sp>
      <p:sp>
        <p:nvSpPr>
          <p:cNvPr id="14" name="Shape 12"/>
          <p:cNvSpPr/>
          <p:nvPr/>
        </p:nvSpPr>
        <p:spPr>
          <a:xfrm>
            <a:off x="3692024" y="2377440"/>
            <a:ext cx="1492946" cy="0"/>
          </a:xfrm>
          <a:prstGeom prst="line">
            <a:avLst/>
          </a:prstGeom>
          <a:noFill/>
          <a:ln w="25400">
            <a:solidFill>
              <a:srgbClr val="2A78D6"/>
            </a:solidFill>
            <a:prstDash val="solid"/>
          </a:ln>
        </p:spPr>
      </p:sp>
      <p:sp>
        <p:nvSpPr>
          <p:cNvPr id="15" name="Shape 13"/>
          <p:cNvSpPr/>
          <p:nvPr/>
        </p:nvSpPr>
        <p:spPr>
          <a:xfrm>
            <a:off x="4375996" y="2304288"/>
            <a:ext cx="146304" cy="146304"/>
          </a:xfrm>
          <a:prstGeom prst="ellipse">
            <a:avLst/>
          </a:prstGeom>
          <a:solidFill>
            <a:srgbClr val="2A78D6"/>
          </a:solidFill>
          <a:ln w="12700">
            <a:solidFill>
              <a:srgbClr val="FFFFFF"/>
            </a:solidFill>
            <a:prstDash val="solid"/>
          </a:ln>
        </p:spPr>
      </p:sp>
      <p:sp>
        <p:nvSpPr>
          <p:cNvPr id="16" name="Text 14"/>
          <p:cNvSpPr txBox="1"/>
          <p:nvPr/>
        </p:nvSpPr>
        <p:spPr>
          <a:xfrm>
            <a:off x="548640" y="2697480"/>
            <a:ext cx="2103120" cy="274320"/>
          </a:xfrm>
          <a:prstGeom prst="rect">
            <a:avLst/>
          </a:prstGeom>
          <a:noFill/>
          <a:ln/>
        </p:spPr>
        <p:txBody>
          <a:bodyPr wrap="square" lIns="0" tIns="0" rIns="0" bIns="0" rtlCol="0" anchor="ctr"/>
          <a:lstStyle/>
          <a:p>
            <a:pPr algn="r" indent="0" marL="0">
              <a:buNone/>
            </a:pPr>
            <a:r>
              <a:rPr lang="en-US" sz="1150" dirty="0">
                <a:solidFill>
                  <a:srgbClr val="4A5D5B"/>
                </a:solidFill>
                <a:latin typeface="Calibri" pitchFamily="34" charset="0"/>
                <a:ea typeface="Calibri" pitchFamily="34" charset="-122"/>
                <a:cs typeface="Calibri" pitchFamily="34" charset="-120"/>
              </a:rPr>
              <a:t>Clock-only LightGBM</a:t>
            </a:r>
            <a:endParaRPr lang="en-US" sz="1150" dirty="0"/>
          </a:p>
        </p:txBody>
      </p:sp>
      <p:sp>
        <p:nvSpPr>
          <p:cNvPr id="17" name="Shape 15"/>
          <p:cNvSpPr/>
          <p:nvPr/>
        </p:nvSpPr>
        <p:spPr>
          <a:xfrm>
            <a:off x="4203228" y="2834640"/>
            <a:ext cx="1291563" cy="0"/>
          </a:xfrm>
          <a:prstGeom prst="line">
            <a:avLst/>
          </a:prstGeom>
          <a:noFill/>
          <a:ln w="25400">
            <a:solidFill>
              <a:srgbClr val="2A78D6"/>
            </a:solidFill>
            <a:prstDash val="solid"/>
          </a:ln>
        </p:spPr>
      </p:sp>
      <p:sp>
        <p:nvSpPr>
          <p:cNvPr id="18" name="Shape 16"/>
          <p:cNvSpPr/>
          <p:nvPr/>
        </p:nvSpPr>
        <p:spPr>
          <a:xfrm>
            <a:off x="4763271" y="2761488"/>
            <a:ext cx="146304" cy="146304"/>
          </a:xfrm>
          <a:prstGeom prst="ellipse">
            <a:avLst/>
          </a:prstGeom>
          <a:solidFill>
            <a:srgbClr val="2A78D6"/>
          </a:solidFill>
          <a:ln w="12700">
            <a:solidFill>
              <a:srgbClr val="FFFFFF"/>
            </a:solidFill>
            <a:prstDash val="solid"/>
          </a:ln>
        </p:spPr>
      </p:sp>
      <p:sp>
        <p:nvSpPr>
          <p:cNvPr id="19" name="Text 17"/>
          <p:cNvSpPr txBox="1"/>
          <p:nvPr/>
        </p:nvSpPr>
        <p:spPr>
          <a:xfrm>
            <a:off x="548640" y="3154680"/>
            <a:ext cx="2103120" cy="274320"/>
          </a:xfrm>
          <a:prstGeom prst="rect">
            <a:avLst/>
          </a:prstGeom>
          <a:noFill/>
          <a:ln/>
        </p:spPr>
        <p:txBody>
          <a:bodyPr wrap="square" lIns="0" tIns="0" rIns="0" bIns="0" rtlCol="0" anchor="ctr"/>
          <a:lstStyle/>
          <a:p>
            <a:pPr algn="r" indent="0" marL="0">
              <a:buNone/>
            </a:pPr>
            <a:r>
              <a:rPr lang="en-US" sz="1150" dirty="0">
                <a:solidFill>
                  <a:srgbClr val="4A5D5B"/>
                </a:solidFill>
                <a:latin typeface="Calibri" pitchFamily="34" charset="0"/>
                <a:ea typeface="Calibri" pitchFamily="34" charset="-122"/>
                <a:cs typeface="Calibri" pitchFamily="34" charset="-120"/>
              </a:rPr>
              <a:t>Partial pooling</a:t>
            </a:r>
            <a:endParaRPr lang="en-US" sz="1150" dirty="0"/>
          </a:p>
        </p:txBody>
      </p:sp>
      <p:sp>
        <p:nvSpPr>
          <p:cNvPr id="20" name="Shape 18"/>
          <p:cNvSpPr/>
          <p:nvPr/>
        </p:nvSpPr>
        <p:spPr>
          <a:xfrm>
            <a:off x="3932135" y="3291840"/>
            <a:ext cx="1411618" cy="0"/>
          </a:xfrm>
          <a:prstGeom prst="line">
            <a:avLst/>
          </a:prstGeom>
          <a:noFill/>
          <a:ln w="25400">
            <a:solidFill>
              <a:srgbClr val="2A78D6"/>
            </a:solidFill>
            <a:prstDash val="solid"/>
          </a:ln>
        </p:spPr>
      </p:sp>
      <p:sp>
        <p:nvSpPr>
          <p:cNvPr id="21" name="Shape 19"/>
          <p:cNvSpPr/>
          <p:nvPr/>
        </p:nvSpPr>
        <p:spPr>
          <a:xfrm>
            <a:off x="4563824" y="3218688"/>
            <a:ext cx="146304" cy="146304"/>
          </a:xfrm>
          <a:prstGeom prst="ellipse">
            <a:avLst/>
          </a:prstGeom>
          <a:solidFill>
            <a:srgbClr val="2A78D6"/>
          </a:solidFill>
          <a:ln w="12700">
            <a:solidFill>
              <a:srgbClr val="FFFFFF"/>
            </a:solidFill>
            <a:prstDash val="solid"/>
          </a:ln>
        </p:spPr>
      </p:sp>
      <p:sp>
        <p:nvSpPr>
          <p:cNvPr id="22" name="Text 20"/>
          <p:cNvSpPr txBox="1"/>
          <p:nvPr/>
        </p:nvSpPr>
        <p:spPr>
          <a:xfrm>
            <a:off x="548640" y="3611880"/>
            <a:ext cx="2103120" cy="274320"/>
          </a:xfrm>
          <a:prstGeom prst="rect">
            <a:avLst/>
          </a:prstGeom>
          <a:noFill/>
          <a:ln/>
        </p:spPr>
        <p:txBody>
          <a:bodyPr wrap="square" lIns="0" tIns="0" rIns="0" bIns="0" rtlCol="0" anchor="ctr"/>
          <a:lstStyle/>
          <a:p>
            <a:pPr algn="r" indent="0" marL="0">
              <a:buNone/>
            </a:pPr>
            <a:r>
              <a:rPr lang="en-US" sz="1150" dirty="0">
                <a:solidFill>
                  <a:srgbClr val="4A5D5B"/>
                </a:solidFill>
                <a:latin typeface="Calibri" pitchFamily="34" charset="0"/>
                <a:ea typeface="Calibri" pitchFamily="34" charset="-122"/>
                <a:cs typeface="Calibri" pitchFamily="34" charset="-120"/>
              </a:rPr>
              <a:t>Logistic, all features</a:t>
            </a:r>
            <a:endParaRPr lang="en-US" sz="1150" dirty="0"/>
          </a:p>
        </p:txBody>
      </p:sp>
      <p:sp>
        <p:nvSpPr>
          <p:cNvPr id="23" name="Shape 21"/>
          <p:cNvSpPr/>
          <p:nvPr/>
        </p:nvSpPr>
        <p:spPr>
          <a:xfrm>
            <a:off x="3684279" y="3749040"/>
            <a:ext cx="1516183" cy="0"/>
          </a:xfrm>
          <a:prstGeom prst="line">
            <a:avLst/>
          </a:prstGeom>
          <a:noFill/>
          <a:ln w="25400">
            <a:solidFill>
              <a:srgbClr val="2A78D6"/>
            </a:solidFill>
            <a:prstDash val="solid"/>
          </a:ln>
        </p:spPr>
      </p:sp>
      <p:sp>
        <p:nvSpPr>
          <p:cNvPr id="24" name="Shape 22"/>
          <p:cNvSpPr/>
          <p:nvPr/>
        </p:nvSpPr>
        <p:spPr>
          <a:xfrm>
            <a:off x="4366314" y="3675888"/>
            <a:ext cx="146304" cy="146304"/>
          </a:xfrm>
          <a:prstGeom prst="ellipse">
            <a:avLst/>
          </a:prstGeom>
          <a:solidFill>
            <a:srgbClr val="2A78D6"/>
          </a:solidFill>
          <a:ln w="12700">
            <a:solidFill>
              <a:srgbClr val="FFFFFF"/>
            </a:solidFill>
            <a:prstDash val="solid"/>
          </a:ln>
        </p:spPr>
      </p:sp>
      <p:sp>
        <p:nvSpPr>
          <p:cNvPr id="25" name="Text 23"/>
          <p:cNvSpPr txBox="1"/>
          <p:nvPr/>
        </p:nvSpPr>
        <p:spPr>
          <a:xfrm>
            <a:off x="548640" y="4069080"/>
            <a:ext cx="2103120" cy="274320"/>
          </a:xfrm>
          <a:prstGeom prst="rect">
            <a:avLst/>
          </a:prstGeom>
          <a:noFill/>
          <a:ln/>
        </p:spPr>
        <p:txBody>
          <a:bodyPr wrap="square" lIns="0" tIns="0" rIns="0" bIns="0" rtlCol="0" anchor="ctr"/>
          <a:lstStyle/>
          <a:p>
            <a:pPr algn="r" indent="0" marL="0">
              <a:buNone/>
            </a:pPr>
            <a:r>
              <a:rPr lang="en-US" sz="1150" dirty="0">
                <a:solidFill>
                  <a:srgbClr val="4A5D5B"/>
                </a:solidFill>
                <a:latin typeface="Calibri" pitchFamily="34" charset="0"/>
                <a:ea typeface="Calibri" pitchFamily="34" charset="-122"/>
                <a:cs typeface="Calibri" pitchFamily="34" charset="-120"/>
              </a:rPr>
              <a:t>LightGBM, all features</a:t>
            </a:r>
            <a:endParaRPr lang="en-US" sz="1150" dirty="0"/>
          </a:p>
        </p:txBody>
      </p:sp>
      <p:sp>
        <p:nvSpPr>
          <p:cNvPr id="26" name="Shape 24"/>
          <p:cNvSpPr/>
          <p:nvPr/>
        </p:nvSpPr>
        <p:spPr>
          <a:xfrm>
            <a:off x="4181928" y="4206240"/>
            <a:ext cx="1483264" cy="0"/>
          </a:xfrm>
          <a:prstGeom prst="line">
            <a:avLst/>
          </a:prstGeom>
          <a:noFill/>
          <a:ln w="25400">
            <a:solidFill>
              <a:srgbClr val="2A78D6"/>
            </a:solidFill>
            <a:prstDash val="solid"/>
          </a:ln>
        </p:spPr>
      </p:sp>
      <p:sp>
        <p:nvSpPr>
          <p:cNvPr id="27" name="Shape 25"/>
          <p:cNvSpPr/>
          <p:nvPr/>
        </p:nvSpPr>
        <p:spPr>
          <a:xfrm>
            <a:off x="4869772" y="4133088"/>
            <a:ext cx="146304" cy="146304"/>
          </a:xfrm>
          <a:prstGeom prst="ellipse">
            <a:avLst/>
          </a:prstGeom>
          <a:solidFill>
            <a:srgbClr val="2A78D6"/>
          </a:solidFill>
          <a:ln w="12700">
            <a:solidFill>
              <a:srgbClr val="FFFFFF"/>
            </a:solidFill>
            <a:prstDash val="solid"/>
          </a:ln>
        </p:spPr>
      </p:sp>
      <p:sp>
        <p:nvSpPr>
          <p:cNvPr id="28" name="Text 26"/>
          <p:cNvSpPr txBox="1"/>
          <p:nvPr/>
        </p:nvSpPr>
        <p:spPr>
          <a:xfrm>
            <a:off x="548640" y="4526280"/>
            <a:ext cx="2103120" cy="274320"/>
          </a:xfrm>
          <a:prstGeom prst="rect">
            <a:avLst/>
          </a:prstGeom>
          <a:noFill/>
          <a:ln/>
        </p:spPr>
        <p:txBody>
          <a:bodyPr wrap="square" lIns="0" tIns="0" rIns="0" bIns="0" rtlCol="0" anchor="ctr"/>
          <a:lstStyle/>
          <a:p>
            <a:pPr algn="r" indent="0" marL="0">
              <a:buNone/>
            </a:pPr>
            <a:r>
              <a:rPr lang="en-US" sz="1150" dirty="0">
                <a:solidFill>
                  <a:srgbClr val="4A5D5B"/>
                </a:solidFill>
                <a:latin typeface="Calibri" pitchFamily="34" charset="0"/>
                <a:ea typeface="Calibri" pitchFamily="34" charset="-122"/>
                <a:cs typeface="Calibri" pitchFamily="34" charset="-120"/>
              </a:rPr>
              <a:t>Two-stage (selected)</a:t>
            </a:r>
            <a:endParaRPr lang="en-US" sz="1150" dirty="0"/>
          </a:p>
        </p:txBody>
      </p:sp>
      <p:sp>
        <p:nvSpPr>
          <p:cNvPr id="29" name="Shape 27"/>
          <p:cNvSpPr/>
          <p:nvPr/>
        </p:nvSpPr>
        <p:spPr>
          <a:xfrm>
            <a:off x="4071554" y="4663440"/>
            <a:ext cx="1601383" cy="0"/>
          </a:xfrm>
          <a:prstGeom prst="line">
            <a:avLst/>
          </a:prstGeom>
          <a:noFill/>
          <a:ln w="25400">
            <a:solidFill>
              <a:srgbClr val="2A78D6"/>
            </a:solidFill>
            <a:prstDash val="solid"/>
          </a:ln>
        </p:spPr>
      </p:sp>
      <p:sp>
        <p:nvSpPr>
          <p:cNvPr id="30" name="Shape 28"/>
          <p:cNvSpPr/>
          <p:nvPr/>
        </p:nvSpPr>
        <p:spPr>
          <a:xfrm>
            <a:off x="4832981" y="4590288"/>
            <a:ext cx="146304" cy="146304"/>
          </a:xfrm>
          <a:prstGeom prst="ellipse">
            <a:avLst/>
          </a:prstGeom>
          <a:solidFill>
            <a:srgbClr val="2A78D6"/>
          </a:solidFill>
          <a:ln w="12700">
            <a:solidFill>
              <a:srgbClr val="FFFFFF"/>
            </a:solidFill>
            <a:prstDash val="solid"/>
          </a:ln>
        </p:spPr>
      </p:sp>
      <p:sp>
        <p:nvSpPr>
          <p:cNvPr id="31" name="Text 29"/>
          <p:cNvSpPr txBox="1"/>
          <p:nvPr/>
        </p:nvSpPr>
        <p:spPr>
          <a:xfrm>
            <a:off x="548640" y="4983480"/>
            <a:ext cx="2103120" cy="274320"/>
          </a:xfrm>
          <a:prstGeom prst="rect">
            <a:avLst/>
          </a:prstGeom>
          <a:noFill/>
          <a:ln/>
        </p:spPr>
        <p:txBody>
          <a:bodyPr wrap="square" lIns="0" tIns="0" rIns="0" bIns="0" rtlCol="0" anchor="ctr"/>
          <a:lstStyle/>
          <a:p>
            <a:pPr algn="r" indent="0" marL="0">
              <a:buNone/>
            </a:pPr>
            <a:r>
              <a:rPr lang="en-US" sz="1150" b="1" dirty="0">
                <a:solidFill>
                  <a:srgbClr val="10201F"/>
                </a:solidFill>
                <a:latin typeface="Calibri" pitchFamily="34" charset="0"/>
                <a:ea typeface="Calibri" pitchFamily="34" charset="-122"/>
                <a:cs typeface="Calibri" pitchFamily="34" charset="-120"/>
              </a:rPr>
              <a:t>Answer-history heuristic</a:t>
            </a:r>
            <a:endParaRPr lang="en-US" sz="1150" dirty="0"/>
          </a:p>
        </p:txBody>
      </p:sp>
      <p:sp>
        <p:nvSpPr>
          <p:cNvPr id="32" name="Shape 30"/>
          <p:cNvSpPr/>
          <p:nvPr/>
        </p:nvSpPr>
        <p:spPr>
          <a:xfrm>
            <a:off x="2962011" y="5120640"/>
            <a:ext cx="1518119" cy="0"/>
          </a:xfrm>
          <a:prstGeom prst="line">
            <a:avLst/>
          </a:prstGeom>
          <a:noFill/>
          <a:ln w="25400">
            <a:solidFill>
              <a:srgbClr val="EB6834"/>
            </a:solidFill>
            <a:prstDash val="solid"/>
          </a:ln>
        </p:spPr>
      </p:sp>
      <p:sp>
        <p:nvSpPr>
          <p:cNvPr id="33" name="Shape 31"/>
          <p:cNvSpPr/>
          <p:nvPr/>
        </p:nvSpPr>
        <p:spPr>
          <a:xfrm>
            <a:off x="3663409" y="5047488"/>
            <a:ext cx="146304" cy="146304"/>
          </a:xfrm>
          <a:prstGeom prst="ellipse">
            <a:avLst/>
          </a:prstGeom>
          <a:solidFill>
            <a:srgbClr val="EB6834"/>
          </a:solidFill>
          <a:ln w="12700">
            <a:solidFill>
              <a:srgbClr val="FFFFFF"/>
            </a:solidFill>
            <a:prstDash val="solid"/>
          </a:ln>
        </p:spPr>
      </p:sp>
      <p:graphicFrame>
        <p:nvGraphicFramePr>
          <p:cNvPr id="34" name="Chart 0" descr=""/>
          <p:cNvGraphicFramePr/>
          <p:nvPr/>
        </p:nvGraphicFramePr>
        <p:xfrm>
          <a:off x="6400800" y="1737360"/>
          <a:ext cx="5212080" cy="4114800"/>
        </p:xfrm>
        <a:graphic xmlns:a="http://schemas.openxmlformats.org/drawingml/2006/main">
          <a:graphicData uri="http://schemas.openxmlformats.org/drawingml/2006/chart">
            <c:chart xmlns:c="http://schemas.openxmlformats.org/drawingml/2006/chart" r:id="rId1"/>
          </a:graphicData>
        </a:graphic>
      </p:graphicFrame>
      <p:sp>
        <p:nvSpPr>
          <p:cNvPr id="35" name="Text 32"/>
          <p:cNvSpPr txBox="1"/>
          <p:nvPr/>
        </p:nvSpPr>
        <p:spPr>
          <a:xfrm>
            <a:off x="548640" y="5852160"/>
            <a:ext cx="11064240" cy="457200"/>
          </a:xfrm>
          <a:prstGeom prst="rect">
            <a:avLst/>
          </a:prstGeom>
          <a:noFill/>
          <a:ln/>
        </p:spPr>
        <p:txBody>
          <a:bodyPr wrap="square" lIns="0" tIns="0" rIns="0" bIns="0" rtlCol="0" anchor="ctr"/>
          <a:lstStyle/>
          <a:p>
            <a:pPr indent="0" marL="0">
              <a:buNone/>
            </a:pPr>
            <a:r>
              <a:rPr lang="en-US" sz="1250" dirty="0">
                <a:solidFill>
                  <a:srgbClr val="4A5D5B"/>
                </a:solidFill>
                <a:latin typeface="Calibri" pitchFamily="34" charset="0"/>
                <a:ea typeface="Calibri" pitchFamily="34" charset="-122"/>
                <a:cs typeface="Calibri" pitchFamily="34" charset="-120"/>
              </a:rPr>
              <a:t>All intervals cross zero except the answer-history heuristic, which ranks hours worse. Every model's recommended hours convert about 1.5× better, but that is association, not proof.</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The LLM explains; it never decides</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GPT-6 Luna through OpenRouter reviews each plan with read-only tools. Any deviation falls back to the rule-written explanation.</a:t>
            </a:r>
            <a:endParaRPr lang="en-US" sz="1500" dirty="0"/>
          </a:p>
        </p:txBody>
      </p:sp>
      <p:sp>
        <p:nvSpPr>
          <p:cNvPr id="4" name="Shape 2"/>
          <p:cNvSpPr/>
          <p:nvPr/>
        </p:nvSpPr>
        <p:spPr>
          <a:xfrm>
            <a:off x="548640" y="1828800"/>
            <a:ext cx="3246120" cy="1280160"/>
          </a:xfrm>
          <a:prstGeom prst="roundRect">
            <a:avLst>
              <a:gd name="adj" fmla="val 5714"/>
            </a:avLst>
          </a:prstGeom>
          <a:solidFill>
            <a:srgbClr val="FFFFFF"/>
          </a:solidFill>
          <a:ln w="12700">
            <a:solidFill>
              <a:srgbClr val="D9E3E0"/>
            </a:solidFill>
            <a:prstDash val="solid"/>
          </a:ln>
        </p:spPr>
      </p:sp>
      <p:pic>
        <p:nvPicPr>
          <p:cNvPr id="5" name="Image 0" descr="preencoded.png">    </p:cNvPr>
          <p:cNvPicPr>
            <a:picLocks noChangeAspect="1"/>
          </p:cNvPicPr>
          <p:nvPr/>
        </p:nvPicPr>
        <p:blipFill>
          <a:blip r:embed="rId1"/>
          <a:stretch>
            <a:fillRect/>
          </a:stretch>
        </p:blipFill>
        <p:spPr>
          <a:xfrm>
            <a:off x="731520" y="2011680"/>
            <a:ext cx="310896" cy="310896"/>
          </a:xfrm>
          <a:prstGeom prst="rect">
            <a:avLst/>
          </a:prstGeom>
        </p:spPr>
      </p:pic>
      <p:sp>
        <p:nvSpPr>
          <p:cNvPr id="6" name="Text 3"/>
          <p:cNvSpPr txBox="1"/>
          <p:nvPr/>
        </p:nvSpPr>
        <p:spPr>
          <a:xfrm>
            <a:off x="1143000" y="1993392"/>
            <a:ext cx="2514600" cy="347472"/>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4 read-only tools</a:t>
            </a:r>
            <a:endParaRPr lang="en-US" sz="1400" dirty="0"/>
          </a:p>
        </p:txBody>
      </p:sp>
      <p:sp>
        <p:nvSpPr>
          <p:cNvPr id="7" name="Text 4"/>
          <p:cNvSpPr txBox="1"/>
          <p:nvPr/>
        </p:nvSpPr>
        <p:spPr>
          <a:xfrm>
            <a:off x="731520" y="2395728"/>
            <a:ext cx="2926080" cy="658368"/>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prediction context, the selected scorer, retry plan, validation; arguments locked to the request's context ID</a:t>
            </a:r>
            <a:endParaRPr lang="en-US" sz="1150" dirty="0"/>
          </a:p>
        </p:txBody>
      </p:sp>
      <p:sp>
        <p:nvSpPr>
          <p:cNvPr id="8" name="Shape 5"/>
          <p:cNvSpPr/>
          <p:nvPr/>
        </p:nvSpPr>
        <p:spPr>
          <a:xfrm>
            <a:off x="3977640" y="1828800"/>
            <a:ext cx="3246120" cy="1280160"/>
          </a:xfrm>
          <a:prstGeom prst="roundRect">
            <a:avLst>
              <a:gd name="adj" fmla="val 5714"/>
            </a:avLst>
          </a:prstGeom>
          <a:solidFill>
            <a:srgbClr val="FFFFFF"/>
          </a:solidFill>
          <a:ln w="12700">
            <a:solidFill>
              <a:srgbClr val="D9E3E0"/>
            </a:solidFill>
            <a:prstDash val="solid"/>
          </a:ln>
        </p:spPr>
      </p:sp>
      <p:pic>
        <p:nvPicPr>
          <p:cNvPr id="9" name="Image 1" descr="preencoded.png">    </p:cNvPr>
          <p:cNvPicPr>
            <a:picLocks noChangeAspect="1"/>
          </p:cNvPicPr>
          <p:nvPr/>
        </p:nvPicPr>
        <p:blipFill>
          <a:blip r:embed="rId2"/>
          <a:stretch>
            <a:fillRect/>
          </a:stretch>
        </p:blipFill>
        <p:spPr>
          <a:xfrm>
            <a:off x="4160520" y="2011680"/>
            <a:ext cx="310896" cy="310896"/>
          </a:xfrm>
          <a:prstGeom prst="rect">
            <a:avLst/>
          </a:prstGeom>
        </p:spPr>
      </p:pic>
      <p:sp>
        <p:nvSpPr>
          <p:cNvPr id="10" name="Text 6"/>
          <p:cNvSpPr txBox="1"/>
          <p:nvPr/>
        </p:nvSpPr>
        <p:spPr>
          <a:xfrm>
            <a:off x="4572000" y="1993392"/>
            <a:ext cx="2514600" cy="347472"/>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Enum-pinned JSON</a:t>
            </a:r>
            <a:endParaRPr lang="en-US" sz="1400" dirty="0"/>
          </a:p>
        </p:txBody>
      </p:sp>
      <p:sp>
        <p:nvSpPr>
          <p:cNvPr id="11" name="Text 7"/>
          <p:cNvSpPr txBox="1"/>
          <p:nvPr/>
        </p:nvSpPr>
        <p:spPr>
          <a:xfrm>
            <a:off x="4160520" y="2395728"/>
            <a:ext cx="2926080" cy="658368"/>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tool, model version, route and validation status must equal the engine's own output</a:t>
            </a:r>
            <a:endParaRPr lang="en-US" sz="1150" dirty="0"/>
          </a:p>
        </p:txBody>
      </p:sp>
      <p:sp>
        <p:nvSpPr>
          <p:cNvPr id="12" name="Shape 8"/>
          <p:cNvSpPr/>
          <p:nvPr/>
        </p:nvSpPr>
        <p:spPr>
          <a:xfrm>
            <a:off x="548640" y="3246120"/>
            <a:ext cx="3246120" cy="1280160"/>
          </a:xfrm>
          <a:prstGeom prst="roundRect">
            <a:avLst>
              <a:gd name="adj" fmla="val 5714"/>
            </a:avLst>
          </a:prstGeom>
          <a:solidFill>
            <a:srgbClr val="FFFFFF"/>
          </a:solidFill>
          <a:ln w="12700">
            <a:solidFill>
              <a:srgbClr val="D9E3E0"/>
            </a:solidFill>
            <a:prstDash val="solid"/>
          </a:ln>
        </p:spPr>
      </p:sp>
      <p:pic>
        <p:nvPicPr>
          <p:cNvPr id="13" name="Image 2" descr="preencoded.png">    </p:cNvPr>
          <p:cNvPicPr>
            <a:picLocks noChangeAspect="1"/>
          </p:cNvPicPr>
          <p:nvPr/>
        </p:nvPicPr>
        <p:blipFill>
          <a:blip r:embed="rId3"/>
          <a:stretch>
            <a:fillRect/>
          </a:stretch>
        </p:blipFill>
        <p:spPr>
          <a:xfrm>
            <a:off x="731520" y="3429000"/>
            <a:ext cx="310896" cy="310896"/>
          </a:xfrm>
          <a:prstGeom prst="rect">
            <a:avLst/>
          </a:prstGeom>
        </p:spPr>
      </p:pic>
      <p:sp>
        <p:nvSpPr>
          <p:cNvPr id="14" name="Text 9"/>
          <p:cNvSpPr txBox="1"/>
          <p:nvPr/>
        </p:nvSpPr>
        <p:spPr>
          <a:xfrm>
            <a:off x="1143000" y="3410712"/>
            <a:ext cx="2514600" cy="347472"/>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Bounded budget</a:t>
            </a:r>
            <a:endParaRPr lang="en-US" sz="1400" dirty="0"/>
          </a:p>
        </p:txBody>
      </p:sp>
      <p:sp>
        <p:nvSpPr>
          <p:cNvPr id="15" name="Text 10"/>
          <p:cNvSpPr txBox="1"/>
          <p:nvPr/>
        </p:nvSpPr>
        <p:spPr>
          <a:xfrm>
            <a:off x="731520" y="3813048"/>
            <a:ext cx="2926080" cy="658368"/>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12 s deadline, ≤ 6 tool calls, 900 output tokens, no reasoning tokens</a:t>
            </a:r>
            <a:endParaRPr lang="en-US" sz="1150" dirty="0"/>
          </a:p>
        </p:txBody>
      </p:sp>
      <p:sp>
        <p:nvSpPr>
          <p:cNvPr id="16" name="Shape 11"/>
          <p:cNvSpPr/>
          <p:nvPr/>
        </p:nvSpPr>
        <p:spPr>
          <a:xfrm>
            <a:off x="3977640" y="3246120"/>
            <a:ext cx="3246120" cy="1280160"/>
          </a:xfrm>
          <a:prstGeom prst="roundRect">
            <a:avLst>
              <a:gd name="adj" fmla="val 5714"/>
            </a:avLst>
          </a:prstGeom>
          <a:solidFill>
            <a:srgbClr val="FFFFFF"/>
          </a:solidFill>
          <a:ln w="12700">
            <a:solidFill>
              <a:srgbClr val="D9E3E0"/>
            </a:solidFill>
            <a:prstDash val="solid"/>
          </a:ln>
        </p:spPr>
      </p:sp>
      <p:pic>
        <p:nvPicPr>
          <p:cNvPr id="17" name="Image 3" descr="preencoded.png">    </p:cNvPr>
          <p:cNvPicPr>
            <a:picLocks noChangeAspect="1"/>
          </p:cNvPicPr>
          <p:nvPr/>
        </p:nvPicPr>
        <p:blipFill>
          <a:blip r:embed="rId4"/>
          <a:stretch>
            <a:fillRect/>
          </a:stretch>
        </p:blipFill>
        <p:spPr>
          <a:xfrm>
            <a:off x="4160520" y="3429000"/>
            <a:ext cx="310896" cy="310896"/>
          </a:xfrm>
          <a:prstGeom prst="rect">
            <a:avLst/>
          </a:prstGeom>
        </p:spPr>
      </p:pic>
      <p:sp>
        <p:nvSpPr>
          <p:cNvPr id="18" name="Text 12"/>
          <p:cNvSpPr txBox="1"/>
          <p:nvPr/>
        </p:nvSpPr>
        <p:spPr>
          <a:xfrm>
            <a:off x="4572000" y="3410712"/>
            <a:ext cx="2514600" cy="347472"/>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One repair, then fallback</a:t>
            </a:r>
            <a:endParaRPr lang="en-US" sz="1400" dirty="0"/>
          </a:p>
        </p:txBody>
      </p:sp>
      <p:sp>
        <p:nvSpPr>
          <p:cNvPr id="19" name="Text 13"/>
          <p:cNvSpPr txBox="1"/>
          <p:nvPr/>
        </p:nvSpPr>
        <p:spPr>
          <a:xfrm>
            <a:off x="4160520" y="3813048"/>
            <a:ext cx="2926080" cy="658368"/>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a mismatched review gets one retry; failure keeps the deterministic plan</a:t>
            </a:r>
            <a:endParaRPr lang="en-US" sz="1150" dirty="0"/>
          </a:p>
        </p:txBody>
      </p:sp>
      <p:sp>
        <p:nvSpPr>
          <p:cNvPr id="20" name="Shape 14"/>
          <p:cNvSpPr/>
          <p:nvPr/>
        </p:nvSpPr>
        <p:spPr>
          <a:xfrm>
            <a:off x="548640" y="4663440"/>
            <a:ext cx="3246120" cy="1280160"/>
          </a:xfrm>
          <a:prstGeom prst="roundRect">
            <a:avLst>
              <a:gd name="adj" fmla="val 5714"/>
            </a:avLst>
          </a:prstGeom>
          <a:solidFill>
            <a:srgbClr val="FFFFFF"/>
          </a:solidFill>
          <a:ln w="12700">
            <a:solidFill>
              <a:srgbClr val="D9E3E0"/>
            </a:solidFill>
            <a:prstDash val="solid"/>
          </a:ln>
        </p:spPr>
      </p:sp>
      <p:pic>
        <p:nvPicPr>
          <p:cNvPr id="21" name="Image 4" descr="preencoded.png">    </p:cNvPr>
          <p:cNvPicPr>
            <a:picLocks noChangeAspect="1"/>
          </p:cNvPicPr>
          <p:nvPr/>
        </p:nvPicPr>
        <p:blipFill>
          <a:blip r:embed="rId5"/>
          <a:stretch>
            <a:fillRect/>
          </a:stretch>
        </p:blipFill>
        <p:spPr>
          <a:xfrm>
            <a:off x="731520" y="4846320"/>
            <a:ext cx="310896" cy="310896"/>
          </a:xfrm>
          <a:prstGeom prst="rect">
            <a:avLst/>
          </a:prstGeom>
        </p:spPr>
      </p:pic>
      <p:sp>
        <p:nvSpPr>
          <p:cNvPr id="22" name="Text 15"/>
          <p:cNvSpPr txBox="1"/>
          <p:nvPr/>
        </p:nvSpPr>
        <p:spPr>
          <a:xfrm>
            <a:off x="1143000" y="4828032"/>
            <a:ext cx="2514600" cy="347472"/>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Untrusted input</a:t>
            </a:r>
            <a:endParaRPr lang="en-US" sz="1400" dirty="0"/>
          </a:p>
        </p:txBody>
      </p:sp>
      <p:sp>
        <p:nvSpPr>
          <p:cNvPr id="23" name="Text 16"/>
          <p:cNvSpPr txBox="1"/>
          <p:nvPr/>
        </p:nvSpPr>
        <p:spPr>
          <a:xfrm>
            <a:off x="731520" y="5230368"/>
            <a:ext cx="2926080" cy="658368"/>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source data is labelled untrusted; no SQL, no training, no window changes</a:t>
            </a:r>
            <a:endParaRPr lang="en-US" sz="1150" dirty="0"/>
          </a:p>
        </p:txBody>
      </p:sp>
      <p:sp>
        <p:nvSpPr>
          <p:cNvPr id="24" name="Shape 17"/>
          <p:cNvSpPr/>
          <p:nvPr/>
        </p:nvSpPr>
        <p:spPr>
          <a:xfrm>
            <a:off x="3977640" y="4663440"/>
            <a:ext cx="3246120" cy="1280160"/>
          </a:xfrm>
          <a:prstGeom prst="roundRect">
            <a:avLst>
              <a:gd name="adj" fmla="val 5714"/>
            </a:avLst>
          </a:prstGeom>
          <a:solidFill>
            <a:srgbClr val="FFFFFF"/>
          </a:solidFill>
          <a:ln w="12700">
            <a:solidFill>
              <a:srgbClr val="D9E3E0"/>
            </a:solidFill>
            <a:prstDash val="solid"/>
          </a:ln>
        </p:spPr>
      </p:sp>
      <p:pic>
        <p:nvPicPr>
          <p:cNvPr id="25" name="Image 5" descr="preencoded.png">    </p:cNvPr>
          <p:cNvPicPr>
            <a:picLocks noChangeAspect="1"/>
          </p:cNvPicPr>
          <p:nvPr/>
        </p:nvPicPr>
        <p:blipFill>
          <a:blip r:embed="rId6"/>
          <a:stretch>
            <a:fillRect/>
          </a:stretch>
        </p:blipFill>
        <p:spPr>
          <a:xfrm>
            <a:off x="4160520" y="4846320"/>
            <a:ext cx="310896" cy="310896"/>
          </a:xfrm>
          <a:prstGeom prst="rect">
            <a:avLst/>
          </a:prstGeom>
        </p:spPr>
      </p:pic>
      <p:sp>
        <p:nvSpPr>
          <p:cNvPr id="26" name="Text 18"/>
          <p:cNvSpPr txBox="1"/>
          <p:nvPr/>
        </p:nvSpPr>
        <p:spPr>
          <a:xfrm>
            <a:off x="4572000" y="4828032"/>
            <a:ext cx="2514600" cy="347472"/>
          </a:xfrm>
          <a:prstGeom prst="rect">
            <a:avLst/>
          </a:prstGeom>
          <a:noFill/>
          <a:ln/>
        </p:spPr>
        <p:txBody>
          <a:bodyPr wrap="square" lIns="0" tIns="0" rIns="0" bIns="0" rtlCol="0" anchor="ctr"/>
          <a:lstStyle/>
          <a:p>
            <a:pPr indent="0" marL="0">
              <a:buNone/>
            </a:pPr>
            <a:r>
              <a:rPr lang="en-US" sz="1400" b="1" dirty="0">
                <a:solidFill>
                  <a:srgbClr val="10201F"/>
                </a:solidFill>
                <a:latin typeface="Calibri" pitchFamily="34" charset="0"/>
                <a:ea typeface="Calibri" pitchFamily="34" charset="-122"/>
                <a:cs typeface="Calibri" pitchFamily="34" charset="-120"/>
              </a:rPr>
              <a:t>Secrets server-side</a:t>
            </a:r>
            <a:endParaRPr lang="en-US" sz="1400" dirty="0"/>
          </a:p>
        </p:txBody>
      </p:sp>
      <p:sp>
        <p:nvSpPr>
          <p:cNvPr id="27" name="Text 19"/>
          <p:cNvSpPr txBox="1"/>
          <p:nvPr/>
        </p:nvSpPr>
        <p:spPr>
          <a:xfrm>
            <a:off x="4160520" y="5230368"/>
            <a:ext cx="2926080" cy="658368"/>
          </a:xfrm>
          <a:prstGeom prst="rect">
            <a:avLst/>
          </a:prstGeom>
          <a:noFill/>
          <a:ln/>
        </p:spPr>
        <p:txBody>
          <a:bodyPr wrap="square" lIns="0" tIns="0" rIns="0" bIns="0" rtlCol="0" anchor="t"/>
          <a:lstStyle/>
          <a:p>
            <a:pPr indent="0" marL="0">
              <a:buNone/>
            </a:pPr>
            <a:r>
              <a:rPr lang="en-US" sz="1150" dirty="0">
                <a:solidFill>
                  <a:srgbClr val="4A5D5B"/>
                </a:solidFill>
                <a:latin typeface="Calibri" pitchFamily="34" charset="0"/>
                <a:ea typeface="Calibri" pitchFamily="34" charset="-122"/>
                <a:cs typeface="Calibri" pitchFamily="34" charset="-120"/>
              </a:rPr>
              <a:t>the API key never reaches the browser, logs, tests or prompts</a:t>
            </a:r>
            <a:endParaRPr lang="en-US" sz="1150" dirty="0"/>
          </a:p>
        </p:txBody>
      </p:sp>
      <p:sp>
        <p:nvSpPr>
          <p:cNvPr id="28" name="Shape 20"/>
          <p:cNvSpPr/>
          <p:nvPr/>
        </p:nvSpPr>
        <p:spPr>
          <a:xfrm>
            <a:off x="7589520" y="1828800"/>
            <a:ext cx="4023360" cy="4114800"/>
          </a:xfrm>
          <a:prstGeom prst="roundRect">
            <a:avLst>
              <a:gd name="adj" fmla="val 1818"/>
            </a:avLst>
          </a:prstGeom>
          <a:solidFill>
            <a:srgbClr val="0B4F45"/>
          </a:solidFill>
          <a:ln/>
        </p:spPr>
      </p:sp>
      <p:sp>
        <p:nvSpPr>
          <p:cNvPr id="29" name="Text 21"/>
          <p:cNvSpPr txBox="1"/>
          <p:nvPr/>
        </p:nvSpPr>
        <p:spPr>
          <a:xfrm>
            <a:off x="7818120" y="2011680"/>
            <a:ext cx="35661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this design</a:t>
            </a:r>
            <a:endParaRPr lang="en-US" sz="1600" dirty="0"/>
          </a:p>
        </p:txBody>
      </p:sp>
      <p:sp>
        <p:nvSpPr>
          <p:cNvPr id="30" name="Text 22"/>
          <p:cNvSpPr txBox="1"/>
          <p:nvPr/>
        </p:nvSpPr>
        <p:spPr>
          <a:xfrm>
            <a:off x="7818120" y="2468880"/>
            <a:ext cx="36118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Reps act on the time, so the time must come from measured evidence.</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The 2–3 sentence explanation is a factual template; the LLM checks it against tool outputs.</a:t>
            </a:r>
            <a:endParaRPr lang="en-US" sz="1400" dirty="0"/>
          </a:p>
          <a:p>
            <a:pPr marL="342900" indent="-342900">
              <a:spcAft>
                <a:spcPts val="800"/>
              </a:spcAft>
              <a:buSzPct val="100000"/>
              <a:buChar char="•"/>
            </a:pPr>
            <a:r>
              <a:rPr lang="en-US" sz="1400" dirty="0">
                <a:solidFill>
                  <a:srgbClr val="D7EEE8"/>
                </a:solidFill>
                <a:latin typeface="Calibri" pitchFamily="34" charset="0"/>
                <a:ea typeface="Calibri" pitchFamily="34" charset="-122"/>
                <a:cs typeface="Calibri" pitchFamily="34" charset="-120"/>
              </a:rPr>
              <a:t>An LLM outage or error can never produce a wrong call time.</a:t>
            </a:r>
            <a:endParaRPr lang="en-US" sz="1400" dirty="0"/>
          </a:p>
          <a:p>
            <a:pPr marL="342900" indent="-342900">
              <a:buSzPct val="100000"/>
              <a:buChar char="•"/>
            </a:pPr>
            <a:r>
              <a:rPr lang="en-US" sz="1400" dirty="0">
                <a:solidFill>
                  <a:srgbClr val="D7EEE8"/>
                </a:solidFill>
                <a:latin typeface="Calibri" pitchFamily="34" charset="0"/>
                <a:ea typeface="Calibri" pitchFamily="34" charset="-122"/>
                <a:cs typeface="Calibri" pitchFamily="34" charset="-120"/>
              </a:rPr>
              <a:t>Cost and latency are capped per seller, and every sentence is auditable.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Sizing the prize, and how we will prove it</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Scenario built from measured volumes. Uplift is a pilot target, not a measured result.</a:t>
            </a:r>
            <a:endParaRPr lang="en-US" sz="1500" dirty="0"/>
          </a:p>
        </p:txBody>
      </p:sp>
      <p:sp>
        <p:nvSpPr>
          <p:cNvPr id="4" name="Text 2"/>
          <p:cNvSpPr txBox="1"/>
          <p:nvPr/>
        </p:nvSpPr>
        <p:spPr>
          <a:xfrm>
            <a:off x="548640" y="1828800"/>
            <a:ext cx="2011680" cy="685800"/>
          </a:xfrm>
          <a:prstGeom prst="rect">
            <a:avLst/>
          </a:prstGeom>
          <a:noFill/>
          <a:ln/>
        </p:spPr>
        <p:txBody>
          <a:bodyPr wrap="square" lIns="0" tIns="0" rIns="0" bIns="0" rtlCol="0" anchor="ctr"/>
          <a:lstStyle/>
          <a:p>
            <a:pPr indent="0" marL="0">
              <a:buNone/>
            </a:pPr>
            <a:r>
              <a:rPr lang="en-US" sz="2800" b="1" dirty="0">
                <a:solidFill>
                  <a:srgbClr val="10201F"/>
                </a:solidFill>
                <a:latin typeface="Cambria" pitchFamily="34" charset="0"/>
                <a:ea typeface="Cambria" pitchFamily="34" charset="-122"/>
                <a:cs typeface="Cambria" pitchFamily="34" charset="-120"/>
              </a:rPr>
              <a:t>≈ 23,650</a:t>
            </a:r>
            <a:endParaRPr lang="en-US" sz="2800" dirty="0"/>
          </a:p>
        </p:txBody>
      </p:sp>
      <p:sp>
        <p:nvSpPr>
          <p:cNvPr id="5" name="Text 3"/>
          <p:cNvSpPr txBox="1"/>
          <p:nvPr/>
        </p:nvSpPr>
        <p:spPr>
          <a:xfrm>
            <a:off x="2651760" y="1828800"/>
            <a:ext cx="3108960" cy="685800"/>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booking-channel calls per day (from the 8% sample)</a:t>
            </a:r>
            <a:endParaRPr lang="en-US" sz="1300" dirty="0"/>
          </a:p>
        </p:txBody>
      </p:sp>
      <p:sp>
        <p:nvSpPr>
          <p:cNvPr id="6" name="Text 4"/>
          <p:cNvSpPr txBox="1"/>
          <p:nvPr/>
        </p:nvSpPr>
        <p:spPr>
          <a:xfrm>
            <a:off x="548640" y="2697480"/>
            <a:ext cx="2011680" cy="685800"/>
          </a:xfrm>
          <a:prstGeom prst="rect">
            <a:avLst/>
          </a:prstGeom>
          <a:noFill/>
          <a:ln/>
        </p:spPr>
        <p:txBody>
          <a:bodyPr wrap="square" lIns="0" tIns="0" rIns="0" bIns="0" rtlCol="0" anchor="ctr"/>
          <a:lstStyle/>
          <a:p>
            <a:pPr indent="0" marL="0">
              <a:buNone/>
            </a:pPr>
            <a:r>
              <a:rPr lang="en-US" sz="2800" b="1" dirty="0">
                <a:solidFill>
                  <a:srgbClr val="10201F"/>
                </a:solidFill>
                <a:latin typeface="Cambria" pitchFamily="34" charset="0"/>
                <a:ea typeface="Cambria" pitchFamily="34" charset="-122"/>
                <a:cs typeface="Cambria" pitchFamily="34" charset="-120"/>
              </a:rPr>
              <a:t>5.57%</a:t>
            </a:r>
            <a:endParaRPr lang="en-US" sz="2800" dirty="0"/>
          </a:p>
        </p:txBody>
      </p:sp>
      <p:sp>
        <p:nvSpPr>
          <p:cNvPr id="7" name="Text 5"/>
          <p:cNvSpPr txBox="1"/>
          <p:nvPr/>
        </p:nvSpPr>
        <p:spPr>
          <a:xfrm>
            <a:off x="2651760" y="2697480"/>
            <a:ext cx="3108960" cy="685800"/>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attributable meeting rate in that channel</a:t>
            </a:r>
            <a:endParaRPr lang="en-US" sz="1300" dirty="0"/>
          </a:p>
        </p:txBody>
      </p:sp>
      <p:sp>
        <p:nvSpPr>
          <p:cNvPr id="8" name="Text 6"/>
          <p:cNvSpPr txBox="1"/>
          <p:nvPr/>
        </p:nvSpPr>
        <p:spPr>
          <a:xfrm>
            <a:off x="548640" y="3566160"/>
            <a:ext cx="2011680" cy="685800"/>
          </a:xfrm>
          <a:prstGeom prst="rect">
            <a:avLst/>
          </a:prstGeom>
          <a:noFill/>
          <a:ln/>
        </p:spPr>
        <p:txBody>
          <a:bodyPr wrap="square" lIns="0" tIns="0" rIns="0" bIns="0" rtlCol="0" anchor="ctr"/>
          <a:lstStyle/>
          <a:p>
            <a:pPr indent="0" marL="0">
              <a:buNone/>
            </a:pPr>
            <a:r>
              <a:rPr lang="en-US" sz="2800" b="1" dirty="0">
                <a:solidFill>
                  <a:srgbClr val="10201F"/>
                </a:solidFill>
                <a:latin typeface="Cambria" pitchFamily="34" charset="0"/>
                <a:ea typeface="Cambria" pitchFamily="34" charset="-122"/>
                <a:cs typeface="Cambria" pitchFamily="34" charset="-120"/>
              </a:rPr>
              <a:t>≈ 1,317</a:t>
            </a:r>
            <a:endParaRPr lang="en-US" sz="2800" dirty="0"/>
          </a:p>
        </p:txBody>
      </p:sp>
      <p:sp>
        <p:nvSpPr>
          <p:cNvPr id="9" name="Text 7"/>
          <p:cNvSpPr txBox="1"/>
          <p:nvPr/>
        </p:nvSpPr>
        <p:spPr>
          <a:xfrm>
            <a:off x="2651760" y="3566160"/>
            <a:ext cx="3108960" cy="685800"/>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attributable meetings per day today</a:t>
            </a:r>
            <a:endParaRPr lang="en-US" sz="1300" dirty="0"/>
          </a:p>
        </p:txBody>
      </p:sp>
      <p:sp>
        <p:nvSpPr>
          <p:cNvPr id="10" name="Text 8"/>
          <p:cNvSpPr txBox="1"/>
          <p:nvPr/>
        </p:nvSpPr>
        <p:spPr>
          <a:xfrm>
            <a:off x="548640" y="4434840"/>
            <a:ext cx="2011680" cy="685800"/>
          </a:xfrm>
          <a:prstGeom prst="rect">
            <a:avLst/>
          </a:prstGeom>
          <a:noFill/>
          <a:ln/>
        </p:spPr>
        <p:txBody>
          <a:bodyPr wrap="square" lIns="0" tIns="0" rIns="0" bIns="0" rtlCol="0" anchor="ctr"/>
          <a:lstStyle/>
          <a:p>
            <a:pPr indent="0" marL="0">
              <a:buNone/>
            </a:pPr>
            <a:r>
              <a:rPr lang="en-US" sz="2800" b="1" dirty="0">
                <a:solidFill>
                  <a:srgbClr val="10201F"/>
                </a:solidFill>
                <a:latin typeface="Cambria" pitchFamily="34" charset="0"/>
                <a:ea typeface="Cambria" pitchFamily="34" charset="-122"/>
                <a:cs typeface="Cambria" pitchFamily="34" charset="-120"/>
              </a:rPr>
              <a:t>+10%</a:t>
            </a:r>
            <a:endParaRPr lang="en-US" sz="2800" dirty="0"/>
          </a:p>
        </p:txBody>
      </p:sp>
      <p:sp>
        <p:nvSpPr>
          <p:cNvPr id="11" name="Text 9"/>
          <p:cNvSpPr txBox="1"/>
          <p:nvPr/>
        </p:nvSpPr>
        <p:spPr>
          <a:xfrm>
            <a:off x="2651760" y="4434840"/>
            <a:ext cx="3108960" cy="685800"/>
          </a:xfrm>
          <a:prstGeom prst="rect">
            <a:avLst/>
          </a:prstGeom>
          <a:noFill/>
          <a:ln/>
        </p:spPr>
        <p:txBody>
          <a:bodyPr wrap="square" lIns="0" tIns="0" rIns="0" bIns="0" rtlCol="0" anchor="ctr"/>
          <a:lstStyle/>
          <a:p>
            <a:pPr indent="0" marL="0">
              <a:buNone/>
            </a:pPr>
            <a:r>
              <a:rPr lang="en-US" sz="1300" dirty="0">
                <a:solidFill>
                  <a:srgbClr val="4A5D5B"/>
                </a:solidFill>
                <a:latin typeface="Calibri" pitchFamily="34" charset="0"/>
                <a:ea typeface="Calibri" pitchFamily="34" charset="-122"/>
                <a:cs typeface="Calibri" pitchFamily="34" charset="-120"/>
              </a:rPr>
              <a:t>relative uplift the pilot is powered to detect</a:t>
            </a:r>
            <a:endParaRPr lang="en-US" sz="1300" dirty="0"/>
          </a:p>
        </p:txBody>
      </p:sp>
      <p:sp>
        <p:nvSpPr>
          <p:cNvPr id="12" name="Shape 10"/>
          <p:cNvSpPr/>
          <p:nvPr/>
        </p:nvSpPr>
        <p:spPr>
          <a:xfrm>
            <a:off x="548640" y="5349240"/>
            <a:ext cx="5212080" cy="868680"/>
          </a:xfrm>
          <a:prstGeom prst="roundRect">
            <a:avLst>
              <a:gd name="adj" fmla="val 8421"/>
            </a:avLst>
          </a:prstGeom>
          <a:solidFill>
            <a:srgbClr val="EEF4F2"/>
          </a:solidFill>
          <a:ln/>
        </p:spPr>
      </p:sp>
      <p:sp>
        <p:nvSpPr>
          <p:cNvPr id="13" name="Text 11"/>
          <p:cNvSpPr txBox="1"/>
          <p:nvPr/>
        </p:nvSpPr>
        <p:spPr>
          <a:xfrm>
            <a:off x="731520" y="5394960"/>
            <a:ext cx="4937760" cy="777240"/>
          </a:xfrm>
          <a:prstGeom prst="rect">
            <a:avLst/>
          </a:prstGeom>
          <a:noFill/>
          <a:ln/>
        </p:spPr>
        <p:txBody>
          <a:bodyPr wrap="square" lIns="0" tIns="0" rIns="0" bIns="0" rtlCol="0" anchor="ctr"/>
          <a:lstStyle/>
          <a:p>
            <a:pPr indent="0" marL="0">
              <a:buNone/>
            </a:pPr>
            <a:r>
              <a:rPr lang="en-US" sz="3000" b="1" dirty="0">
                <a:solidFill>
                  <a:srgbClr val="0B8A76"/>
                </a:solidFill>
                <a:latin typeface="Cambria" pitchFamily="34" charset="0"/>
                <a:ea typeface="Cambria" pitchFamily="34" charset="-122"/>
                <a:cs typeface="Cambria" pitchFamily="34" charset="-120"/>
              </a:rPr>
              <a:t>≈ 130 </a:t>
            </a:r>
            <a:pPr indent="0" marL="0">
              <a:buNone/>
            </a:pPr>
            <a:r>
              <a:rPr lang="en-US" sz="1400" dirty="0">
                <a:solidFill>
                  <a:srgbClr val="10201F"/>
                </a:solidFill>
                <a:latin typeface="Calibri" pitchFamily="34" charset="0"/>
                <a:ea typeface="Calibri" pitchFamily="34" charset="-122"/>
                <a:cs typeface="Calibri" pitchFamily="34" charset="-120"/>
              </a:rPr>
              <a:t>more meetings a day · ≈ 3,400 a month</a:t>
            </a:r>
            <a:endParaRPr lang="en-US" sz="3000" dirty="0"/>
          </a:p>
        </p:txBody>
      </p:sp>
      <p:sp>
        <p:nvSpPr>
          <p:cNvPr id="14" name="Shape 12"/>
          <p:cNvSpPr/>
          <p:nvPr/>
        </p:nvSpPr>
        <p:spPr>
          <a:xfrm>
            <a:off x="6172200" y="1828800"/>
            <a:ext cx="5440680" cy="3246120"/>
          </a:xfrm>
          <a:prstGeom prst="roundRect">
            <a:avLst>
              <a:gd name="adj" fmla="val 2254"/>
            </a:avLst>
          </a:prstGeom>
          <a:solidFill>
            <a:srgbClr val="FFFFFF"/>
          </a:solidFill>
          <a:ln w="12700">
            <a:solidFill>
              <a:srgbClr val="D9E3E0"/>
            </a:solidFill>
            <a:prstDash val="solid"/>
          </a:ln>
        </p:spPr>
      </p:sp>
      <p:sp>
        <p:nvSpPr>
          <p:cNvPr id="15" name="Shape 13"/>
          <p:cNvSpPr/>
          <p:nvPr/>
        </p:nvSpPr>
        <p:spPr>
          <a:xfrm>
            <a:off x="6172200" y="5349240"/>
            <a:ext cx="5440680" cy="868680"/>
          </a:xfrm>
          <a:prstGeom prst="roundRect">
            <a:avLst>
              <a:gd name="adj" fmla="val 8421"/>
            </a:avLst>
          </a:prstGeom>
          <a:solidFill>
            <a:srgbClr val="EEF4F2"/>
          </a:solidFill>
          <a:ln/>
        </p:spPr>
      </p:sp>
      <p:sp>
        <p:nvSpPr>
          <p:cNvPr id="16" name="Text 14"/>
          <p:cNvSpPr txBox="1"/>
          <p:nvPr/>
        </p:nvSpPr>
        <p:spPr>
          <a:xfrm>
            <a:off x="6355080" y="5394960"/>
            <a:ext cx="5120640" cy="777240"/>
          </a:xfrm>
          <a:prstGeom prst="rect">
            <a:avLst/>
          </a:prstGeom>
          <a:noFill/>
          <a:ln/>
        </p:spPr>
        <p:txBody>
          <a:bodyPr wrap="square" lIns="0" tIns="0" rIns="0" bIns="0" rtlCol="0" anchor="ctr"/>
          <a:lstStyle/>
          <a:p>
            <a:pPr indent="0" marL="0">
              <a:buNone/>
            </a:pPr>
            <a:r>
              <a:rPr lang="en-US" sz="1300" b="1" dirty="0">
                <a:solidFill>
                  <a:srgbClr val="10201F"/>
                </a:solidFill>
                <a:latin typeface="Calibri" pitchFamily="34" charset="0"/>
                <a:ea typeface="Calibri" pitchFamily="34" charset="-122"/>
                <a:cs typeface="Calibri" pitchFamily="34" charset="-120"/>
              </a:rPr>
              <a:t>Guardrails tracked daily: </a:t>
            </a:r>
            <a:pPr indent="0" marL="0">
              <a:buNone/>
            </a:pPr>
            <a:r>
              <a:rPr lang="en-US" sz="1300" dirty="0">
                <a:solidFill>
                  <a:srgbClr val="4A5D5B"/>
                </a:solidFill>
                <a:latin typeface="Calibri" pitchFamily="34" charset="0"/>
                <a:ea typeface="Calibri" pitchFamily="34" charset="-122"/>
                <a:cs typeface="Calibri" pitchFamily="34" charset="-120"/>
              </a:rPr>
              <a:t>answer rate · calls per meeting · complaints · DNC breaches · LLM fallback rate</a:t>
            </a:r>
            <a:endParaRPr lang="en-US" sz="1300" dirty="0"/>
          </a:p>
        </p:txBody>
      </p:sp>
      <p:sp>
        <p:nvSpPr>
          <p:cNvPr id="17" name="Text 15"/>
          <p:cNvSpPr txBox="1"/>
          <p:nvPr/>
        </p:nvSpPr>
        <p:spPr>
          <a:xfrm>
            <a:off x="6400800" y="1965960"/>
            <a:ext cx="5029200" cy="365760"/>
          </a:xfrm>
          <a:prstGeom prst="rect">
            <a:avLst/>
          </a:prstGeom>
          <a:noFill/>
          <a:ln/>
        </p:spPr>
        <p:txBody>
          <a:bodyPr wrap="square" lIns="0" tIns="0" rIns="0" bIns="0" rtlCol="0" anchor="ctr"/>
          <a:lstStyle/>
          <a:p>
            <a:pPr indent="0" marL="0">
              <a:buNone/>
            </a:pPr>
            <a:r>
              <a:rPr lang="en-US" sz="1600" b="1" dirty="0">
                <a:solidFill>
                  <a:srgbClr val="10201F"/>
                </a:solidFill>
                <a:latin typeface="Calibri" pitchFamily="34" charset="0"/>
                <a:ea typeface="Calibri" pitchFamily="34" charset="-122"/>
                <a:cs typeface="Calibri" pitchFamily="34" charset="-120"/>
              </a:rPr>
              <a:t>Proposed randomized pilot</a:t>
            </a:r>
            <a:endParaRPr lang="en-US" sz="1600" dirty="0"/>
          </a:p>
        </p:txBody>
      </p:sp>
      <p:sp>
        <p:nvSpPr>
          <p:cNvPr id="18" name="Text 16"/>
          <p:cNvSpPr txBox="1"/>
          <p:nvPr/>
        </p:nvSpPr>
        <p:spPr>
          <a:xfrm>
            <a:off x="6400800" y="2377440"/>
            <a:ext cx="4983480" cy="2606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rgbClr val="4A5D5B"/>
                </a:solidFill>
                <a:latin typeface="Calibri" pitchFamily="34" charset="0"/>
                <a:ea typeface="Calibri" pitchFamily="34" charset="-122"/>
                <a:cs typeface="Calibri" pitchFamily="34" charset="-120"/>
              </a:rPr>
              <a:t>Within CSDMERP/MERP, randomize each eligible seller-day: model's top window vs a random allowed window, with propensities logged.</a:t>
            </a:r>
            <a:endParaRPr lang="en-US" sz="1300" dirty="0"/>
          </a:p>
          <a:p>
            <a:pPr marL="342900" indent="-342900">
              <a:spcAft>
                <a:spcPts val="800"/>
              </a:spcAft>
              <a:buSzPct val="100000"/>
              <a:buFont typeface="+mj-lt"/>
              <a:buAutoNum type="arabicPeriod" startAt="1"/>
            </a:pPr>
            <a:r>
              <a:rPr lang="en-US" sz="1300" dirty="0">
                <a:solidFill>
                  <a:srgbClr val="4A5D5B"/>
                </a:solidFill>
                <a:latin typeface="Calibri" pitchFamily="34" charset="0"/>
                <a:ea typeface="Calibri" pitchFamily="34" charset="-122"/>
                <a:cs typeface="Calibri" pitchFamily="34" charset="-120"/>
              </a:rPr>
              <a:t>Primary outcome: validated completed meeting within 14 days. Secondary: answer rate, calls per meeting.</a:t>
            </a:r>
            <a:endParaRPr lang="en-US" sz="1300" dirty="0"/>
          </a:p>
          <a:p>
            <a:pPr marL="342900" indent="-342900">
              <a:spcAft>
                <a:spcPts val="800"/>
              </a:spcAft>
              <a:buSzPct val="100000"/>
              <a:buFont typeface="+mj-lt"/>
              <a:buAutoNum type="arabicPeriod" startAt="1"/>
            </a:pPr>
            <a:r>
              <a:rPr lang="en-US" sz="1300" dirty="0">
                <a:solidFill>
                  <a:srgbClr val="4A5D5B"/>
                </a:solidFill>
                <a:latin typeface="Calibri" pitchFamily="34" charset="0"/>
                <a:ea typeface="Calibri" pitchFamily="34" charset="-122"/>
                <a:cs typeface="Calibri" pitchFamily="34" charset="-120"/>
              </a:rPr>
              <a:t>About 28k calls per arm for 5.6% → 6.2% (α 0.05, 80% power), more after seller clustering.</a:t>
            </a:r>
            <a:endParaRPr lang="en-US" sz="1300" dirty="0"/>
          </a:p>
          <a:p>
            <a:pPr marL="342900" indent="-342900">
              <a:buSzPct val="100000"/>
              <a:buFont typeface="+mj-lt"/>
              <a:buAutoNum type="arabicPeriod" startAt="1"/>
            </a:pPr>
            <a:r>
              <a:rPr lang="en-US" sz="1300" dirty="0">
                <a:solidFill>
                  <a:srgbClr val="4A5D5B"/>
                </a:solidFill>
                <a:latin typeface="Calibri" pitchFamily="34" charset="0"/>
                <a:ea typeface="Calibri" pitchFamily="34" charset="-122"/>
                <a:cs typeface="Calibri" pitchFamily="34" charset="-120"/>
              </a:rPr>
              <a:t>Same caps, cooldowns and do-not-call rules; daily guardrails and a kill switch.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685800"/>
          </a:xfrm>
          <a:prstGeom prst="rect">
            <a:avLst/>
          </a:prstGeom>
          <a:noFill/>
          <a:ln/>
        </p:spPr>
        <p:txBody>
          <a:bodyPr wrap="square" lIns="0" tIns="0" rIns="0" bIns="0" rtlCol="0" anchor="t"/>
          <a:lstStyle/>
          <a:p>
            <a:pPr algn="l" indent="0" marL="0">
              <a:buNone/>
            </a:pPr>
            <a:r>
              <a:rPr lang="en-US" sz="2800" b="1" dirty="0">
                <a:solidFill>
                  <a:schemeClr val="tx1"/>
                </a:solidFill>
              </a:rPr>
              <a:t>What is live, what we learned, what we ask for</a:t>
            </a:r>
            <a:endParaRPr lang="en-US" sz="2800" dirty="0"/>
          </a:p>
        </p:txBody>
      </p:sp>
      <p:sp>
        <p:nvSpPr>
          <p:cNvPr id="3" name="Text 1"/>
          <p:cNvSpPr txBox="1"/>
          <p:nvPr/>
        </p:nvSpPr>
        <p:spPr>
          <a:xfrm>
            <a:off x="548640" y="1051560"/>
            <a:ext cx="11064240" cy="566928"/>
          </a:xfrm>
          <a:prstGeom prst="rect">
            <a:avLst/>
          </a:prstGeom>
          <a:noFill/>
          <a:ln/>
        </p:spPr>
        <p:txBody>
          <a:bodyPr wrap="square" lIns="0" tIns="0" rIns="0" bIns="0" rtlCol="0" anchor="t"/>
          <a:lstStyle/>
          <a:p>
            <a:pPr indent="0" marL="0">
              <a:buNone/>
            </a:pPr>
            <a:r>
              <a:rPr lang="en-US" sz="1500" dirty="0">
                <a:solidFill>
                  <a:srgbClr val="4A5D5B"/>
                </a:solidFill>
                <a:latin typeface="Calibri" pitchFamily="34" charset="0"/>
                <a:ea typeface="Calibri" pitchFamily="34" charset="-122"/>
                <a:cs typeface="Calibri" pitchFamily="34" charset="-120"/>
              </a:rPr>
              <a:t>The product is live and safe to use today. Two decisions unlock the measured uplift.</a:t>
            </a:r>
            <a:endParaRPr lang="en-US" sz="1500" dirty="0"/>
          </a:p>
        </p:txBody>
      </p:sp>
      <p:sp>
        <p:nvSpPr>
          <p:cNvPr id="4" name="Shape 2"/>
          <p:cNvSpPr/>
          <p:nvPr/>
        </p:nvSpPr>
        <p:spPr>
          <a:xfrm>
            <a:off x="548640" y="1828800"/>
            <a:ext cx="2606040" cy="2514600"/>
          </a:xfrm>
          <a:prstGeom prst="roundRect">
            <a:avLst>
              <a:gd name="adj" fmla="val 2909"/>
            </a:avLst>
          </a:prstGeom>
          <a:solidFill>
            <a:srgbClr val="FFFFFF"/>
          </a:solidFill>
          <a:ln w="12700">
            <a:solidFill>
              <a:srgbClr val="D9E3E0"/>
            </a:solidFill>
            <a:prstDash val="solid"/>
          </a:ln>
        </p:spPr>
      </p:sp>
      <p:sp>
        <p:nvSpPr>
          <p:cNvPr id="5" name="Shape 3"/>
          <p:cNvSpPr/>
          <p:nvPr/>
        </p:nvSpPr>
        <p:spPr>
          <a:xfrm>
            <a:off x="731520" y="2011680"/>
            <a:ext cx="292608" cy="292608"/>
          </a:xfrm>
          <a:prstGeom prst="ellipse">
            <a:avLst/>
          </a:prstGeom>
          <a:solidFill>
            <a:srgbClr val="0B8A76"/>
          </a:solidFill>
          <a:ln/>
        </p:spPr>
      </p:sp>
      <p:sp>
        <p:nvSpPr>
          <p:cNvPr id="6" name="Text 4"/>
          <p:cNvSpPr txBox="1"/>
          <p:nvPr/>
        </p:nvSpPr>
        <p:spPr>
          <a:xfrm>
            <a:off x="1115568" y="2011680"/>
            <a:ext cx="1920240" cy="292608"/>
          </a:xfrm>
          <a:prstGeom prst="rect">
            <a:avLst/>
          </a:prstGeom>
          <a:noFill/>
          <a:ln/>
        </p:spPr>
        <p:txBody>
          <a:bodyPr wrap="square" lIns="0" tIns="0" rIns="0" bIns="0" rtlCol="0" anchor="ctr"/>
          <a:lstStyle/>
          <a:p>
            <a:pPr indent="0" marL="0">
              <a:buNone/>
            </a:pPr>
            <a:r>
              <a:rPr lang="en-US" sz="1100" b="1" spc="150" kern="0" dirty="0">
                <a:solidFill>
                  <a:srgbClr val="0B8A76"/>
                </a:solidFill>
                <a:latin typeface="Calibri" pitchFamily="34" charset="0"/>
                <a:ea typeface="Calibri" pitchFamily="34" charset="-122"/>
                <a:cs typeface="Calibri" pitchFamily="34" charset="-120"/>
              </a:rPr>
              <a:t>LIVE NOW</a:t>
            </a:r>
            <a:endParaRPr lang="en-US" sz="1100" dirty="0"/>
          </a:p>
        </p:txBody>
      </p:sp>
      <p:sp>
        <p:nvSpPr>
          <p:cNvPr id="7" name="Text 5"/>
          <p:cNvSpPr txBox="1"/>
          <p:nvPr/>
        </p:nvSpPr>
        <p:spPr>
          <a:xfrm>
            <a:off x="731520" y="2468880"/>
            <a:ext cx="2286000" cy="594360"/>
          </a:xfrm>
          <a:prstGeom prst="rect">
            <a:avLst/>
          </a:prstGeom>
          <a:noFill/>
          <a:ln/>
        </p:spPr>
        <p:txBody>
          <a:bodyPr wrap="square" lIns="0" tIns="0" rIns="0" bIns="0" rtlCol="0" anchor="t"/>
          <a:lstStyle/>
          <a:p>
            <a:pPr indent="0" marL="0">
              <a:buNone/>
            </a:pPr>
            <a:r>
              <a:rPr lang="en-US" sz="1600" b="1" dirty="0">
                <a:solidFill>
                  <a:srgbClr val="10201F"/>
                </a:solidFill>
                <a:latin typeface="Calibri" pitchFamily="34" charset="0"/>
                <a:ea typeface="Calibri" pitchFamily="34" charset="-122"/>
                <a:cs typeface="Calibri" pitchFamily="34" charset="-120"/>
              </a:rPr>
              <a:t>v4 timing model in the app</a:t>
            </a:r>
            <a:endParaRPr lang="en-US" sz="1600" dirty="0"/>
          </a:p>
        </p:txBody>
      </p:sp>
      <p:sp>
        <p:nvSpPr>
          <p:cNvPr id="8" name="Text 6"/>
          <p:cNvSpPr txBox="1"/>
          <p:nvPr/>
        </p:nvSpPr>
        <p:spPr>
          <a:xfrm>
            <a:off x="731520" y="3108960"/>
            <a:ext cx="2286000" cy="118872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Provenance-checked artifacts, JS/Python parity to 2e-18, one-line rollback, redesigned rep workspace.</a:t>
            </a:r>
            <a:endParaRPr lang="en-US" sz="1300" dirty="0"/>
          </a:p>
        </p:txBody>
      </p:sp>
      <p:sp>
        <p:nvSpPr>
          <p:cNvPr id="9" name="Shape 7"/>
          <p:cNvSpPr/>
          <p:nvPr/>
        </p:nvSpPr>
        <p:spPr>
          <a:xfrm>
            <a:off x="3364992" y="1828800"/>
            <a:ext cx="2606040" cy="2514600"/>
          </a:xfrm>
          <a:prstGeom prst="roundRect">
            <a:avLst>
              <a:gd name="adj" fmla="val 2909"/>
            </a:avLst>
          </a:prstGeom>
          <a:solidFill>
            <a:srgbClr val="FFFFFF"/>
          </a:solidFill>
          <a:ln w="12700">
            <a:solidFill>
              <a:srgbClr val="D9E3E0"/>
            </a:solidFill>
            <a:prstDash val="solid"/>
          </a:ln>
        </p:spPr>
      </p:sp>
      <p:sp>
        <p:nvSpPr>
          <p:cNvPr id="10" name="Shape 8"/>
          <p:cNvSpPr/>
          <p:nvPr/>
        </p:nvSpPr>
        <p:spPr>
          <a:xfrm>
            <a:off x="3547872" y="2011680"/>
            <a:ext cx="292608" cy="292608"/>
          </a:xfrm>
          <a:prstGeom prst="ellipse">
            <a:avLst/>
          </a:prstGeom>
          <a:solidFill>
            <a:srgbClr val="2A78D6"/>
          </a:solidFill>
          <a:ln/>
        </p:spPr>
      </p:sp>
      <p:sp>
        <p:nvSpPr>
          <p:cNvPr id="11" name="Text 9"/>
          <p:cNvSpPr txBox="1"/>
          <p:nvPr/>
        </p:nvSpPr>
        <p:spPr>
          <a:xfrm>
            <a:off x="3931920" y="2011680"/>
            <a:ext cx="1920240" cy="292608"/>
          </a:xfrm>
          <a:prstGeom prst="rect">
            <a:avLst/>
          </a:prstGeom>
          <a:noFill/>
          <a:ln/>
        </p:spPr>
        <p:txBody>
          <a:bodyPr wrap="square" lIns="0" tIns="0" rIns="0" bIns="0" rtlCol="0" anchor="ctr"/>
          <a:lstStyle/>
          <a:p>
            <a:pPr indent="0" marL="0">
              <a:buNone/>
            </a:pPr>
            <a:r>
              <a:rPr lang="en-US" sz="1100" b="1" spc="150" kern="0" dirty="0">
                <a:solidFill>
                  <a:srgbClr val="2A78D6"/>
                </a:solidFill>
                <a:latin typeface="Calibri" pitchFamily="34" charset="0"/>
                <a:ea typeface="Calibri" pitchFamily="34" charset="-122"/>
                <a:cs typeface="Calibri" pitchFamily="34" charset="-120"/>
              </a:rPr>
              <a:t>NEXT 2 WEEKS</a:t>
            </a:r>
            <a:endParaRPr lang="en-US" sz="1100" dirty="0"/>
          </a:p>
        </p:txBody>
      </p:sp>
      <p:sp>
        <p:nvSpPr>
          <p:cNvPr id="12" name="Text 10"/>
          <p:cNvSpPr txBox="1"/>
          <p:nvPr/>
        </p:nvSpPr>
        <p:spPr>
          <a:xfrm>
            <a:off x="3547872" y="2468880"/>
            <a:ext cx="2286000" cy="594360"/>
          </a:xfrm>
          <a:prstGeom prst="rect">
            <a:avLst/>
          </a:prstGeom>
          <a:noFill/>
          <a:ln/>
        </p:spPr>
        <p:txBody>
          <a:bodyPr wrap="square" lIns="0" tIns="0" rIns="0" bIns="0" rtlCol="0" anchor="t"/>
          <a:lstStyle/>
          <a:p>
            <a:pPr indent="0" marL="0">
              <a:buNone/>
            </a:pPr>
            <a:r>
              <a:rPr lang="en-US" sz="1600" b="1" dirty="0">
                <a:solidFill>
                  <a:srgbClr val="10201F"/>
                </a:solidFill>
                <a:latin typeface="Calibri" pitchFamily="34" charset="0"/>
                <a:ea typeface="Calibri" pitchFamily="34" charset="-122"/>
                <a:cs typeface="Calibri" pitchFamily="34" charset="-120"/>
              </a:rPr>
              <a:t>Confirm the meeting label</a:t>
            </a:r>
            <a:endParaRPr lang="en-US" sz="1600" dirty="0"/>
          </a:p>
        </p:txBody>
      </p:sp>
      <p:sp>
        <p:nvSpPr>
          <p:cNvPr id="13" name="Text 11"/>
          <p:cNvSpPr txBox="1"/>
          <p:nvPr/>
        </p:nvSpPr>
        <p:spPr>
          <a:xfrm>
            <a:off x="3547872" y="3108960"/>
            <a:ext cx="2286000" cy="118872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ERP owners confirm result codes and a validated-meeting source (e.g. payout-eligible meetings).</a:t>
            </a:r>
            <a:endParaRPr lang="en-US" sz="1300" dirty="0"/>
          </a:p>
        </p:txBody>
      </p:sp>
      <p:sp>
        <p:nvSpPr>
          <p:cNvPr id="14" name="Shape 12"/>
          <p:cNvSpPr/>
          <p:nvPr/>
        </p:nvSpPr>
        <p:spPr>
          <a:xfrm>
            <a:off x="6181344" y="1828800"/>
            <a:ext cx="2606040" cy="2514600"/>
          </a:xfrm>
          <a:prstGeom prst="roundRect">
            <a:avLst>
              <a:gd name="adj" fmla="val 2909"/>
            </a:avLst>
          </a:prstGeom>
          <a:solidFill>
            <a:srgbClr val="FFFFFF"/>
          </a:solidFill>
          <a:ln w="12700">
            <a:solidFill>
              <a:srgbClr val="D9E3E0"/>
            </a:solidFill>
            <a:prstDash val="solid"/>
          </a:ln>
        </p:spPr>
      </p:sp>
      <p:sp>
        <p:nvSpPr>
          <p:cNvPr id="15" name="Shape 13"/>
          <p:cNvSpPr/>
          <p:nvPr/>
        </p:nvSpPr>
        <p:spPr>
          <a:xfrm>
            <a:off x="6364224" y="2011680"/>
            <a:ext cx="292608" cy="292608"/>
          </a:xfrm>
          <a:prstGeom prst="ellipse">
            <a:avLst/>
          </a:prstGeom>
          <a:solidFill>
            <a:srgbClr val="EB6834"/>
          </a:solidFill>
          <a:ln/>
        </p:spPr>
      </p:sp>
      <p:sp>
        <p:nvSpPr>
          <p:cNvPr id="16" name="Text 14"/>
          <p:cNvSpPr txBox="1"/>
          <p:nvPr/>
        </p:nvSpPr>
        <p:spPr>
          <a:xfrm>
            <a:off x="6748272" y="2011680"/>
            <a:ext cx="1920240" cy="292608"/>
          </a:xfrm>
          <a:prstGeom prst="rect">
            <a:avLst/>
          </a:prstGeom>
          <a:noFill/>
          <a:ln/>
        </p:spPr>
        <p:txBody>
          <a:bodyPr wrap="square" lIns="0" tIns="0" rIns="0" bIns="0" rtlCol="0" anchor="ctr"/>
          <a:lstStyle/>
          <a:p>
            <a:pPr indent="0" marL="0">
              <a:buNone/>
            </a:pPr>
            <a:r>
              <a:rPr lang="en-US" sz="1100" b="1" spc="150" kern="0" dirty="0">
                <a:solidFill>
                  <a:srgbClr val="EB6834"/>
                </a:solidFill>
                <a:latin typeface="Calibri" pitchFamily="34" charset="0"/>
                <a:ea typeface="Calibri" pitchFamily="34" charset="-122"/>
                <a:cs typeface="Calibri" pitchFamily="34" charset="-120"/>
              </a:rPr>
              <a:t>NEXT 6 WEEKS</a:t>
            </a:r>
            <a:endParaRPr lang="en-US" sz="1100" dirty="0"/>
          </a:p>
        </p:txBody>
      </p:sp>
      <p:sp>
        <p:nvSpPr>
          <p:cNvPr id="17" name="Text 15"/>
          <p:cNvSpPr txBox="1"/>
          <p:nvPr/>
        </p:nvSpPr>
        <p:spPr>
          <a:xfrm>
            <a:off x="6364224" y="2468880"/>
            <a:ext cx="2286000" cy="594360"/>
          </a:xfrm>
          <a:prstGeom prst="rect">
            <a:avLst/>
          </a:prstGeom>
          <a:noFill/>
          <a:ln/>
        </p:spPr>
        <p:txBody>
          <a:bodyPr wrap="square" lIns="0" tIns="0" rIns="0" bIns="0" rtlCol="0" anchor="t"/>
          <a:lstStyle/>
          <a:p>
            <a:pPr indent="0" marL="0">
              <a:buNone/>
            </a:pPr>
            <a:r>
              <a:rPr lang="en-US" sz="1600" b="1" dirty="0">
                <a:solidFill>
                  <a:srgbClr val="10201F"/>
                </a:solidFill>
                <a:latin typeface="Calibri" pitchFamily="34" charset="0"/>
                <a:ea typeface="Calibri" pitchFamily="34" charset="-122"/>
                <a:cs typeface="Calibri" pitchFamily="34" charset="-120"/>
              </a:rPr>
              <a:t>Run the pilot</a:t>
            </a:r>
            <a:endParaRPr lang="en-US" sz="1600" dirty="0"/>
          </a:p>
        </p:txBody>
      </p:sp>
      <p:sp>
        <p:nvSpPr>
          <p:cNvPr id="18" name="Text 16"/>
          <p:cNvSpPr txBox="1"/>
          <p:nvPr/>
        </p:nvSpPr>
        <p:spPr>
          <a:xfrm>
            <a:off x="6364224" y="3108960"/>
            <a:ext cx="2286000" cy="118872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Randomized timing test in the booking channel; measure completed meetings per call.</a:t>
            </a:r>
            <a:endParaRPr lang="en-US" sz="1300" dirty="0"/>
          </a:p>
        </p:txBody>
      </p:sp>
      <p:sp>
        <p:nvSpPr>
          <p:cNvPr id="19" name="Shape 17"/>
          <p:cNvSpPr/>
          <p:nvPr/>
        </p:nvSpPr>
        <p:spPr>
          <a:xfrm>
            <a:off x="8997696" y="1828800"/>
            <a:ext cx="2606040" cy="2514600"/>
          </a:xfrm>
          <a:prstGeom prst="roundRect">
            <a:avLst>
              <a:gd name="adj" fmla="val 2909"/>
            </a:avLst>
          </a:prstGeom>
          <a:solidFill>
            <a:srgbClr val="FFFFFF"/>
          </a:solidFill>
          <a:ln w="12700">
            <a:solidFill>
              <a:srgbClr val="D9E3E0"/>
            </a:solidFill>
            <a:prstDash val="solid"/>
          </a:ln>
        </p:spPr>
      </p:sp>
      <p:sp>
        <p:nvSpPr>
          <p:cNvPr id="20" name="Shape 18"/>
          <p:cNvSpPr/>
          <p:nvPr/>
        </p:nvSpPr>
        <p:spPr>
          <a:xfrm>
            <a:off x="9180576" y="2011680"/>
            <a:ext cx="292608" cy="292608"/>
          </a:xfrm>
          <a:prstGeom prst="ellipse">
            <a:avLst/>
          </a:prstGeom>
          <a:solidFill>
            <a:srgbClr val="0B4F45"/>
          </a:solidFill>
          <a:ln/>
        </p:spPr>
      </p:sp>
      <p:sp>
        <p:nvSpPr>
          <p:cNvPr id="21" name="Text 19"/>
          <p:cNvSpPr txBox="1"/>
          <p:nvPr/>
        </p:nvSpPr>
        <p:spPr>
          <a:xfrm>
            <a:off x="9564624" y="2011680"/>
            <a:ext cx="1920240" cy="292608"/>
          </a:xfrm>
          <a:prstGeom prst="rect">
            <a:avLst/>
          </a:prstGeom>
          <a:noFill/>
          <a:ln/>
        </p:spPr>
        <p:txBody>
          <a:bodyPr wrap="square" lIns="0" tIns="0" rIns="0" bIns="0" rtlCol="0" anchor="ctr"/>
          <a:lstStyle/>
          <a:p>
            <a:pPr indent="0" marL="0">
              <a:buNone/>
            </a:pPr>
            <a:r>
              <a:rPr lang="en-US" sz="1100" b="1" spc="150" kern="0" dirty="0">
                <a:solidFill>
                  <a:srgbClr val="0B4F45"/>
                </a:solidFill>
                <a:latin typeface="Calibri" pitchFamily="34" charset="0"/>
                <a:ea typeface="Calibri" pitchFamily="34" charset="-122"/>
                <a:cs typeface="Calibri" pitchFamily="34" charset="-120"/>
              </a:rPr>
              <a:t>AFTER THE PILOT</a:t>
            </a:r>
            <a:endParaRPr lang="en-US" sz="1100" dirty="0"/>
          </a:p>
        </p:txBody>
      </p:sp>
      <p:sp>
        <p:nvSpPr>
          <p:cNvPr id="22" name="Text 20"/>
          <p:cNvSpPr txBox="1"/>
          <p:nvPr/>
        </p:nvSpPr>
        <p:spPr>
          <a:xfrm>
            <a:off x="9180576" y="2468880"/>
            <a:ext cx="2286000" cy="594360"/>
          </a:xfrm>
          <a:prstGeom prst="rect">
            <a:avLst/>
          </a:prstGeom>
          <a:noFill/>
          <a:ln/>
        </p:spPr>
        <p:txBody>
          <a:bodyPr wrap="square" lIns="0" tIns="0" rIns="0" bIns="0" rtlCol="0" anchor="t"/>
          <a:lstStyle/>
          <a:p>
            <a:pPr indent="0" marL="0">
              <a:buNone/>
            </a:pPr>
            <a:r>
              <a:rPr lang="en-US" sz="1600" b="1" dirty="0">
                <a:solidFill>
                  <a:srgbClr val="10201F"/>
                </a:solidFill>
                <a:latin typeface="Calibri" pitchFamily="34" charset="0"/>
                <a:ea typeface="Calibri" pitchFamily="34" charset="-122"/>
                <a:cs typeface="Calibri" pitchFamily="34" charset="-120"/>
              </a:rPr>
              <a:t>Prioritisation product</a:t>
            </a:r>
            <a:endParaRPr lang="en-US" sz="1600" dirty="0"/>
          </a:p>
        </p:txBody>
      </p:sp>
      <p:sp>
        <p:nvSpPr>
          <p:cNvPr id="23" name="Text 21"/>
          <p:cNvSpPr txBox="1"/>
          <p:nvPr/>
        </p:nvSpPr>
        <p:spPr>
          <a:xfrm>
            <a:off x="9180576" y="3108960"/>
            <a:ext cx="2286000" cy="1188720"/>
          </a:xfrm>
          <a:prstGeom prst="rect">
            <a:avLst/>
          </a:prstGeom>
          <a:noFill/>
          <a:ln/>
        </p:spPr>
        <p:txBody>
          <a:bodyPr wrap="square" lIns="0" tIns="0" rIns="0" bIns="0" rtlCol="0" anchor="t"/>
          <a:lstStyle/>
          <a:p>
            <a:pPr indent="0" marL="0">
              <a:buNone/>
            </a:pPr>
            <a:r>
              <a:rPr lang="en-US" sz="1300" dirty="0">
                <a:solidFill>
                  <a:srgbClr val="4A5D5B"/>
                </a:solidFill>
                <a:latin typeface="Calibri" pitchFamily="34" charset="0"/>
                <a:ea typeface="Calibri" pitchFamily="34" charset="-122"/>
                <a:cs typeface="Calibri" pitchFamily="34" charset="-120"/>
              </a:rPr>
              <a:t>Use the history-aware ranker (+52% precision) to decide who to call today.</a:t>
            </a:r>
            <a:endParaRPr lang="en-US" sz="1300" dirty="0"/>
          </a:p>
        </p:txBody>
      </p:sp>
      <p:sp>
        <p:nvSpPr>
          <p:cNvPr id="24" name="Shape 22"/>
          <p:cNvSpPr/>
          <p:nvPr/>
        </p:nvSpPr>
        <p:spPr>
          <a:xfrm>
            <a:off x="548640" y="4617720"/>
            <a:ext cx="11064240" cy="1417320"/>
          </a:xfrm>
          <a:prstGeom prst="roundRect">
            <a:avLst>
              <a:gd name="adj" fmla="val 5161"/>
            </a:avLst>
          </a:prstGeom>
          <a:solidFill>
            <a:srgbClr val="0B4F45"/>
          </a:solidFill>
          <a:ln/>
        </p:spPr>
      </p:sp>
      <p:sp>
        <p:nvSpPr>
          <p:cNvPr id="25" name="Text 23"/>
          <p:cNvSpPr txBox="1"/>
          <p:nvPr/>
        </p:nvSpPr>
        <p:spPr>
          <a:xfrm>
            <a:off x="777240" y="4773168"/>
            <a:ext cx="2743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Our ask</a:t>
            </a:r>
            <a:endParaRPr lang="en-US" sz="1600" dirty="0"/>
          </a:p>
        </p:txBody>
      </p:sp>
      <p:sp>
        <p:nvSpPr>
          <p:cNvPr id="26" name="Text 24"/>
          <p:cNvSpPr txBox="1"/>
          <p:nvPr/>
        </p:nvSpPr>
        <p:spPr>
          <a:xfrm>
            <a:off x="777240" y="5166360"/>
            <a:ext cx="10607040" cy="777240"/>
          </a:xfrm>
          <a:prstGeom prst="rect">
            <a:avLst/>
          </a:prstGeom>
          <a:noFill/>
          <a:ln/>
        </p:spPr>
        <p:txBody>
          <a:bodyPr wrap="square" lIns="0" tIns="0" rIns="0" bIns="0" rtlCol="0" anchor="t"/>
          <a:lstStyle/>
          <a:p>
            <a:pPr indent="0" marL="0">
              <a:buNone/>
            </a:pPr>
            <a:r>
              <a:rPr lang="en-US" sz="1600" dirty="0">
                <a:solidFill>
                  <a:srgbClr val="E3F3EE"/>
                </a:solidFill>
                <a:latin typeface="Calibri" pitchFamily="34" charset="0"/>
                <a:ea typeface="Calibri" pitchFamily="34" charset="-122"/>
                <a:cs typeface="Calibri" pitchFamily="34" charset="-120"/>
              </a:rPr>
              <a:t>Approve a 6-week randomized pilot in the CSD booking channel, and connect us with the ERP owners who can confirm what a completed meeting is. We will come back with measured uplift, not a projection.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allwise">
  <a:themeElements>
    <a:clrScheme name="Callwise">
      <a:dk1>
        <a:srgbClr val="10201F"/>
      </a:dk1>
      <a:lt1>
        <a:srgbClr val="FFFFFF"/>
      </a:lt1>
      <a:dk2>
        <a:srgbClr val="0B4F45"/>
      </a:dk2>
      <a:lt2>
        <a:srgbClr val="EEF4F2"/>
      </a:lt2>
      <a:accent1>
        <a:srgbClr val="0B8A76"/>
      </a:accent1>
      <a:accent2>
        <a:srgbClr val="EB6834"/>
      </a:accent2>
      <a:accent3>
        <a:srgbClr val="2A78D6"/>
      </a:accent3>
      <a:accent4>
        <a:srgbClr val="9AA8A6"/>
      </a:accent4>
      <a:accent5>
        <a:srgbClr val="A86400"/>
      </a:accent5>
      <a:accent6>
        <a:srgbClr val="B3261E"/>
      </a:accent6>
      <a:hlink>
        <a:srgbClr val="0B8A76"/>
      </a:hlink>
      <a:folHlink>
        <a:srgbClr val="0B4F45"/>
      </a:folHlink>
    </a:clrScheme>
    <a:fontScheme name="Callwi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IndiaMART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Callwise: Best Time to Call</dc:title>
  <dc:subject>PptxGenJS Presentation</dc:subject>
  <dc:creator>Callwise team</dc:creator>
  <cp:lastModifiedBy>Callwise team</cp:lastModifiedBy>
  <cp:revision>1</cp:revision>
  <dcterms:created xsi:type="dcterms:W3CDTF">2026-10-10T05:46:45Z</dcterms:created>
  <dcterms:modified xsi:type="dcterms:W3CDTF">2026-10-10T05:46:45Z</dcterms:modified>
</cp:coreProperties>
</file>